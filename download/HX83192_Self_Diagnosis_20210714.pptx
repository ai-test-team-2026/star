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5" r:id="rId2"/>
  </p:sldMasterIdLst>
  <p:notesMasterIdLst>
    <p:notesMasterId r:id="rId28"/>
  </p:notesMasterIdLst>
  <p:sldIdLst>
    <p:sldId id="269" r:id="rId3"/>
    <p:sldId id="2341" r:id="rId4"/>
    <p:sldId id="2342" r:id="rId5"/>
    <p:sldId id="2343" r:id="rId6"/>
    <p:sldId id="2345" r:id="rId7"/>
    <p:sldId id="2346" r:id="rId8"/>
    <p:sldId id="2347" r:id="rId9"/>
    <p:sldId id="2348" r:id="rId10"/>
    <p:sldId id="2349" r:id="rId11"/>
    <p:sldId id="2350" r:id="rId12"/>
    <p:sldId id="2351" r:id="rId13"/>
    <p:sldId id="2352" r:id="rId14"/>
    <p:sldId id="2358" r:id="rId15"/>
    <p:sldId id="2359" r:id="rId16"/>
    <p:sldId id="2360" r:id="rId17"/>
    <p:sldId id="2344" r:id="rId18"/>
    <p:sldId id="2353" r:id="rId19"/>
    <p:sldId id="2354" r:id="rId20"/>
    <p:sldId id="2355" r:id="rId21"/>
    <p:sldId id="2361" r:id="rId22"/>
    <p:sldId id="2362" r:id="rId23"/>
    <p:sldId id="1934" r:id="rId24"/>
    <p:sldId id="2363" r:id="rId25"/>
    <p:sldId id="2356" r:id="rId26"/>
    <p:sldId id="2340" r:id="rId2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9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uming Liao(廖裕銘)" initials="YL" lastIdx="1" clrIdx="0">
    <p:extLst>
      <p:ext uri="{19B8F6BF-5375-455C-9EA6-DF929625EA0E}">
        <p15:presenceInfo xmlns:p15="http://schemas.microsoft.com/office/powerpoint/2012/main" userId="S::yuming_liao@himax.com.tw::934bf7c0-f0aa-4cd4-90b2-3c4a77c34aa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6B6F"/>
    <a:srgbClr val="009900"/>
    <a:srgbClr val="DDDDDD"/>
    <a:srgbClr val="333333"/>
    <a:srgbClr val="FF9933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77" autoAdjust="0"/>
    <p:restoredTop sz="94541" autoAdjust="0"/>
  </p:normalViewPr>
  <p:slideViewPr>
    <p:cSldViewPr snapToGrid="0">
      <p:cViewPr>
        <p:scale>
          <a:sx n="66" d="100"/>
          <a:sy n="66" d="100"/>
        </p:scale>
        <p:origin x="1188" y="198"/>
      </p:cViewPr>
      <p:guideLst>
        <p:guide pos="3840"/>
        <p:guide pos="3940"/>
        <p:guide orient="horz" pos="216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AF9CA-E989-4981-A9F4-76016C93C15C}" type="datetimeFigureOut">
              <a:rPr lang="zh-TW" altLang="en-US" smtClean="0"/>
              <a:t>2021/7/15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5E237-882D-43E1-ABE9-26BF3B2898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9780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556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C0A83C-1154-49FE-9E38-94873B4CFCE0}" type="slidenum">
              <a:rPr kumimoji="1" lang="en-US" altLang="zh-TW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Arial Unicode MS" pitchFamily="34" charset="-120"/>
                <a:cs typeface="Arial Unicode MS" panose="020B0604020202020204" pitchFamily="34" charset="-120"/>
              </a:rPr>
              <a:pPr marL="0" marR="0" lvl="0" indent="0" algn="r" defTabSz="9556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zh-TW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Arial Unicode MS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8" y="733425"/>
            <a:ext cx="6629400" cy="3729038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4875" y="4708525"/>
            <a:ext cx="5043488" cy="2635250"/>
          </a:xfrm>
          <a:noFill/>
        </p:spPr>
        <p:txBody>
          <a:bodyPr/>
          <a:lstStyle/>
          <a:p>
            <a:pPr eaLnBrk="1" hangingPunct="1"/>
            <a:endParaRPr lang="en-US" altLang="zh-CN"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5171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58CCD4-900F-4417-A9FB-6A5347629178}" type="slidenum">
              <a:rPr lang="en-US" altLang="zh-TW" smtClean="0"/>
              <a:pPr/>
              <a:t>22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81417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2336800" cy="4876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1" hangingPunct="1">
              <a:defRPr/>
            </a:pPr>
            <a:endParaRPr lang="en-GB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1" name="Line 18"/>
          <p:cNvSpPr>
            <a:spLocks noChangeShapeType="1"/>
          </p:cNvSpPr>
          <p:nvPr/>
        </p:nvSpPr>
        <p:spPr bwMode="auto">
          <a:xfrm flipV="1">
            <a:off x="846667" y="660400"/>
            <a:ext cx="6045200" cy="254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TW" altLang="en-US" sz="1800"/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 flipV="1">
            <a:off x="11243734" y="660400"/>
            <a:ext cx="626533" cy="127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TW" altLang="en-US" sz="1800"/>
          </a:p>
        </p:txBody>
      </p:sp>
      <p:grpSp>
        <p:nvGrpSpPr>
          <p:cNvPr id="26" name="Group 36">
            <a:extLst>
              <a:ext uri="{FF2B5EF4-FFF2-40B4-BE49-F238E27FC236}">
                <a16:creationId xmlns:a16="http://schemas.microsoft.com/office/drawing/2014/main" id="{1B43B23C-4960-435F-AC1D-D5E816E68B2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993188" y="5821365"/>
            <a:ext cx="2379663" cy="588963"/>
            <a:chOff x="592" y="1676"/>
            <a:chExt cx="1499" cy="371"/>
          </a:xfrm>
        </p:grpSpPr>
        <p:sp>
          <p:nvSpPr>
            <p:cNvPr id="27" name="Text Box 37">
              <a:extLst>
                <a:ext uri="{FF2B5EF4-FFF2-40B4-BE49-F238E27FC236}">
                  <a16:creationId xmlns:a16="http://schemas.microsoft.com/office/drawing/2014/main" id="{8D349F1E-C2D9-40CB-839F-B4481F6DC6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" y="1676"/>
              <a:ext cx="1499" cy="37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dist">
                <a:lnSpc>
                  <a:spcPts val="2000"/>
                </a:lnSpc>
                <a:defRPr/>
              </a:pPr>
              <a:r>
                <a:rPr lang="en-US" altLang="zh-TW" sz="1500" b="0" dirty="0">
                  <a:latin typeface="Arial" charset="0"/>
                  <a:cs typeface="Arial" charset="0"/>
                </a:rPr>
                <a:t>Himax Technologies, Inc.</a:t>
              </a:r>
            </a:p>
            <a:p>
              <a:pPr algn="dist">
                <a:lnSpc>
                  <a:spcPts val="2000"/>
                </a:lnSpc>
                <a:defRPr/>
              </a:pPr>
              <a:r>
                <a:rPr lang="zh-TW" altLang="en-US" sz="1600" b="0" dirty="0">
                  <a:latin typeface="Arial" charset="0"/>
                  <a:ea typeface="華康中黑體(P)-UN" pitchFamily="34" charset="-120"/>
                  <a:cs typeface="Arial" charset="0"/>
                </a:rPr>
                <a:t>奇景光電股份有限公司</a:t>
              </a:r>
            </a:p>
          </p:txBody>
        </p:sp>
        <p:sp>
          <p:nvSpPr>
            <p:cNvPr id="28" name="Line 38">
              <a:extLst>
                <a:ext uri="{FF2B5EF4-FFF2-40B4-BE49-F238E27FC236}">
                  <a16:creationId xmlns:a16="http://schemas.microsoft.com/office/drawing/2014/main" id="{BC8B5AB0-27BD-406D-AF39-56F468641E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" y="1861"/>
              <a:ext cx="1347" cy="0"/>
            </a:xfrm>
            <a:prstGeom prst="line">
              <a:avLst/>
            </a:prstGeom>
            <a:noFill/>
            <a:ln w="6350">
              <a:solidFill>
                <a:srgbClr val="0033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TW" altLang="en-US">
                <a:latin typeface="Arial" charset="0"/>
              </a:endParaRPr>
            </a:p>
          </p:txBody>
        </p:sp>
      </p:grpSp>
      <p:sp>
        <p:nvSpPr>
          <p:cNvPr id="29" name="Text Box 20">
            <a:extLst>
              <a:ext uri="{FF2B5EF4-FFF2-40B4-BE49-F238E27FC236}">
                <a16:creationId xmlns:a16="http://schemas.microsoft.com/office/drawing/2014/main" id="{17AE937D-07F0-4970-A4FF-307031DA57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517412" y="438150"/>
            <a:ext cx="3094117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400" b="0" dirty="0">
                <a:cs typeface="+mn-cs"/>
              </a:rPr>
              <a:t>Drive for better vision</a:t>
            </a:r>
          </a:p>
        </p:txBody>
      </p:sp>
      <p:pic>
        <p:nvPicPr>
          <p:cNvPr id="19" name="Picture 24" descr="LOGO-8">
            <a:extLst>
              <a:ext uri="{FF2B5EF4-FFF2-40B4-BE49-F238E27FC236}">
                <a16:creationId xmlns:a16="http://schemas.microsoft.com/office/drawing/2014/main" id="{3973CFE5-7F9C-4E67-8EF1-0AE3C3EF1A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520" y="1436223"/>
            <a:ext cx="3286335" cy="1034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4">
            <a:extLst>
              <a:ext uri="{FF2B5EF4-FFF2-40B4-BE49-F238E27FC236}">
                <a16:creationId xmlns:a16="http://schemas.microsoft.com/office/drawing/2014/main" id="{068F1748-776A-4735-9696-0DBFD530605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140976" y="4859367"/>
            <a:ext cx="1854200" cy="1447800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45720" rIns="27432" anchor="ctr">
            <a:spAutoFit/>
          </a:bodyPr>
          <a:lstStyle/>
          <a:p>
            <a:pPr algn="ctr">
              <a:defRPr/>
            </a:pPr>
            <a:endParaRPr lang="zh-TW" altLang="en-US">
              <a:latin typeface="Arial" charset="0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233A320B-D17D-4392-A3CF-0F8162B5409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010801" y="5018117"/>
            <a:ext cx="457200" cy="457200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0</a:t>
            </a:r>
          </a:p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51</a:t>
            </a:r>
          </a:p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102</a:t>
            </a: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54FEE363-884E-45BB-A8F4-4AB4A89B2B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20251" y="3567142"/>
            <a:ext cx="457200" cy="457200"/>
          </a:xfrm>
          <a:prstGeom prst="rect">
            <a:avLst/>
          </a:prstGeom>
          <a:solidFill>
            <a:srgbClr val="1B65B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27</a:t>
            </a:r>
          </a:p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101</a:t>
            </a:r>
          </a:p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183</a:t>
            </a:r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79450377-474C-41F1-92FC-394B8C30B4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59864" y="5018117"/>
            <a:ext cx="457200" cy="457200"/>
          </a:xfrm>
          <a:prstGeom prst="rect">
            <a:avLst/>
          </a:prstGeom>
          <a:solidFill>
            <a:srgbClr val="FFCB6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255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203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109</a:t>
            </a:r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A27C58CA-90DA-4123-9C85-00526CCC0C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010801" y="5703917"/>
            <a:ext cx="457200" cy="457200"/>
          </a:xfrm>
          <a:prstGeom prst="rect">
            <a:avLst/>
          </a:prstGeom>
          <a:solidFill>
            <a:srgbClr val="CCCC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153</a:t>
            </a:r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0B6ED69F-80F2-4059-85A3-79BD17FCA1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36126" y="5703917"/>
            <a:ext cx="457200" cy="457200"/>
          </a:xfrm>
          <a:prstGeom prst="rect">
            <a:avLst/>
          </a:prstGeom>
          <a:solidFill>
            <a:srgbClr val="F26B6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000" b="0" dirty="0">
                <a:latin typeface="Arial" charset="0"/>
                <a:cs typeface="Arial" charset="0"/>
              </a:rPr>
              <a:t>2</a:t>
            </a:r>
            <a:r>
              <a:rPr lang="en-US" altLang="zh-TW" sz="1000" b="0" dirty="0">
                <a:latin typeface="Arial" charset="0"/>
                <a:cs typeface="Arial" charset="0"/>
              </a:rPr>
              <a:t>42</a:t>
            </a:r>
          </a:p>
          <a:p>
            <a:pPr algn="ctr">
              <a:defRPr/>
            </a:pPr>
            <a:r>
              <a:rPr lang="en-US" altLang="zh-TW" sz="1000" b="0" dirty="0">
                <a:latin typeface="Arial" charset="0"/>
                <a:cs typeface="Arial" charset="0"/>
              </a:rPr>
              <a:t>107</a:t>
            </a:r>
            <a:endParaRPr lang="en-US" altLang="zh-CN" sz="1000" b="0" dirty="0"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altLang="zh-TW" sz="1000" b="0" dirty="0">
                <a:latin typeface="Arial" charset="0"/>
                <a:ea typeface="SimSun" pitchFamily="2" charset="-122"/>
                <a:cs typeface="Arial" charset="0"/>
              </a:rPr>
              <a:t>111</a:t>
            </a:r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D892883B-0B90-456B-BF45-02349D8980D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59864" y="5703917"/>
            <a:ext cx="457200" cy="457200"/>
          </a:xfrm>
          <a:prstGeom prst="rect">
            <a:avLst/>
          </a:prstGeom>
          <a:solidFill>
            <a:srgbClr val="78828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120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130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130</a:t>
            </a:r>
          </a:p>
        </p:txBody>
      </p:sp>
      <p:sp>
        <p:nvSpPr>
          <p:cNvPr id="30" name="Rectangle 11">
            <a:extLst>
              <a:ext uri="{FF2B5EF4-FFF2-40B4-BE49-F238E27FC236}">
                <a16:creationId xmlns:a16="http://schemas.microsoft.com/office/drawing/2014/main" id="{5066DBDB-1ADC-4A1B-AE26-6EB2BA1701E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36126" y="5018117"/>
            <a:ext cx="457200" cy="457200"/>
          </a:xfrm>
          <a:prstGeom prst="rect">
            <a:avLst/>
          </a:prstGeom>
          <a:solidFill>
            <a:srgbClr val="86D3E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211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226</a:t>
            </a:r>
          </a:p>
        </p:txBody>
      </p:sp>
    </p:spTree>
    <p:extLst>
      <p:ext uri="{BB962C8B-B14F-4D97-AF65-F5344CB8AC3E}">
        <p14:creationId xmlns:p14="http://schemas.microsoft.com/office/powerpoint/2010/main" val="1690253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FFB44C-6645-4E61-8457-F2B80FEA1EA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53434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F33CBA-1247-4C14-B683-643FC3A8E47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12791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8066" y="1338263"/>
            <a:ext cx="5418667" cy="5008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39933" y="1338263"/>
            <a:ext cx="5418667" cy="5008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9D2E18-42C3-4680-BC63-70782EBD825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375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E68AB4-08CD-4E56-BF17-3F09C5C15FD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37712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837D90-326A-4058-A0E4-7898849E073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5580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8174E-B202-471B-A104-19933BDF4FE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18429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E5901-37B1-4700-8873-6719E1ED2DB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43243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ED6995-629D-4A27-9A6E-FAE707FB6B5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47101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094B4F-C2C0-4AA7-987C-424ED860A64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2729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96352" y="152401"/>
            <a:ext cx="2762249" cy="61944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152401"/>
            <a:ext cx="8083551" cy="61944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158BE-7149-4333-815A-701C09F391A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80856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18067" y="1338263"/>
            <a:ext cx="11040533" cy="5008562"/>
          </a:xfrm>
        </p:spPr>
        <p:txBody>
          <a:bodyPr/>
          <a:lstStyle/>
          <a:p>
            <a:pPr lvl="0"/>
            <a:endParaRPr lang="zh-TW" altLang="en-US" noProof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0830C9-2416-42AC-A916-AAD9879F567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89749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18066" y="1338263"/>
            <a:ext cx="5418667" cy="50085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239933" y="1338264"/>
            <a:ext cx="5418667" cy="24272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6239933" y="3917951"/>
            <a:ext cx="5418667" cy="24288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8CCE99-CD70-4802-9ADA-03F0C1A0A83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0101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AD31ABC-30A3-4172-9530-BFCE73318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336800" cy="4876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9pPr>
          </a:lstStyle>
          <a:p>
            <a:pPr eaLnBrk="1" hangingPunct="1">
              <a:defRPr/>
            </a:pPr>
            <a:endParaRPr lang="en-GB" altLang="zh-TW" sz="2400" b="0">
              <a:latin typeface="Times New Roman" panose="02020603050405020304" pitchFamily="18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Line 18">
            <a:extLst>
              <a:ext uri="{FF2B5EF4-FFF2-40B4-BE49-F238E27FC236}">
                <a16:creationId xmlns:a16="http://schemas.microsoft.com/office/drawing/2014/main" id="{3818EDFF-6235-4D70-B856-0FC39DC8FB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6667" y="660400"/>
            <a:ext cx="6045200" cy="254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12" name="Line 19">
            <a:extLst>
              <a:ext uri="{FF2B5EF4-FFF2-40B4-BE49-F238E27FC236}">
                <a16:creationId xmlns:a16="http://schemas.microsoft.com/office/drawing/2014/main" id="{EDC85CE9-87F2-435C-84DE-95281E7019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243734" y="660400"/>
            <a:ext cx="626533" cy="1270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 sz="1800"/>
          </a:p>
        </p:txBody>
      </p:sp>
      <p:sp>
        <p:nvSpPr>
          <p:cNvPr id="13" name="Text Box 20">
            <a:extLst>
              <a:ext uri="{FF2B5EF4-FFF2-40B4-BE49-F238E27FC236}">
                <a16:creationId xmlns:a16="http://schemas.microsoft.com/office/drawing/2014/main" id="{E74AB7F8-D1B7-40CA-A00C-C1532098B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7412" y="438150"/>
            <a:ext cx="3094117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400" b="0" dirty="0">
                <a:cs typeface="+mn-cs"/>
              </a:rPr>
              <a:t>Drive for better vision</a:t>
            </a:r>
          </a:p>
        </p:txBody>
      </p: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D67E8365-D19F-4A8C-B166-84E6DF1D197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 dirty="0">
                <a:solidFill>
                  <a:srgbClr val="F0F0E1"/>
                </a:solidFill>
              </a:rPr>
              <a:t>Himax Confidential</a:t>
            </a:r>
          </a:p>
        </p:txBody>
      </p:sp>
      <p:pic>
        <p:nvPicPr>
          <p:cNvPr id="20" name="Picture 24" descr="LOGO-8">
            <a:extLst>
              <a:ext uri="{FF2B5EF4-FFF2-40B4-BE49-F238E27FC236}">
                <a16:creationId xmlns:a16="http://schemas.microsoft.com/office/drawing/2014/main" id="{F29F4CEA-AB0C-4383-AAC5-7DBA237D8C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520" y="1436223"/>
            <a:ext cx="3286335" cy="1034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" name="Group 36">
            <a:extLst>
              <a:ext uri="{FF2B5EF4-FFF2-40B4-BE49-F238E27FC236}">
                <a16:creationId xmlns:a16="http://schemas.microsoft.com/office/drawing/2014/main" id="{CB22E013-C416-434B-9ED1-226D2027645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993188" y="5821365"/>
            <a:ext cx="2379663" cy="588963"/>
            <a:chOff x="592" y="1676"/>
            <a:chExt cx="1499" cy="371"/>
          </a:xfrm>
        </p:grpSpPr>
        <p:sp>
          <p:nvSpPr>
            <p:cNvPr id="27" name="Text Box 37">
              <a:extLst>
                <a:ext uri="{FF2B5EF4-FFF2-40B4-BE49-F238E27FC236}">
                  <a16:creationId xmlns:a16="http://schemas.microsoft.com/office/drawing/2014/main" id="{1B4A2336-B6F7-4907-BAC1-DA847157E6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" y="1676"/>
              <a:ext cx="1499" cy="37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dist">
                <a:lnSpc>
                  <a:spcPts val="2000"/>
                </a:lnSpc>
                <a:defRPr/>
              </a:pPr>
              <a:r>
                <a:rPr lang="en-US" altLang="zh-TW" sz="1500" b="0" dirty="0">
                  <a:latin typeface="Arial" charset="0"/>
                  <a:cs typeface="Arial" charset="0"/>
                </a:rPr>
                <a:t>Himax Technologies, Inc.</a:t>
              </a:r>
            </a:p>
            <a:p>
              <a:pPr algn="dist">
                <a:lnSpc>
                  <a:spcPts val="2000"/>
                </a:lnSpc>
                <a:defRPr/>
              </a:pPr>
              <a:r>
                <a:rPr lang="zh-TW" altLang="en-US" sz="1600" b="0" dirty="0">
                  <a:latin typeface="Arial" charset="0"/>
                  <a:ea typeface="華康中黑體(P)-UN" pitchFamily="34" charset="-120"/>
                  <a:cs typeface="Arial" charset="0"/>
                </a:rPr>
                <a:t>奇景光電股份有限公司</a:t>
              </a:r>
            </a:p>
          </p:txBody>
        </p:sp>
        <p:sp>
          <p:nvSpPr>
            <p:cNvPr id="28" name="Line 38">
              <a:extLst>
                <a:ext uri="{FF2B5EF4-FFF2-40B4-BE49-F238E27FC236}">
                  <a16:creationId xmlns:a16="http://schemas.microsoft.com/office/drawing/2014/main" id="{D4700176-FBB1-4026-BC12-E53CB2099B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" y="1861"/>
              <a:ext cx="1347" cy="0"/>
            </a:xfrm>
            <a:prstGeom prst="line">
              <a:avLst/>
            </a:prstGeom>
            <a:noFill/>
            <a:ln w="6350">
              <a:solidFill>
                <a:srgbClr val="0033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TW" altLang="en-US">
                <a:latin typeface="Arial" charset="0"/>
              </a:endParaRPr>
            </a:p>
          </p:txBody>
        </p:sp>
      </p:grpSp>
      <p:sp>
        <p:nvSpPr>
          <p:cNvPr id="19" name="Rectangle 4">
            <a:extLst>
              <a:ext uri="{FF2B5EF4-FFF2-40B4-BE49-F238E27FC236}">
                <a16:creationId xmlns:a16="http://schemas.microsoft.com/office/drawing/2014/main" id="{2E2D0BE6-8CB0-40CA-903F-4E08AB3EF4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140976" y="4859367"/>
            <a:ext cx="1854200" cy="1447800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45720" rIns="27432" anchor="ctr">
            <a:spAutoFit/>
          </a:bodyPr>
          <a:lstStyle/>
          <a:p>
            <a:pPr algn="ctr">
              <a:defRPr/>
            </a:pPr>
            <a:endParaRPr lang="zh-TW" altLang="en-US">
              <a:latin typeface="Arial" charset="0"/>
            </a:endParaRP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BC4AF9EE-B66E-4F0B-993C-4AB995FE28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010801" y="5018117"/>
            <a:ext cx="457200" cy="457200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0</a:t>
            </a:r>
          </a:p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51</a:t>
            </a:r>
          </a:p>
          <a:p>
            <a:pPr algn="ctr" eaLnBrk="1" hangingPunct="1"/>
            <a:r>
              <a:rPr lang="en-US" altLang="zh-TW" sz="1000" b="0">
                <a:solidFill>
                  <a:schemeClr val="bg1"/>
                </a:solidFill>
                <a:cs typeface="Arial" panose="020B0604020202020204" pitchFamily="34" charset="0"/>
              </a:rPr>
              <a:t>102</a:t>
            </a: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6667CBCF-EF8B-42DF-AB65-907945824C7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20251" y="3567142"/>
            <a:ext cx="457200" cy="457200"/>
          </a:xfrm>
          <a:prstGeom prst="rect">
            <a:avLst/>
          </a:prstGeom>
          <a:solidFill>
            <a:srgbClr val="1B65B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27</a:t>
            </a:r>
          </a:p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101</a:t>
            </a:r>
          </a:p>
          <a:p>
            <a:pPr algn="ctr">
              <a:defRPr/>
            </a:pPr>
            <a:r>
              <a:rPr lang="en-US" altLang="zh-TW" sz="1000" b="0" dirty="0">
                <a:solidFill>
                  <a:schemeClr val="bg1"/>
                </a:solidFill>
                <a:latin typeface="Arial" charset="0"/>
                <a:cs typeface="Arial" charset="0"/>
              </a:rPr>
              <a:t>183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D6BFBAE3-4A2B-4415-9185-CC6383D56B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59864" y="5018117"/>
            <a:ext cx="457200" cy="457200"/>
          </a:xfrm>
          <a:prstGeom prst="rect">
            <a:avLst/>
          </a:prstGeom>
          <a:solidFill>
            <a:srgbClr val="FFCB6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255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203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109</a:t>
            </a: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B48D83A1-741A-43A3-B225-0EB50DB8A5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010801" y="5703917"/>
            <a:ext cx="457200" cy="457200"/>
          </a:xfrm>
          <a:prstGeom prst="rect">
            <a:avLst/>
          </a:prstGeom>
          <a:solidFill>
            <a:srgbClr val="CCCC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204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153</a:t>
            </a:r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1A6F35C7-F66C-4176-A755-B4A16CC6C3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36126" y="5703917"/>
            <a:ext cx="457200" cy="457200"/>
          </a:xfrm>
          <a:prstGeom prst="rect">
            <a:avLst/>
          </a:prstGeom>
          <a:solidFill>
            <a:srgbClr val="F26B6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sz="1000" b="0" dirty="0">
                <a:latin typeface="Arial" charset="0"/>
                <a:cs typeface="Arial" charset="0"/>
              </a:rPr>
              <a:t>2</a:t>
            </a:r>
            <a:r>
              <a:rPr lang="en-US" altLang="zh-TW" sz="1000" b="0" dirty="0">
                <a:latin typeface="Arial" charset="0"/>
                <a:cs typeface="Arial" charset="0"/>
              </a:rPr>
              <a:t>42</a:t>
            </a:r>
          </a:p>
          <a:p>
            <a:pPr algn="ctr">
              <a:defRPr/>
            </a:pPr>
            <a:r>
              <a:rPr lang="en-US" altLang="zh-TW" sz="1000" b="0" dirty="0">
                <a:latin typeface="Arial" charset="0"/>
                <a:cs typeface="Arial" charset="0"/>
              </a:rPr>
              <a:t>107</a:t>
            </a:r>
            <a:endParaRPr lang="en-US" altLang="zh-CN" sz="1000" b="0" dirty="0"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altLang="zh-TW" sz="1000" b="0" dirty="0">
                <a:latin typeface="Arial" charset="0"/>
                <a:ea typeface="SimSun" pitchFamily="2" charset="-122"/>
                <a:cs typeface="Arial" charset="0"/>
              </a:rPr>
              <a:t>111</a:t>
            </a:r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CDA94314-E4F6-47FA-BF73-2F66E520FA8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859864" y="5703917"/>
            <a:ext cx="457200" cy="457200"/>
          </a:xfrm>
          <a:prstGeom prst="rect">
            <a:avLst/>
          </a:prstGeom>
          <a:solidFill>
            <a:srgbClr val="78828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120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130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130</a:t>
            </a:r>
          </a:p>
        </p:txBody>
      </p:sp>
      <p:sp>
        <p:nvSpPr>
          <p:cNvPr id="30" name="Rectangle 11">
            <a:extLst>
              <a:ext uri="{FF2B5EF4-FFF2-40B4-BE49-F238E27FC236}">
                <a16:creationId xmlns:a16="http://schemas.microsoft.com/office/drawing/2014/main" id="{42722231-D913-4653-B64C-F241D31B9C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436126" y="5018117"/>
            <a:ext cx="457200" cy="457200"/>
          </a:xfrm>
          <a:prstGeom prst="rect">
            <a:avLst/>
          </a:prstGeom>
          <a:solidFill>
            <a:srgbClr val="86D3E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134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211</a:t>
            </a:r>
          </a:p>
          <a:p>
            <a:pPr algn="ctr">
              <a:defRPr/>
            </a:pPr>
            <a:r>
              <a:rPr lang="en-US" altLang="zh-TW" sz="1000" b="0">
                <a:latin typeface="Arial" charset="0"/>
                <a:cs typeface="Arial" charset="0"/>
              </a:rPr>
              <a:t>226</a:t>
            </a:r>
          </a:p>
        </p:txBody>
      </p:sp>
    </p:spTree>
    <p:extLst>
      <p:ext uri="{BB962C8B-B14F-4D97-AF65-F5344CB8AC3E}">
        <p14:creationId xmlns:p14="http://schemas.microsoft.com/office/powerpoint/2010/main" val="3792234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7">
            <a:extLst>
              <a:ext uri="{FF2B5EF4-FFF2-40B4-BE49-F238E27FC236}">
                <a16:creationId xmlns:a16="http://schemas.microsoft.com/office/drawing/2014/main" id="{DB19E79B-A342-4C75-A0CE-D0927915B2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2827E88-67B4-437A-B8CF-DFCB100CCE1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84C18F-EB8D-4FF5-AC15-34A2924EEA8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46521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7">
            <a:extLst>
              <a:ext uri="{FF2B5EF4-FFF2-40B4-BE49-F238E27FC236}">
                <a16:creationId xmlns:a16="http://schemas.microsoft.com/office/drawing/2014/main" id="{74A72C37-4A2E-4240-B1A6-FAA6C2B36C9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8BB3E01-2800-481C-BB00-D3A41E3906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CC2A30-D97C-463A-AAB1-9BA3C57695E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39562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7">
            <a:extLst>
              <a:ext uri="{FF2B5EF4-FFF2-40B4-BE49-F238E27FC236}">
                <a16:creationId xmlns:a16="http://schemas.microsoft.com/office/drawing/2014/main" id="{4927F82D-0B20-4721-A463-AB8FD5EDA7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8066" y="1338263"/>
            <a:ext cx="5418667" cy="500856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39933" y="1338263"/>
            <a:ext cx="5418667" cy="500856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F33F1A8-2795-45A1-B452-48F919D9D5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907C2C-9E6A-4AE7-B0C4-656FCE43553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774408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7">
            <a:extLst>
              <a:ext uri="{FF2B5EF4-FFF2-40B4-BE49-F238E27FC236}">
                <a16:creationId xmlns:a16="http://schemas.microsoft.com/office/drawing/2014/main" id="{52572AB9-A733-4860-A633-FB4A2281294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30A6661-3553-4759-9991-061CBCFCA8E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6F2BD8-6C18-463D-85DD-A5131B18CD6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988245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7">
            <a:extLst>
              <a:ext uri="{FF2B5EF4-FFF2-40B4-BE49-F238E27FC236}">
                <a16:creationId xmlns:a16="http://schemas.microsoft.com/office/drawing/2014/main" id="{B704A404-7A84-40FB-A200-E913884B4F1A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2D3900-A677-45C9-AF15-0F0944C3276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0B9F21-FCB5-4EF6-81C7-8758436C5F4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24853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7">
            <a:extLst>
              <a:ext uri="{FF2B5EF4-FFF2-40B4-BE49-F238E27FC236}">
                <a16:creationId xmlns:a16="http://schemas.microsoft.com/office/drawing/2014/main" id="{97A8FAA0-EB43-4874-87C4-FCF8D0EC59C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E216D2B-B638-4D89-8634-25E6C0E3AA9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ED4AC-7C60-46B4-A4F0-53A9BB6B91D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886523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7">
            <a:extLst>
              <a:ext uri="{FF2B5EF4-FFF2-40B4-BE49-F238E27FC236}">
                <a16:creationId xmlns:a16="http://schemas.microsoft.com/office/drawing/2014/main" id="{4F1CBD21-6AE8-4D40-BC43-A357504CDFCA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41663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6" name="文字方塊 8">
            <a:extLst>
              <a:ext uri="{FF2B5EF4-FFF2-40B4-BE49-F238E27FC236}">
                <a16:creationId xmlns:a16="http://schemas.microsoft.com/office/drawing/2014/main" id="{A9B9FCD2-BA44-4FFC-BD54-8EAEE5E9CF7D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B4BA4C8-DD91-468A-850A-326A7C98C6D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DA01DC-48D3-477C-A850-3D9186A5AF6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203261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7">
            <a:extLst>
              <a:ext uri="{FF2B5EF4-FFF2-40B4-BE49-F238E27FC236}">
                <a16:creationId xmlns:a16="http://schemas.microsoft.com/office/drawing/2014/main" id="{3116988E-1899-4A94-84A1-146647813066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5195D35-E060-43E7-95C9-6C9B60E1815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AB1D0-D725-4C0B-9CC4-2D55666E071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89666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7">
            <a:extLst>
              <a:ext uri="{FF2B5EF4-FFF2-40B4-BE49-F238E27FC236}">
                <a16:creationId xmlns:a16="http://schemas.microsoft.com/office/drawing/2014/main" id="{A36FC8E0-A3A7-47D5-B958-32D8183128B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19893987">
            <a:off x="283634" y="3133725"/>
            <a:ext cx="1162473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defRPr>
            </a:lvl9pPr>
          </a:lstStyle>
          <a:p>
            <a:pPr algn="ctr"/>
            <a:r>
              <a:rPr lang="en-US" altLang="zh-TW" sz="7200" b="0">
                <a:solidFill>
                  <a:srgbClr val="F0F0E1"/>
                </a:solidFill>
              </a:rPr>
              <a:t>Himax Confidential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5C9B73C-61FA-4939-AA3D-E6876658535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76B909-AE4A-43D0-97B0-8E31CC0D4D0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8130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96352" y="152401"/>
            <a:ext cx="2762249" cy="61944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152401"/>
            <a:ext cx="8083551" cy="619442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EBE4B-EFE3-486F-B0BA-AB8AC4DC449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35C06E-449B-4B51-B024-8ED03807C85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3133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8067" y="1338263"/>
            <a:ext cx="11040533" cy="5008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</p:txBody>
      </p:sp>
      <p:sp>
        <p:nvSpPr>
          <p:cNvPr id="302080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30133" y="6527800"/>
            <a:ext cx="25400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F0CE0040-9D3B-4D8F-8561-0C2047A4E1E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12192000" cy="93980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1" hangingPunct="1">
              <a:defRPr/>
            </a:pPr>
            <a:endParaRPr lang="zh-TW" altLang="en-US" sz="280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44011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title style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19864"/>
            <a:ext cx="2595582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l" eaLnBrk="1" hangingPunct="1">
              <a:defRPr/>
            </a:pPr>
            <a:r>
              <a:rPr kumimoji="1" lang="en-US" altLang="zh-TW" sz="1200" b="1" i="1">
                <a:solidFill>
                  <a:schemeClr val="folHlink"/>
                </a:solidFill>
                <a:ea typeface="新細明體" pitchFamily="18" charset="-120"/>
              </a:rPr>
              <a:t>Himax Proprietary &amp; Confidential</a:t>
            </a:r>
          </a:p>
        </p:txBody>
      </p:sp>
      <p:pic>
        <p:nvPicPr>
          <p:cNvPr id="8" name="Picture 24" descr="LOGO-8">
            <a:extLst>
              <a:ext uri="{FF2B5EF4-FFF2-40B4-BE49-F238E27FC236}">
                <a16:creationId xmlns:a16="http://schemas.microsoft.com/office/drawing/2014/main" id="{F5074E04-4B2A-4B82-BD18-0C5D715087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0637" y="6230610"/>
            <a:ext cx="2011363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946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v"/>
        <a:defRPr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50000"/>
        <a:buFont typeface="Wingdings" pitchFamily="2" charset="2"/>
        <a:buChar char="§"/>
        <a:defRPr sz="16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F09516A-D344-46C8-8F5E-D437FD5DA3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8067" y="1338263"/>
            <a:ext cx="11040533" cy="500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</p:txBody>
      </p:sp>
      <p:sp>
        <p:nvSpPr>
          <p:cNvPr id="3020803" name="Rectangle 3">
            <a:extLst>
              <a:ext uri="{FF2B5EF4-FFF2-40B4-BE49-F238E27FC236}">
                <a16:creationId xmlns:a16="http://schemas.microsoft.com/office/drawing/2014/main" id="{06432C2C-B665-42CB-B1A8-277F868F1D0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30133" y="6527800"/>
            <a:ext cx="25400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EC8629A-511B-4F54-A193-6631F41A8D5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3D4901F-F1FA-4FC3-B56B-94ACCC3E9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939800"/>
          </a:xfrm>
          <a:prstGeom prst="rect">
            <a:avLst/>
          </a:prstGeom>
          <a:solidFill>
            <a:srgbClr val="3366CC"/>
          </a:solidFill>
          <a:ln>
            <a:noFill/>
          </a:ln>
          <a:effectLst/>
        </p:spPr>
        <p:txBody>
          <a:bodyPr wrap="none" anchor="ctr"/>
          <a:lstStyle>
            <a:lvl1pPr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9pPr>
          </a:lstStyle>
          <a:p>
            <a:pPr eaLnBrk="1" hangingPunct="1">
              <a:defRPr/>
            </a:pPr>
            <a:endParaRPr lang="zh-TW" altLang="en-US" sz="2800">
              <a:cs typeface="+mn-cs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F7F2E51-2D65-4A1A-BB8A-ABEE02AEC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44011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CC76B179-7BF9-4C65-AAD2-FD02C18FE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19864"/>
            <a:ext cx="2595582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1pPr>
            <a:lvl2pPr marL="742950" indent="-28575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2pPr>
            <a:lvl3pPr marL="11430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3pPr>
            <a:lvl4pPr marL="16002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4pPr>
            <a:lvl5pPr marL="2057400" indent="-228600" algn="ctr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0"/>
              </a:defRPr>
            </a:lvl9pPr>
          </a:lstStyle>
          <a:p>
            <a:pPr algn="l" eaLnBrk="1" hangingPunct="1">
              <a:defRPr/>
            </a:pPr>
            <a:r>
              <a:rPr kumimoji="1" lang="en-US" altLang="zh-TW" sz="1200" i="1" dirty="0">
                <a:solidFill>
                  <a:schemeClr val="folHlink"/>
                </a:solidFill>
                <a:ea typeface="新細明體" panose="02020500000000000000" pitchFamily="18" charset="-120"/>
                <a:cs typeface="+mn-cs"/>
              </a:rPr>
              <a:t>Himax Proprietary &amp; Confidential</a:t>
            </a:r>
          </a:p>
        </p:txBody>
      </p:sp>
      <p:pic>
        <p:nvPicPr>
          <p:cNvPr id="8" name="Picture 24" descr="LOGO-8">
            <a:extLst>
              <a:ext uri="{FF2B5EF4-FFF2-40B4-BE49-F238E27FC236}">
                <a16:creationId xmlns:a16="http://schemas.microsoft.com/office/drawing/2014/main" id="{93C9668F-FD6A-4681-8BFB-F0597CDDB9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0637" y="6230610"/>
            <a:ext cx="2011363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0636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5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tmp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9"/>
          <p:cNvSpPr txBox="1">
            <a:spLocks noChangeArrowheads="1"/>
          </p:cNvSpPr>
          <p:nvPr/>
        </p:nvSpPr>
        <p:spPr bwMode="auto">
          <a:xfrm>
            <a:off x="3181353" y="4466292"/>
            <a:ext cx="61436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b="1" dirty="0">
                <a:solidFill>
                  <a:srgbClr val="003366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2021/07</a:t>
            </a:r>
          </a:p>
        </p:txBody>
      </p:sp>
      <p:sp>
        <p:nvSpPr>
          <p:cNvPr id="6147" name="文字方塊 2"/>
          <p:cNvSpPr txBox="1">
            <a:spLocks noChangeArrowheads="1"/>
          </p:cNvSpPr>
          <p:nvPr/>
        </p:nvSpPr>
        <p:spPr bwMode="auto">
          <a:xfrm>
            <a:off x="3181353" y="2935943"/>
            <a:ext cx="230383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400" b="1" dirty="0"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HX83192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400" b="1" dirty="0">
                <a:latin typeface="Arial" panose="020B060402020202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Self Diagnosis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4379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ADC312-7129-483E-872E-739F574C4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8695F8-8341-45AB-A74B-7D103E2CE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1600" dirty="0"/>
              <a:t>Self test two modes compare</a:t>
            </a:r>
          </a:p>
          <a:p>
            <a:r>
              <a:rPr lang="en-US" altLang="zh-TW" sz="1600" dirty="0"/>
              <a:t>Self test – normal mode</a:t>
            </a:r>
          </a:p>
          <a:p>
            <a:pPr lvl="1"/>
            <a:r>
              <a:rPr lang="en-US" altLang="zh-TW" sz="1400" dirty="0"/>
              <a:t>Listen mode</a:t>
            </a:r>
          </a:p>
          <a:p>
            <a:pPr lvl="1"/>
            <a:r>
              <a:rPr lang="en-US" altLang="zh-TW" sz="1400" dirty="0">
                <a:ea typeface="新細明體" pitchFamily="18" charset="-120"/>
              </a:rPr>
              <a:t>Short </a:t>
            </a:r>
            <a:r>
              <a:rPr lang="en-US" altLang="zh-TW" sz="1400" dirty="0"/>
              <a:t>diagram</a:t>
            </a:r>
          </a:p>
          <a:p>
            <a:pPr lvl="1"/>
            <a:r>
              <a:rPr lang="en-US" altLang="zh-TW" sz="1400" dirty="0">
                <a:ea typeface="新細明體" pitchFamily="18" charset="-120"/>
              </a:rPr>
              <a:t>Open </a:t>
            </a:r>
            <a:r>
              <a:rPr lang="en-US" altLang="zh-TW" sz="1400" dirty="0"/>
              <a:t>diagram</a:t>
            </a:r>
          </a:p>
          <a:p>
            <a:pPr lvl="1"/>
            <a:r>
              <a:rPr lang="en-US" altLang="zh-TW" sz="1400" dirty="0"/>
              <a:t>Detect short and open at the same time</a:t>
            </a:r>
          </a:p>
          <a:p>
            <a:pPr lvl="1"/>
            <a:r>
              <a:rPr lang="en-US" altLang="zh-TW" sz="1400" dirty="0"/>
              <a:t>Self test sensing timing</a:t>
            </a:r>
          </a:p>
          <a:p>
            <a:pPr lvl="1"/>
            <a:r>
              <a:rPr lang="en-US" altLang="zh-TW" sz="1400" dirty="0"/>
              <a:t>Partition detection</a:t>
            </a:r>
          </a:p>
          <a:p>
            <a:pPr lvl="1"/>
            <a:r>
              <a:rPr lang="en-US" altLang="zh-TW" sz="1400" dirty="0"/>
              <a:t>Parameter</a:t>
            </a:r>
          </a:p>
          <a:p>
            <a:pPr lvl="1"/>
            <a:r>
              <a:rPr lang="en-US" altLang="zh-TW" sz="1400" dirty="0"/>
              <a:t>Output value</a:t>
            </a:r>
          </a:p>
          <a:p>
            <a:pPr lvl="1"/>
            <a:r>
              <a:rPr lang="en-US" altLang="zh-TW" sz="1400" dirty="0"/>
              <a:t>Unable to detect short NG case</a:t>
            </a:r>
          </a:p>
          <a:p>
            <a:pPr lvl="1"/>
            <a:r>
              <a:rPr lang="en-US" altLang="zh-TW" sz="1400" dirty="0"/>
              <a:t>Detect Open NG Case</a:t>
            </a:r>
          </a:p>
          <a:p>
            <a:endParaRPr lang="en-US" altLang="zh-TW" sz="1600" dirty="0"/>
          </a:p>
          <a:p>
            <a:r>
              <a:rPr lang="en-US" altLang="zh-TW" sz="1600" dirty="0"/>
              <a:t>Self test – inspect mode</a:t>
            </a:r>
          </a:p>
          <a:p>
            <a:pPr lvl="1"/>
            <a:r>
              <a:rPr lang="en-US" altLang="zh-TW" sz="1400" dirty="0"/>
              <a:t>System diagram</a:t>
            </a:r>
          </a:p>
          <a:p>
            <a:pPr lvl="1"/>
            <a:r>
              <a:rPr lang="en-US" altLang="zh-TW" sz="1400" dirty="0"/>
              <a:t>Command description</a:t>
            </a:r>
          </a:p>
          <a:p>
            <a:pPr lvl="1"/>
            <a:r>
              <a:rPr lang="en-US" altLang="zh-TW" sz="1400" dirty="0"/>
              <a:t>Result data format</a:t>
            </a:r>
          </a:p>
          <a:p>
            <a:pPr lvl="1"/>
            <a:r>
              <a:rPr lang="en-US" altLang="zh-TW" sz="1400" dirty="0"/>
              <a:t>Parameter</a:t>
            </a:r>
            <a:endParaRPr lang="zh-TW" altLang="en-US" sz="1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B06386-31F9-4A73-B3DE-174A2FE3D5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8593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5B63CA-FC99-4447-9707-A45411CC9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Self Test Two Modes Compare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A93E95-4446-4F5C-A652-5CED9B8652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ED25EAA-1EE3-44B4-B852-D3B3255FF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724252"/>
              </p:ext>
            </p:extLst>
          </p:nvPr>
        </p:nvGraphicFramePr>
        <p:xfrm>
          <a:off x="1973179" y="2241885"/>
          <a:ext cx="8524039" cy="3128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231">
                  <a:extLst>
                    <a:ext uri="{9D8B030D-6E8A-4147-A177-3AD203B41FA5}">
                      <a16:colId xmlns:a16="http://schemas.microsoft.com/office/drawing/2014/main" val="190299604"/>
                    </a:ext>
                  </a:extLst>
                </a:gridCol>
                <a:gridCol w="3074904">
                  <a:extLst>
                    <a:ext uri="{9D8B030D-6E8A-4147-A177-3AD203B41FA5}">
                      <a16:colId xmlns:a16="http://schemas.microsoft.com/office/drawing/2014/main" val="1493852741"/>
                    </a:ext>
                  </a:extLst>
                </a:gridCol>
                <a:gridCol w="3074904">
                  <a:extLst>
                    <a:ext uri="{9D8B030D-6E8A-4147-A177-3AD203B41FA5}">
                      <a16:colId xmlns:a16="http://schemas.microsoft.com/office/drawing/2014/main" val="29213509"/>
                    </a:ext>
                  </a:extLst>
                </a:gridCol>
              </a:tblGrid>
              <a:tr h="246329">
                <a:tc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Normal Mode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Inspect Mode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621649"/>
                  </a:ext>
                </a:extLst>
              </a:tr>
              <a:tr h="591189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Test Item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altLang="zh-TW" sz="1400" dirty="0"/>
                        <a:t>Short </a:t>
                      </a:r>
                    </a:p>
                    <a:p>
                      <a:pPr marL="342900" indent="-342900">
                        <a:buAutoNum type="arabicPeriod" startAt="2"/>
                      </a:pPr>
                      <a:r>
                        <a:rPr lang="en-US" altLang="zh-TW" sz="1400" dirty="0"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altLang="zh-TW" sz="1400" dirty="0"/>
                        <a:t>Short </a:t>
                      </a:r>
                    </a:p>
                    <a:p>
                      <a:pPr marL="342900" indent="-342900">
                        <a:buAutoNum type="arabicPeriod" startAt="2"/>
                      </a:pPr>
                      <a:r>
                        <a:rPr lang="en-US" altLang="zh-TW" sz="1400" dirty="0"/>
                        <a:t>Open</a:t>
                      </a:r>
                    </a:p>
                    <a:p>
                      <a:pPr marL="342900" indent="-342900">
                        <a:buAutoNum type="arabicPeriod" startAt="3"/>
                      </a:pPr>
                      <a:r>
                        <a:rPr lang="en-US" altLang="zh-TW" sz="1400" dirty="0"/>
                        <a:t>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995741"/>
                  </a:ext>
                </a:extLst>
              </a:tr>
              <a:tr h="246329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Accuracy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Rough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sz="1400" dirty="0"/>
                        <a:t>Fine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722390"/>
                  </a:ext>
                </a:extLst>
              </a:tr>
              <a:tr h="345027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Execute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Run test flow at background.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sz="1400" dirty="0"/>
                        <a:t>Test flow is same as MPAP flow.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663962"/>
                  </a:ext>
                </a:extLst>
              </a:tr>
              <a:tr h="366079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Can user touch panel?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sz="14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081305"/>
                  </a:ext>
                </a:extLst>
              </a:tr>
              <a:tr h="345027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Cost time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Short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sz="1400" dirty="0"/>
                        <a:t>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171052"/>
                  </a:ext>
                </a:extLst>
              </a:tr>
              <a:tr h="591189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Output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AutoNum type="arabicPeriod"/>
                      </a:pPr>
                      <a:r>
                        <a:rPr lang="en-US" altLang="zh-TW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Status Register(DD REG E5h)</a:t>
                      </a:r>
                      <a:endParaRPr lang="en-US" altLang="zh-TW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0" hangingPunct="1">
                        <a:buAutoNum type="arabicPeriod"/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FAIL_DET (or TP_GPIO)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Event Stack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TXIS</a:t>
                      </a:r>
                    </a:p>
                    <a:p>
                      <a:pPr marL="228600" indent="-228600" algn="l" defTabSz="914400" rtl="0" eaLnBrk="1" latinLnBrk="0" hangingPunct="1">
                        <a:buAutoNum type="arabicPeriod"/>
                      </a:pPr>
                      <a:endParaRPr lang="en-US" altLang="zh-TW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759307"/>
                  </a:ext>
                </a:extLst>
              </a:tr>
            </a:tbl>
          </a:graphicData>
        </a:graphic>
      </p:graphicFrame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BCBD19F4-2F57-41BA-AC5A-FE7D86E19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338263"/>
            <a:ext cx="11040533" cy="5008562"/>
          </a:xfrm>
        </p:spPr>
        <p:txBody>
          <a:bodyPr/>
          <a:lstStyle/>
          <a:p>
            <a:r>
              <a:rPr lang="en-US" altLang="zh-TW" sz="1600" dirty="0"/>
              <a:t>About self test of TP sensor, we provide two modes for using.</a:t>
            </a:r>
          </a:p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364056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8A9719-64FA-4B85-9A3E-07BB819169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799F257-E3C2-4CC9-99DC-1AF045153985}"/>
              </a:ext>
            </a:extLst>
          </p:cNvPr>
          <p:cNvSpPr txBox="1"/>
          <p:nvPr/>
        </p:nvSpPr>
        <p:spPr>
          <a:xfrm>
            <a:off x="3545305" y="3167390"/>
            <a:ext cx="5101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Self Test – Normal Mode</a:t>
            </a:r>
          </a:p>
        </p:txBody>
      </p:sp>
    </p:spTree>
    <p:extLst>
      <p:ext uri="{BB962C8B-B14F-4D97-AF65-F5344CB8AC3E}">
        <p14:creationId xmlns:p14="http://schemas.microsoft.com/office/powerpoint/2010/main" val="1410500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CB7D2D-7DC7-4A36-9920-EE5FEB355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Listen Mode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064312-C711-48A4-B9C8-3D7D61428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338263"/>
            <a:ext cx="11040533" cy="939716"/>
          </a:xfrm>
        </p:spPr>
        <p:txBody>
          <a:bodyPr/>
          <a:lstStyle/>
          <a:p>
            <a:r>
              <a:rPr lang="en-US" altLang="zh-TW" sz="1600" dirty="0"/>
              <a:t>Sensing is a DC voltage in listen mode, different from normal mode is a trapezoidal wave or sine wave.</a:t>
            </a:r>
          </a:p>
          <a:p>
            <a:endParaRPr lang="zh-TW" altLang="en-US" sz="1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CEA6A27-CFDD-495E-8815-4847074D6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04351F8D-C82E-41BA-9BC5-A2C96F68A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99028" y="2215032"/>
            <a:ext cx="4478610" cy="374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88771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E7FB58-0B2A-4106-9A37-4B536F95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Short D</a:t>
            </a:r>
            <a:r>
              <a:rPr lang="en-US" altLang="zh-TW" dirty="0"/>
              <a:t>iagram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EA62E6-669F-4538-A039-55F4F80F1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1ED99E9B-3DF5-48ED-9FCD-02CB106C5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338263"/>
            <a:ext cx="5952061" cy="781363"/>
          </a:xfrm>
        </p:spPr>
        <p:txBody>
          <a:bodyPr/>
          <a:lstStyle/>
          <a:p>
            <a:r>
              <a:rPr lang="en-US" altLang="zh-TW" sz="1600" dirty="0"/>
              <a:t>If there is a leakage current that requires the need to input more charge, and will count this charge in short mode.</a:t>
            </a:r>
          </a:p>
        </p:txBody>
      </p:sp>
      <p:pic>
        <p:nvPicPr>
          <p:cNvPr id="6" name="Picture 5" descr="Short detect diagram">
            <a:extLst>
              <a:ext uri="{FF2B5EF4-FFF2-40B4-BE49-F238E27FC236}">
                <a16:creationId xmlns:a16="http://schemas.microsoft.com/office/drawing/2014/main" id="{0F3E5A62-0C29-4419-995C-4F8EA76E1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9153" y="1221349"/>
            <a:ext cx="3456384" cy="5380503"/>
          </a:xfrm>
          <a:prstGeom prst="rect">
            <a:avLst/>
          </a:prstGeom>
          <a:noFill/>
        </p:spPr>
      </p:pic>
      <p:grpSp>
        <p:nvGrpSpPr>
          <p:cNvPr id="7" name="群組 6">
            <a:extLst>
              <a:ext uri="{FF2B5EF4-FFF2-40B4-BE49-F238E27FC236}">
                <a16:creationId xmlns:a16="http://schemas.microsoft.com/office/drawing/2014/main" id="{D533EE11-6129-40E2-8A8C-D09D22221843}"/>
              </a:ext>
            </a:extLst>
          </p:cNvPr>
          <p:cNvGrpSpPr>
            <a:grpSpLocks noChangeAspect="1"/>
          </p:cNvGrpSpPr>
          <p:nvPr/>
        </p:nvGrpSpPr>
        <p:grpSpPr>
          <a:xfrm>
            <a:off x="325442" y="2343928"/>
            <a:ext cx="6063183" cy="4014998"/>
            <a:chOff x="899592" y="2276872"/>
            <a:chExt cx="6624736" cy="4386854"/>
          </a:xfrm>
        </p:grpSpPr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56E04D2A-81D1-4D43-AFEF-4E7AFD496EE5}"/>
                </a:ext>
              </a:extLst>
            </p:cNvPr>
            <p:cNvGrpSpPr/>
            <p:nvPr/>
          </p:nvGrpSpPr>
          <p:grpSpPr>
            <a:xfrm>
              <a:off x="3100388" y="4260477"/>
              <a:ext cx="2792850" cy="202554"/>
              <a:chOff x="3100388" y="4260477"/>
              <a:chExt cx="2792850" cy="202554"/>
            </a:xfrm>
          </p:grpSpPr>
          <p:grpSp>
            <p:nvGrpSpPr>
              <p:cNvPr id="47" name="群組 46">
                <a:extLst>
                  <a:ext uri="{FF2B5EF4-FFF2-40B4-BE49-F238E27FC236}">
                    <a16:creationId xmlns:a16="http://schemas.microsoft.com/office/drawing/2014/main" id="{19BFA6E9-13FC-4750-B7D7-6EC566BCEBA0}"/>
                  </a:ext>
                </a:extLst>
              </p:cNvPr>
              <p:cNvGrpSpPr/>
              <p:nvPr/>
            </p:nvGrpSpPr>
            <p:grpSpPr>
              <a:xfrm>
                <a:off x="3100388" y="4273494"/>
                <a:ext cx="626107" cy="189537"/>
                <a:chOff x="3100388" y="4273494"/>
                <a:chExt cx="626107" cy="189537"/>
              </a:xfrm>
            </p:grpSpPr>
            <p:sp>
              <p:nvSpPr>
                <p:cNvPr id="50" name="直角三角形 49">
                  <a:extLst>
                    <a:ext uri="{FF2B5EF4-FFF2-40B4-BE49-F238E27FC236}">
                      <a16:creationId xmlns:a16="http://schemas.microsoft.com/office/drawing/2014/main" id="{F6973FE7-1718-4A60-9597-4857A4C29C97}"/>
                    </a:ext>
                  </a:extLst>
                </p:cNvPr>
                <p:cNvSpPr/>
                <p:nvPr/>
              </p:nvSpPr>
              <p:spPr bwMode="auto">
                <a:xfrm rot="17174607">
                  <a:off x="3382194" y="4072233"/>
                  <a:ext cx="143040" cy="545562"/>
                </a:xfrm>
                <a:prstGeom prst="rtTriangle">
                  <a:avLst/>
                </a:prstGeom>
                <a:solidFill>
                  <a:srgbClr val="8A40EC"/>
                </a:solidFill>
                <a:ln w="38100" cap="flat" cmpd="sng" algn="ctr">
                  <a:noFill/>
                  <a:prstDash val="solid"/>
                  <a:round/>
                  <a:headEnd type="none" w="med" len="med"/>
                  <a:tailEnd type="triangl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1800" b="1" i="0" u="none" strike="noStrike" cap="none" normalizeH="0" baseline="0" dirty="0">
                    <a:ln>
                      <a:noFill/>
                    </a:ln>
                    <a:solidFill>
                      <a:srgbClr val="33CC33"/>
                    </a:solidFill>
                    <a:effectLst/>
                    <a:latin typeface="Arial" charset="0"/>
                    <a:ea typeface="Arial Unicode MS" pitchFamily="34" charset="-120"/>
                    <a:cs typeface="Arial" charset="0"/>
                  </a:endParaRPr>
                </a:p>
              </p:txBody>
            </p:sp>
            <p:sp>
              <p:nvSpPr>
                <p:cNvPr id="51" name="直角三角形 50">
                  <a:extLst>
                    <a:ext uri="{FF2B5EF4-FFF2-40B4-BE49-F238E27FC236}">
                      <a16:creationId xmlns:a16="http://schemas.microsoft.com/office/drawing/2014/main" id="{E4C388F4-305C-4015-BCB3-7F634610C2C5}"/>
                    </a:ext>
                  </a:extLst>
                </p:cNvPr>
                <p:cNvSpPr/>
                <p:nvPr/>
              </p:nvSpPr>
              <p:spPr bwMode="auto">
                <a:xfrm flipH="1" flipV="1">
                  <a:off x="3100388" y="4343398"/>
                  <a:ext cx="381000" cy="119633"/>
                </a:xfrm>
                <a:prstGeom prst="rtTriangle">
                  <a:avLst/>
                </a:prstGeom>
                <a:solidFill>
                  <a:schemeClr val="bg1"/>
                </a:solidFill>
                <a:ln w="38100" cap="flat" cmpd="sng" algn="ctr">
                  <a:noFill/>
                  <a:prstDash val="solid"/>
                  <a:round/>
                  <a:headEnd type="none" w="med" len="med"/>
                  <a:tailEnd type="triangl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TW" altLang="en-US" sz="1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Arial Unicode MS" pitchFamily="34" charset="-120"/>
                    <a:cs typeface="Arial" charset="0"/>
                  </a:endParaRPr>
                </a:p>
              </p:txBody>
            </p:sp>
          </p:grpSp>
          <p:sp>
            <p:nvSpPr>
              <p:cNvPr id="48" name="直角三角形 47">
                <a:extLst>
                  <a:ext uri="{FF2B5EF4-FFF2-40B4-BE49-F238E27FC236}">
                    <a16:creationId xmlns:a16="http://schemas.microsoft.com/office/drawing/2014/main" id="{2FBA888F-0A13-4091-A50C-2AE5A296DF6B}"/>
                  </a:ext>
                </a:extLst>
              </p:cNvPr>
              <p:cNvSpPr/>
              <p:nvPr/>
            </p:nvSpPr>
            <p:spPr bwMode="auto">
              <a:xfrm rot="17174607">
                <a:off x="5539081" y="4069072"/>
                <a:ext cx="162751" cy="545562"/>
              </a:xfrm>
              <a:prstGeom prst="rtTriangle">
                <a:avLst/>
              </a:prstGeom>
              <a:solidFill>
                <a:srgbClr val="8A40EC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TW" altLang="en-US" sz="1800" b="1" i="0" u="none" strike="noStrike" cap="none" normalizeH="0" baseline="0" dirty="0">
                  <a:ln>
                    <a:noFill/>
                  </a:ln>
                  <a:solidFill>
                    <a:srgbClr val="33CC33"/>
                  </a:solidFill>
                  <a:effectLst/>
                  <a:latin typeface="Arial" charset="0"/>
                  <a:ea typeface="Arial Unicode MS" pitchFamily="34" charset="-120"/>
                  <a:cs typeface="Arial" charset="0"/>
                </a:endParaRPr>
              </a:p>
            </p:txBody>
          </p:sp>
          <p:sp>
            <p:nvSpPr>
              <p:cNvPr id="49" name="直角三角形 48">
                <a:extLst>
                  <a:ext uri="{FF2B5EF4-FFF2-40B4-BE49-F238E27FC236}">
                    <a16:creationId xmlns:a16="http://schemas.microsoft.com/office/drawing/2014/main" id="{3A6B74F9-179D-4177-9249-19719C5539B0}"/>
                  </a:ext>
                </a:extLst>
              </p:cNvPr>
              <p:cNvSpPr/>
              <p:nvPr/>
            </p:nvSpPr>
            <p:spPr bwMode="auto">
              <a:xfrm rot="17174607">
                <a:off x="4468044" y="4067471"/>
                <a:ext cx="143040" cy="545562"/>
              </a:xfrm>
              <a:prstGeom prst="rtTriangle">
                <a:avLst/>
              </a:prstGeom>
              <a:solidFill>
                <a:srgbClr val="8A40EC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TW" altLang="en-US" sz="1800" b="1" i="0" u="none" strike="noStrike" cap="none" normalizeH="0" baseline="0" dirty="0">
                  <a:ln>
                    <a:noFill/>
                  </a:ln>
                  <a:solidFill>
                    <a:srgbClr val="33CC33"/>
                  </a:solidFill>
                  <a:effectLst/>
                  <a:latin typeface="Arial" charset="0"/>
                  <a:ea typeface="Arial Unicode MS" pitchFamily="34" charset="-120"/>
                  <a:cs typeface="Arial" charset="0"/>
                </a:endParaRPr>
              </a:p>
            </p:txBody>
          </p:sp>
        </p:grp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5786EB4F-1A63-4599-B690-63D479D4FA49}"/>
                </a:ext>
              </a:extLst>
            </p:cNvPr>
            <p:cNvGrpSpPr/>
            <p:nvPr/>
          </p:nvGrpSpPr>
          <p:grpSpPr>
            <a:xfrm>
              <a:off x="899592" y="3789040"/>
              <a:ext cx="6624736" cy="2874686"/>
              <a:chOff x="1331640" y="2492896"/>
              <a:chExt cx="6624736" cy="4193379"/>
            </a:xfrm>
          </p:grpSpPr>
          <p:cxnSp>
            <p:nvCxnSpPr>
              <p:cNvPr id="21" name="直線接點 6">
                <a:extLst>
                  <a:ext uri="{FF2B5EF4-FFF2-40B4-BE49-F238E27FC236}">
                    <a16:creationId xmlns:a16="http://schemas.microsoft.com/office/drawing/2014/main" id="{53D2A88A-254D-4676-8E35-FC15769DBF5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10152" y="4227494"/>
                <a:ext cx="1131138" cy="781015"/>
              </a:xfrm>
              <a:prstGeom prst="line">
                <a:avLst/>
              </a:prstGeom>
              <a:noFill/>
              <a:ln w="38100" algn="ctr">
                <a:noFill/>
                <a:round/>
                <a:headEnd/>
                <a:tailEnd/>
              </a:ln>
            </p:spPr>
          </p:cxnSp>
          <p:cxnSp>
            <p:nvCxnSpPr>
              <p:cNvPr id="22" name="直線接點 7">
                <a:extLst>
                  <a:ext uri="{FF2B5EF4-FFF2-40B4-BE49-F238E27FC236}">
                    <a16:creationId xmlns:a16="http://schemas.microsoft.com/office/drawing/2014/main" id="{8D4056FB-302B-44A2-9B9B-A8553BC5539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149308" y="3287661"/>
                <a:ext cx="930690" cy="2482813"/>
              </a:xfrm>
              <a:prstGeom prst="line">
                <a:avLst/>
              </a:prstGeom>
              <a:noFill/>
              <a:ln w="38100" algn="ctr">
                <a:solidFill>
                  <a:srgbClr val="00B0F0"/>
                </a:solidFill>
                <a:round/>
                <a:headEnd/>
                <a:tailEnd/>
              </a:ln>
            </p:spPr>
          </p:cxnSp>
          <p:cxnSp>
            <p:nvCxnSpPr>
              <p:cNvPr id="23" name="直線接點 10">
                <a:extLst>
                  <a:ext uri="{FF2B5EF4-FFF2-40B4-BE49-F238E27FC236}">
                    <a16:creationId xmlns:a16="http://schemas.microsoft.com/office/drawing/2014/main" id="{A50C50AC-EBFC-4537-9E00-15816AF68F3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141761" y="3284984"/>
                <a:ext cx="1422127" cy="2507269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/>
              </a:ln>
            </p:spPr>
          </p:cxnSp>
          <p:sp>
            <p:nvSpPr>
              <p:cNvPr id="24" name="文字方塊 20">
                <a:extLst>
                  <a:ext uri="{FF2B5EF4-FFF2-40B4-BE49-F238E27FC236}">
                    <a16:creationId xmlns:a16="http://schemas.microsoft.com/office/drawing/2014/main" id="{8D0B5283-85ED-4397-BC5B-72422F2211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1720" y="6237313"/>
                <a:ext cx="1944215" cy="4489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1400" dirty="0">
                    <a:solidFill>
                      <a:srgbClr val="FF6600"/>
                    </a:solidFill>
                  </a:rPr>
                  <a:t>Charge time</a:t>
                </a:r>
                <a:endParaRPr lang="zh-TW" altLang="en-US" sz="14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25" name="文字方塊 21">
                <a:extLst>
                  <a:ext uri="{FF2B5EF4-FFF2-40B4-BE49-F238E27FC236}">
                    <a16:creationId xmlns:a16="http://schemas.microsoft.com/office/drawing/2014/main" id="{C75122B6-A36C-4D2C-B810-46577E903F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32240" y="3068959"/>
                <a:ext cx="1224136" cy="5387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TW" dirty="0">
                    <a:solidFill>
                      <a:srgbClr val="00B0F0"/>
                    </a:solidFill>
                  </a:rPr>
                  <a:t>Normal</a:t>
                </a:r>
                <a:endParaRPr lang="zh-TW" altLang="en-US" dirty="0">
                  <a:solidFill>
                    <a:srgbClr val="00B0F0"/>
                  </a:solidFill>
                </a:endParaRPr>
              </a:p>
            </p:txBody>
          </p:sp>
          <p:sp>
            <p:nvSpPr>
              <p:cNvPr id="26" name="文字方塊 22">
                <a:extLst>
                  <a:ext uri="{FF2B5EF4-FFF2-40B4-BE49-F238E27FC236}">
                    <a16:creationId xmlns:a16="http://schemas.microsoft.com/office/drawing/2014/main" id="{26C7CD22-E628-4D15-98CB-97DE540BE0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3848" y="4077072"/>
                <a:ext cx="86409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TW" dirty="0">
                    <a:solidFill>
                      <a:srgbClr val="FF0000"/>
                    </a:solidFill>
                  </a:rPr>
                  <a:t>Short</a:t>
                </a:r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7" name="直線單箭頭接點 26">
                <a:extLst>
                  <a:ext uri="{FF2B5EF4-FFF2-40B4-BE49-F238E27FC236}">
                    <a16:creationId xmlns:a16="http://schemas.microsoft.com/office/drawing/2014/main" id="{99E4D84D-EBC1-48C5-A50D-AF2D4FEA1796}"/>
                  </a:ext>
                </a:extLst>
              </p:cNvPr>
              <p:cNvCxnSpPr/>
              <p:nvPr/>
            </p:nvCxnSpPr>
            <p:spPr bwMode="auto">
              <a:xfrm flipV="1">
                <a:off x="2123728" y="2492896"/>
                <a:ext cx="0" cy="3312368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003366"/>
                </a:solidFill>
                <a:prstDash val="solid"/>
                <a:round/>
                <a:headEnd type="none" w="med" len="med"/>
                <a:tailEnd type="arrow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8" name="直線單箭頭接點 27">
                <a:extLst>
                  <a:ext uri="{FF2B5EF4-FFF2-40B4-BE49-F238E27FC236}">
                    <a16:creationId xmlns:a16="http://schemas.microsoft.com/office/drawing/2014/main" id="{5AA6E360-78BE-48C0-B613-3BC335ABF660}"/>
                  </a:ext>
                </a:extLst>
              </p:cNvPr>
              <p:cNvCxnSpPr/>
              <p:nvPr/>
            </p:nvCxnSpPr>
            <p:spPr bwMode="auto">
              <a:xfrm>
                <a:off x="2123728" y="5805264"/>
                <a:ext cx="5760640" cy="0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003366"/>
                </a:solidFill>
                <a:prstDash val="solid"/>
                <a:round/>
                <a:headEnd type="none" w="med" len="med"/>
                <a:tailEnd type="arrow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9" name="直線接點 28">
                <a:extLst>
                  <a:ext uri="{FF2B5EF4-FFF2-40B4-BE49-F238E27FC236}">
                    <a16:creationId xmlns:a16="http://schemas.microsoft.com/office/drawing/2014/main" id="{ECFC51B4-4EC3-4588-8074-600CF91EC7EA}"/>
                  </a:ext>
                </a:extLst>
              </p:cNvPr>
              <p:cNvCxnSpPr/>
              <p:nvPr/>
            </p:nvCxnSpPr>
            <p:spPr bwMode="auto">
              <a:xfrm flipH="1">
                <a:off x="2123728" y="3284984"/>
                <a:ext cx="4464496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3366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0" name="文字方塊 20">
                <a:extLst>
                  <a:ext uri="{FF2B5EF4-FFF2-40B4-BE49-F238E27FC236}">
                    <a16:creationId xmlns:a16="http://schemas.microsoft.com/office/drawing/2014/main" id="{C00A19AA-B8CD-4D4F-A1FF-3EC69E8329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1640" y="3068961"/>
                <a:ext cx="792088" cy="4489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TW" sz="1400" dirty="0"/>
                  <a:t>Voltage</a:t>
                </a:r>
                <a:endParaRPr lang="zh-TW" altLang="en-US" sz="1400" dirty="0"/>
              </a:p>
            </p:txBody>
          </p:sp>
          <p:cxnSp>
            <p:nvCxnSpPr>
              <p:cNvPr id="31" name="直線接點 30">
                <a:extLst>
                  <a:ext uri="{FF2B5EF4-FFF2-40B4-BE49-F238E27FC236}">
                    <a16:creationId xmlns:a16="http://schemas.microsoft.com/office/drawing/2014/main" id="{E7944E0C-6A24-430F-A410-2BC938A0FFB7}"/>
                  </a:ext>
                </a:extLst>
              </p:cNvPr>
              <p:cNvCxnSpPr/>
              <p:nvPr/>
            </p:nvCxnSpPr>
            <p:spPr bwMode="auto">
              <a:xfrm>
                <a:off x="3923928" y="2564904"/>
                <a:ext cx="0" cy="324036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3366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2" name="直線接點 31">
                <a:extLst>
                  <a:ext uri="{FF2B5EF4-FFF2-40B4-BE49-F238E27FC236}">
                    <a16:creationId xmlns:a16="http://schemas.microsoft.com/office/drawing/2014/main" id="{5D73BB48-B1E4-4C2C-8873-167BE929862F}"/>
                  </a:ext>
                </a:extLst>
              </p:cNvPr>
              <p:cNvCxnSpPr/>
              <p:nvPr/>
            </p:nvCxnSpPr>
            <p:spPr bwMode="auto">
              <a:xfrm>
                <a:off x="3923928" y="5877272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3" name="直線單箭頭接點 32">
                <a:extLst>
                  <a:ext uri="{FF2B5EF4-FFF2-40B4-BE49-F238E27FC236}">
                    <a16:creationId xmlns:a16="http://schemas.microsoft.com/office/drawing/2014/main" id="{901CC63E-F9F5-4684-B6A3-D28CCF976828}"/>
                  </a:ext>
                </a:extLst>
              </p:cNvPr>
              <p:cNvCxnSpPr/>
              <p:nvPr/>
            </p:nvCxnSpPr>
            <p:spPr bwMode="auto">
              <a:xfrm>
                <a:off x="3923928" y="6165304"/>
                <a:ext cx="2736304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B050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4" name="直線接點 33">
                <a:extLst>
                  <a:ext uri="{FF2B5EF4-FFF2-40B4-BE49-F238E27FC236}">
                    <a16:creationId xmlns:a16="http://schemas.microsoft.com/office/drawing/2014/main" id="{375378E5-0274-42F6-9A88-54B8BA9772B5}"/>
                  </a:ext>
                </a:extLst>
              </p:cNvPr>
              <p:cNvCxnSpPr/>
              <p:nvPr/>
            </p:nvCxnSpPr>
            <p:spPr bwMode="auto">
              <a:xfrm>
                <a:off x="6660232" y="2636912"/>
                <a:ext cx="0" cy="324036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3366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5" name="直線接點 34">
                <a:extLst>
                  <a:ext uri="{FF2B5EF4-FFF2-40B4-BE49-F238E27FC236}">
                    <a16:creationId xmlns:a16="http://schemas.microsoft.com/office/drawing/2014/main" id="{AAE1700C-85FB-49E8-991F-AA2E391A175F}"/>
                  </a:ext>
                </a:extLst>
              </p:cNvPr>
              <p:cNvCxnSpPr/>
              <p:nvPr/>
            </p:nvCxnSpPr>
            <p:spPr bwMode="auto">
              <a:xfrm>
                <a:off x="6660232" y="5877272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6" name="文字方塊 20">
                <a:extLst>
                  <a:ext uri="{FF2B5EF4-FFF2-40B4-BE49-F238E27FC236}">
                    <a16:creationId xmlns:a16="http://schemas.microsoft.com/office/drawing/2014/main" id="{7C56865A-9918-4140-9D34-34105603C2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5976" y="6237313"/>
                <a:ext cx="1944215" cy="44896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1400" dirty="0">
                    <a:solidFill>
                      <a:srgbClr val="00B050"/>
                    </a:solidFill>
                  </a:rPr>
                  <a:t>Detect time</a:t>
                </a:r>
                <a:endParaRPr lang="zh-TW" altLang="en-US" sz="1400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37" name="直線接點 36">
                <a:extLst>
                  <a:ext uri="{FF2B5EF4-FFF2-40B4-BE49-F238E27FC236}">
                    <a16:creationId xmlns:a16="http://schemas.microsoft.com/office/drawing/2014/main" id="{EF731507-D06C-47B6-992C-98F50D54DABC}"/>
                  </a:ext>
                </a:extLst>
              </p:cNvPr>
              <p:cNvCxnSpPr/>
              <p:nvPr/>
            </p:nvCxnSpPr>
            <p:spPr bwMode="auto">
              <a:xfrm>
                <a:off x="2131704" y="5877272"/>
                <a:ext cx="0" cy="432048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8" name="直線單箭頭接點 37">
                <a:extLst>
                  <a:ext uri="{FF2B5EF4-FFF2-40B4-BE49-F238E27FC236}">
                    <a16:creationId xmlns:a16="http://schemas.microsoft.com/office/drawing/2014/main" id="{0503774A-DD79-4EA8-8652-59CB83B1A934}"/>
                  </a:ext>
                </a:extLst>
              </p:cNvPr>
              <p:cNvCxnSpPr/>
              <p:nvPr/>
            </p:nvCxnSpPr>
            <p:spPr bwMode="auto">
              <a:xfrm>
                <a:off x="2123728" y="6165304"/>
                <a:ext cx="1800200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6600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" name="直線單箭頭接點 38">
                <a:extLst>
                  <a:ext uri="{FF2B5EF4-FFF2-40B4-BE49-F238E27FC236}">
                    <a16:creationId xmlns:a16="http://schemas.microsoft.com/office/drawing/2014/main" id="{4C9DFDCC-0C7D-4F81-9A4D-FC2F3A8C2820}"/>
                  </a:ext>
                </a:extLst>
              </p:cNvPr>
              <p:cNvCxnSpPr/>
              <p:nvPr/>
            </p:nvCxnSpPr>
            <p:spPr bwMode="auto">
              <a:xfrm>
                <a:off x="3059832" y="3284984"/>
                <a:ext cx="3600400" cy="0"/>
              </a:xfrm>
              <a:prstGeom prst="straightConnector1">
                <a:avLst/>
              </a:prstGeom>
              <a:noFill/>
              <a:ln w="38100" algn="ctr">
                <a:solidFill>
                  <a:srgbClr val="00B0F0"/>
                </a:solidFill>
                <a:round/>
                <a:headEnd/>
                <a:tailEnd/>
              </a:ln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" name="直線單箭頭接點 39">
                <a:extLst>
                  <a:ext uri="{FF2B5EF4-FFF2-40B4-BE49-F238E27FC236}">
                    <a16:creationId xmlns:a16="http://schemas.microsoft.com/office/drawing/2014/main" id="{208D9DC1-D431-432E-BFA2-E5C4DAE53F8A}"/>
                  </a:ext>
                </a:extLst>
              </p:cNvPr>
              <p:cNvCxnSpPr/>
              <p:nvPr/>
            </p:nvCxnSpPr>
            <p:spPr bwMode="auto">
              <a:xfrm>
                <a:off x="3563888" y="3322686"/>
                <a:ext cx="576064" cy="220609"/>
              </a:xfrm>
              <a:prstGeom prst="straightConnector1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" name="直線單箭頭接點 40">
                <a:extLst>
                  <a:ext uri="{FF2B5EF4-FFF2-40B4-BE49-F238E27FC236}">
                    <a16:creationId xmlns:a16="http://schemas.microsoft.com/office/drawing/2014/main" id="{5141FD14-3B14-4EEC-B784-6CBD8AB257AC}"/>
                  </a:ext>
                </a:extLst>
              </p:cNvPr>
              <p:cNvCxnSpPr/>
              <p:nvPr/>
            </p:nvCxnSpPr>
            <p:spPr bwMode="auto">
              <a:xfrm flipH="1">
                <a:off x="4139952" y="3123136"/>
                <a:ext cx="72008" cy="420160"/>
              </a:xfrm>
              <a:prstGeom prst="straightConnector1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2" name="直線單箭頭接點 41">
                <a:extLst>
                  <a:ext uri="{FF2B5EF4-FFF2-40B4-BE49-F238E27FC236}">
                    <a16:creationId xmlns:a16="http://schemas.microsoft.com/office/drawing/2014/main" id="{AD8F1B66-B111-4207-8533-662194235123}"/>
                  </a:ext>
                </a:extLst>
              </p:cNvPr>
              <p:cNvCxnSpPr/>
              <p:nvPr/>
            </p:nvCxnSpPr>
            <p:spPr bwMode="auto">
              <a:xfrm flipH="1">
                <a:off x="5220072" y="3123136"/>
                <a:ext cx="72008" cy="420160"/>
              </a:xfrm>
              <a:prstGeom prst="straightConnector1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3" name="直線單箭頭接點 42">
                <a:extLst>
                  <a:ext uri="{FF2B5EF4-FFF2-40B4-BE49-F238E27FC236}">
                    <a16:creationId xmlns:a16="http://schemas.microsoft.com/office/drawing/2014/main" id="{1E8E6B2E-6516-40B9-9EAA-92AB8BEE6B8A}"/>
                  </a:ext>
                </a:extLst>
              </p:cNvPr>
              <p:cNvCxnSpPr/>
              <p:nvPr/>
            </p:nvCxnSpPr>
            <p:spPr bwMode="auto">
              <a:xfrm>
                <a:off x="4211960" y="3123136"/>
                <a:ext cx="1008112" cy="420160"/>
              </a:xfrm>
              <a:prstGeom prst="straightConnector1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4" name="直線單箭頭接點 43">
                <a:extLst>
                  <a:ext uri="{FF2B5EF4-FFF2-40B4-BE49-F238E27FC236}">
                    <a16:creationId xmlns:a16="http://schemas.microsoft.com/office/drawing/2014/main" id="{59780E2E-C44B-4E6E-8508-71A2D847002A}"/>
                  </a:ext>
                </a:extLst>
              </p:cNvPr>
              <p:cNvCxnSpPr/>
              <p:nvPr/>
            </p:nvCxnSpPr>
            <p:spPr bwMode="auto">
              <a:xfrm>
                <a:off x="5292080" y="3123136"/>
                <a:ext cx="1008112" cy="420160"/>
              </a:xfrm>
              <a:prstGeom prst="straightConnector1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" name="直線單箭頭接點 44">
                <a:extLst>
                  <a:ext uri="{FF2B5EF4-FFF2-40B4-BE49-F238E27FC236}">
                    <a16:creationId xmlns:a16="http://schemas.microsoft.com/office/drawing/2014/main" id="{3208B641-1CEC-4DBC-AF68-528794F144B2}"/>
                  </a:ext>
                </a:extLst>
              </p:cNvPr>
              <p:cNvCxnSpPr/>
              <p:nvPr/>
            </p:nvCxnSpPr>
            <p:spPr bwMode="auto">
              <a:xfrm flipH="1">
                <a:off x="6300192" y="3123136"/>
                <a:ext cx="72008" cy="420160"/>
              </a:xfrm>
              <a:prstGeom prst="straightConnector1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6" name="直線單箭頭接點 45">
                <a:extLst>
                  <a:ext uri="{FF2B5EF4-FFF2-40B4-BE49-F238E27FC236}">
                    <a16:creationId xmlns:a16="http://schemas.microsoft.com/office/drawing/2014/main" id="{5576D33E-CFA6-40B4-AE81-86AA9C6F4E92}"/>
                  </a:ext>
                </a:extLst>
              </p:cNvPr>
              <p:cNvCxnSpPr/>
              <p:nvPr/>
            </p:nvCxnSpPr>
            <p:spPr bwMode="auto">
              <a:xfrm>
                <a:off x="6372200" y="3123136"/>
                <a:ext cx="288032" cy="120046"/>
              </a:xfrm>
              <a:prstGeom prst="straightConnector1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06C91C99-10A0-4671-AF16-48EFF7E21A92}"/>
                </a:ext>
              </a:extLst>
            </p:cNvPr>
            <p:cNvGrpSpPr/>
            <p:nvPr/>
          </p:nvGrpSpPr>
          <p:grpSpPr>
            <a:xfrm>
              <a:off x="1691680" y="2276872"/>
              <a:ext cx="4980111" cy="1593468"/>
              <a:chOff x="1475656" y="2132856"/>
              <a:chExt cx="4980111" cy="1593468"/>
            </a:xfrm>
          </p:grpSpPr>
          <p:grpSp>
            <p:nvGrpSpPr>
              <p:cNvPr id="12" name="群組 11">
                <a:extLst>
                  <a:ext uri="{FF2B5EF4-FFF2-40B4-BE49-F238E27FC236}">
                    <a16:creationId xmlns:a16="http://schemas.microsoft.com/office/drawing/2014/main" id="{DC8136A4-B2EA-4616-8610-03EA9C82E435}"/>
                  </a:ext>
                </a:extLst>
              </p:cNvPr>
              <p:cNvGrpSpPr/>
              <p:nvPr/>
            </p:nvGrpSpPr>
            <p:grpSpPr>
              <a:xfrm>
                <a:off x="1691680" y="2204864"/>
                <a:ext cx="4764087" cy="1188889"/>
                <a:chOff x="1763688" y="2204864"/>
                <a:chExt cx="4764087" cy="1188889"/>
              </a:xfrm>
            </p:grpSpPr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38286586-25EE-4E54-A81E-EC4EFC5EF601}"/>
                    </a:ext>
                  </a:extLst>
                </p:cNvPr>
                <p:cNvGrpSpPr/>
                <p:nvPr/>
              </p:nvGrpSpPr>
              <p:grpSpPr>
                <a:xfrm>
                  <a:off x="3203848" y="2204864"/>
                  <a:ext cx="3323927" cy="1188889"/>
                  <a:chOff x="-1620688" y="1844824"/>
                  <a:chExt cx="3323927" cy="1188889"/>
                </a:xfrm>
              </p:grpSpPr>
              <p:sp>
                <p:nvSpPr>
                  <p:cNvPr id="18" name="平行四邊形 17">
                    <a:extLst>
                      <a:ext uri="{FF2B5EF4-FFF2-40B4-BE49-F238E27FC236}">
                        <a16:creationId xmlns:a16="http://schemas.microsoft.com/office/drawing/2014/main" id="{953D1A01-366A-434F-A5E7-9BE9F175A93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-1620688" y="1844824"/>
                    <a:ext cx="2016224" cy="720080"/>
                  </a:xfrm>
                  <a:prstGeom prst="parallelogram">
                    <a:avLst>
                      <a:gd name="adj" fmla="val 102315"/>
                    </a:avLst>
                  </a:prstGeom>
                  <a:gradFill>
                    <a:gsLst>
                      <a:gs pos="0">
                        <a:schemeClr val="accent1">
                          <a:tint val="66000"/>
                          <a:satMod val="160000"/>
                        </a:schemeClr>
                      </a:gs>
                      <a:gs pos="50000">
                        <a:schemeClr val="accent1">
                          <a:tint val="44500"/>
                          <a:satMod val="160000"/>
                        </a:schemeClr>
                      </a:gs>
                      <a:gs pos="100000">
                        <a:schemeClr val="accent1">
                          <a:tint val="23500"/>
                          <a:satMod val="160000"/>
                        </a:schemeClr>
                      </a:gs>
                    </a:gsLst>
                    <a:lin ang="5400000" scaled="0"/>
                  </a:gradFill>
                  <a:ln w="38100" cap="flat" cmpd="sng" algn="ctr">
                    <a:solidFill>
                      <a:srgbClr val="003366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>
                    <a:outerShdw blurRad="50800" dist="4699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TW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 Unicode MS" pitchFamily="34" charset="-120"/>
                        <a:cs typeface="Arial" charset="0"/>
                      </a:rPr>
                      <a:t>VR</a:t>
                    </a:r>
                    <a:endParaRPr kumimoji="0" lang="zh-TW" altLang="en-US" sz="18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Arial Unicode MS" pitchFamily="34" charset="-120"/>
                      <a:cs typeface="Arial" charset="0"/>
                    </a:endParaRPr>
                  </a:p>
                </p:txBody>
              </p:sp>
              <p:sp>
                <p:nvSpPr>
                  <p:cNvPr id="19" name="平行四邊形 18">
                    <a:extLst>
                      <a:ext uri="{FF2B5EF4-FFF2-40B4-BE49-F238E27FC236}">
                        <a16:creationId xmlns:a16="http://schemas.microsoft.com/office/drawing/2014/main" id="{6BF0441B-2930-4857-918D-A822C8F3549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-312985" y="2313633"/>
                    <a:ext cx="2016224" cy="720080"/>
                  </a:xfrm>
                  <a:prstGeom prst="parallelogram">
                    <a:avLst>
                      <a:gd name="adj" fmla="val 102315"/>
                    </a:avLst>
                  </a:prstGeom>
                  <a:solidFill>
                    <a:schemeClr val="bg1"/>
                  </a:solidFill>
                  <a:ln w="38100" cap="flat" cmpd="sng" algn="ctr">
                    <a:solidFill>
                      <a:srgbClr val="003366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TW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 Unicode MS" pitchFamily="34" charset="-120"/>
                        <a:cs typeface="Arial" charset="0"/>
                      </a:rPr>
                      <a:t>GND</a:t>
                    </a:r>
                    <a:endParaRPr kumimoji="0" lang="zh-TW" altLang="en-US" sz="18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Arial Unicode MS" pitchFamily="34" charset="-120"/>
                      <a:cs typeface="Arial" charset="0"/>
                    </a:endParaRPr>
                  </a:p>
                </p:txBody>
              </p:sp>
              <p:pic>
                <p:nvPicPr>
                  <p:cNvPr id="20" name="圖片 19" descr="rsa-iec-resistor-symbol-33806.png">
                    <a:extLst>
                      <a:ext uri="{FF2B5EF4-FFF2-40B4-BE49-F238E27FC236}">
                        <a16:creationId xmlns:a16="http://schemas.microsoft.com/office/drawing/2014/main" id="{1183AD35-E660-4131-B6A8-6B88787E8C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 rot="3782617">
                    <a:off x="-370486" y="2400795"/>
                    <a:ext cx="740972" cy="227899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16" name="直線單箭頭接點 15">
                  <a:extLst>
                    <a:ext uri="{FF2B5EF4-FFF2-40B4-BE49-F238E27FC236}">
                      <a16:creationId xmlns:a16="http://schemas.microsoft.com/office/drawing/2014/main" id="{60A5964A-8415-4C77-B5F9-5197719B52A9}"/>
                    </a:ext>
                  </a:extLst>
                </p:cNvPr>
                <p:cNvCxnSpPr/>
                <p:nvPr/>
              </p:nvCxnSpPr>
              <p:spPr bwMode="auto">
                <a:xfrm>
                  <a:off x="4499992" y="2636912"/>
                  <a:ext cx="360040" cy="720080"/>
                </a:xfrm>
                <a:prstGeom prst="straightConnector1">
                  <a:avLst/>
                </a:prstGeom>
                <a:solidFill>
                  <a:schemeClr val="accent1"/>
                </a:solidFill>
                <a:ln w="381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7" name="直線單箭頭接點 16">
                  <a:extLst>
                    <a:ext uri="{FF2B5EF4-FFF2-40B4-BE49-F238E27FC236}">
                      <a16:creationId xmlns:a16="http://schemas.microsoft.com/office/drawing/2014/main" id="{4C16AD33-FA00-4610-839F-AA3DC319D0D7}"/>
                    </a:ext>
                  </a:extLst>
                </p:cNvPr>
                <p:cNvCxnSpPr/>
                <p:nvPr/>
              </p:nvCxnSpPr>
              <p:spPr bwMode="auto">
                <a:xfrm>
                  <a:off x="1763688" y="2636912"/>
                  <a:ext cx="2160240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76200" cap="flat" cmpd="sng" algn="ctr">
                  <a:solidFill>
                    <a:srgbClr val="00B050"/>
                  </a:solidFill>
                  <a:prstDash val="solid"/>
                  <a:round/>
                  <a:headEnd type="none" w="med" len="med"/>
                  <a:tailEnd type="arrow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DE0F6BE2-75AB-4BD9-A360-3F9D799A50E0}"/>
                  </a:ext>
                </a:extLst>
              </p:cNvPr>
              <p:cNvSpPr txBox="1"/>
              <p:nvPr/>
            </p:nvSpPr>
            <p:spPr>
              <a:xfrm>
                <a:off x="3851920" y="3356992"/>
                <a:ext cx="1944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solidFill>
                      <a:srgbClr val="FF0000"/>
                    </a:solidFill>
                  </a:rPr>
                  <a:t>Leakage current</a:t>
                </a:r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1605F589-5AF6-4CFE-BF91-A924955D46BC}"/>
                  </a:ext>
                </a:extLst>
              </p:cNvPr>
              <p:cNvSpPr txBox="1"/>
              <p:nvPr/>
            </p:nvSpPr>
            <p:spPr>
              <a:xfrm>
                <a:off x="1475656" y="2132856"/>
                <a:ext cx="1656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solidFill>
                      <a:srgbClr val="00B050"/>
                    </a:solidFill>
                  </a:rPr>
                  <a:t>Input current</a:t>
                </a:r>
                <a:endParaRPr lang="zh-TW" altLang="en-US"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AAE10836-4101-436D-8DC0-8A3C9C99B968}"/>
                </a:ext>
              </a:extLst>
            </p:cNvPr>
            <p:cNvSpPr txBox="1"/>
            <p:nvPr/>
          </p:nvSpPr>
          <p:spPr>
            <a:xfrm>
              <a:off x="4067944" y="4581128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rgbClr val="8A40EC"/>
                  </a:solidFill>
                </a:rPr>
                <a:t>Extra charge</a:t>
              </a:r>
              <a:endParaRPr lang="zh-TW" altLang="en-US" dirty="0">
                <a:solidFill>
                  <a:srgbClr val="8A40E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0967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F4106A-95FE-4B49-B7BE-3CD411F85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Open D</a:t>
            </a:r>
            <a:r>
              <a:rPr lang="en-US" altLang="zh-TW" dirty="0"/>
              <a:t>iagram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5D40F1-CD6B-4006-A0A6-9E00F2AE83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  <p:sp>
        <p:nvSpPr>
          <p:cNvPr id="5" name="內容版面配置區 5">
            <a:extLst>
              <a:ext uri="{FF2B5EF4-FFF2-40B4-BE49-F238E27FC236}">
                <a16:creationId xmlns:a16="http://schemas.microsoft.com/office/drawing/2014/main" id="{6534061E-7409-4D52-A10C-61EE393E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8" y="1338263"/>
            <a:ext cx="5952066" cy="972386"/>
          </a:xfrm>
        </p:spPr>
        <p:txBody>
          <a:bodyPr/>
          <a:lstStyle/>
          <a:p>
            <a:r>
              <a:rPr lang="en-US" altLang="zh-TW" sz="1600" dirty="0"/>
              <a:t>The C of non-open condition is greater than opened since the opened pad only remain the line and there is no way to charge the pad.</a:t>
            </a:r>
          </a:p>
        </p:txBody>
      </p:sp>
      <p:pic>
        <p:nvPicPr>
          <p:cNvPr id="6" name="Picture 2" descr="Open_Detect_Diagram">
            <a:extLst>
              <a:ext uri="{FF2B5EF4-FFF2-40B4-BE49-F238E27FC236}">
                <a16:creationId xmlns:a16="http://schemas.microsoft.com/office/drawing/2014/main" id="{B05CBF9B-9629-4E83-9864-524CDEB03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1220400"/>
            <a:ext cx="3512418" cy="5608718"/>
          </a:xfrm>
          <a:prstGeom prst="rect">
            <a:avLst/>
          </a:prstGeom>
          <a:noFill/>
        </p:spPr>
      </p:pic>
      <p:grpSp>
        <p:nvGrpSpPr>
          <p:cNvPr id="26" name="群組 25">
            <a:extLst>
              <a:ext uri="{FF2B5EF4-FFF2-40B4-BE49-F238E27FC236}">
                <a16:creationId xmlns:a16="http://schemas.microsoft.com/office/drawing/2014/main" id="{03671BA9-C010-49AB-9C35-3B3621288BEF}"/>
              </a:ext>
            </a:extLst>
          </p:cNvPr>
          <p:cNvGrpSpPr/>
          <p:nvPr/>
        </p:nvGrpSpPr>
        <p:grpSpPr>
          <a:xfrm>
            <a:off x="696888" y="2506256"/>
            <a:ext cx="5141937" cy="4034375"/>
            <a:chOff x="696888" y="2506256"/>
            <a:chExt cx="5141937" cy="4034375"/>
          </a:xfrm>
        </p:grpSpPr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877F203A-788B-435A-A982-4451DC3E43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36950" y="5278469"/>
              <a:ext cx="972323" cy="382523"/>
            </a:xfrm>
            <a:prstGeom prst="line">
              <a:avLst/>
            </a:prstGeom>
            <a:noFill/>
            <a:ln w="38100" algn="ctr">
              <a:noFill/>
              <a:round/>
              <a:headEnd/>
              <a:tailEnd/>
            </a:ln>
          </p:spPr>
        </p:cxnSp>
        <p:sp>
          <p:nvSpPr>
            <p:cNvPr id="8" name="文字方塊 21">
              <a:extLst>
                <a:ext uri="{FF2B5EF4-FFF2-40B4-BE49-F238E27FC236}">
                  <a16:creationId xmlns:a16="http://schemas.microsoft.com/office/drawing/2014/main" id="{33320069-241C-4561-852F-D5E2F647B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8253" y="5053081"/>
              <a:ext cx="1052265" cy="412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TW" sz="1400" dirty="0">
                  <a:solidFill>
                    <a:srgbClr val="00B0F0"/>
                  </a:solidFill>
                </a:rPr>
                <a:t>Non-open</a:t>
              </a:r>
            </a:p>
            <a:p>
              <a:r>
                <a:rPr lang="en-US" altLang="zh-TW" sz="1400" dirty="0">
                  <a:solidFill>
                    <a:srgbClr val="00B0F0"/>
                  </a:solidFill>
                </a:rPr>
                <a:t>(Normal)</a:t>
              </a:r>
              <a:endParaRPr lang="zh-TW" altLang="en-US" sz="1400" dirty="0">
                <a:solidFill>
                  <a:srgbClr val="00B0F0"/>
                </a:solidFill>
              </a:endParaRPr>
            </a:p>
          </p:txBody>
        </p:sp>
        <p:sp>
          <p:nvSpPr>
            <p:cNvPr id="9" name="文字方塊 22">
              <a:extLst>
                <a:ext uri="{FF2B5EF4-FFF2-40B4-BE49-F238E27FC236}">
                  <a16:creationId xmlns:a16="http://schemas.microsoft.com/office/drawing/2014/main" id="{53AF11FC-C1D1-4CA4-A7E0-7D287BCB4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0525" y="4542390"/>
              <a:ext cx="1286592" cy="2425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TW" sz="1400" dirty="0">
                  <a:solidFill>
                    <a:srgbClr val="FF0000"/>
                  </a:solidFill>
                </a:rPr>
                <a:t>Totally Open</a:t>
              </a:r>
              <a:endParaRPr lang="zh-TW" altLang="en-US" sz="1400" dirty="0">
                <a:solidFill>
                  <a:srgbClr val="FF0000"/>
                </a:solidFill>
              </a:endParaRPr>
            </a:p>
          </p:txBody>
        </p: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F18132A4-D67F-4CA7-9117-D5E45A80FFC5}"/>
                </a:ext>
              </a:extLst>
            </p:cNvPr>
            <p:cNvCxnSpPr/>
            <p:nvPr/>
          </p:nvCxnSpPr>
          <p:spPr bwMode="auto">
            <a:xfrm flipV="1">
              <a:off x="1554616" y="4428903"/>
              <a:ext cx="0" cy="162232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3366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9F275253-8B00-4C4E-8F19-95B569682EC1}"/>
                </a:ext>
              </a:extLst>
            </p:cNvPr>
            <p:cNvCxnSpPr/>
            <p:nvPr/>
          </p:nvCxnSpPr>
          <p:spPr bwMode="auto">
            <a:xfrm flipH="1">
              <a:off x="1401345" y="4816849"/>
              <a:ext cx="3837668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3366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" name="文字方塊 20">
              <a:extLst>
                <a:ext uri="{FF2B5EF4-FFF2-40B4-BE49-F238E27FC236}">
                  <a16:creationId xmlns:a16="http://schemas.microsoft.com/office/drawing/2014/main" id="{2FC2E70F-3C07-44CB-BAAF-1CC23DB54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888" y="4712620"/>
              <a:ext cx="857728" cy="2425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TW" sz="1400" dirty="0"/>
                <a:t>Voltage</a:t>
              </a:r>
              <a:endParaRPr lang="zh-TW" altLang="en-US" sz="1400" dirty="0"/>
            </a:p>
          </p:txBody>
        </p: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16D7F783-DFD3-4644-A56E-885C11DD843C}"/>
                </a:ext>
              </a:extLst>
            </p:cNvPr>
            <p:cNvCxnSpPr/>
            <p:nvPr/>
          </p:nvCxnSpPr>
          <p:spPr bwMode="auto">
            <a:xfrm>
              <a:off x="1554616" y="4542390"/>
              <a:ext cx="0" cy="158705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3366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ADA1F1A3-7FD9-4A22-AB32-F2683418CA25}"/>
                </a:ext>
              </a:extLst>
            </p:cNvPr>
            <p:cNvCxnSpPr/>
            <p:nvPr/>
          </p:nvCxnSpPr>
          <p:spPr bwMode="auto">
            <a:xfrm>
              <a:off x="1554616" y="6227563"/>
              <a:ext cx="3746295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00B050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65620B2E-3B6C-4113-ABF1-B0CB99365329}"/>
                </a:ext>
              </a:extLst>
            </p:cNvPr>
            <p:cNvCxnSpPr/>
            <p:nvPr/>
          </p:nvCxnSpPr>
          <p:spPr bwMode="auto">
            <a:xfrm>
              <a:off x="5300911" y="4499439"/>
              <a:ext cx="0" cy="158705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3366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FA2B9432-7E5D-4986-9B18-6A5151A36CFB}"/>
                </a:ext>
              </a:extLst>
            </p:cNvPr>
            <p:cNvCxnSpPr/>
            <p:nvPr/>
          </p:nvCxnSpPr>
          <p:spPr bwMode="auto">
            <a:xfrm>
              <a:off x="5300911" y="6086491"/>
              <a:ext cx="0" cy="21160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文字方塊 20">
              <a:extLst>
                <a:ext uri="{FF2B5EF4-FFF2-40B4-BE49-F238E27FC236}">
                  <a16:creationId xmlns:a16="http://schemas.microsoft.com/office/drawing/2014/main" id="{2E18F41B-4BAD-43E7-9068-59E36C3CDC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6776" y="6298098"/>
              <a:ext cx="1671242" cy="24253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B050"/>
                  </a:solidFill>
                </a:rPr>
                <a:t>Detect time</a:t>
              </a:r>
              <a:endParaRPr lang="zh-TW" altLang="en-US" sz="1400" dirty="0">
                <a:solidFill>
                  <a:srgbClr val="00B050"/>
                </a:solidFill>
              </a:endParaRPr>
            </a:p>
          </p:txBody>
        </p: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DF11706B-6D14-450E-9DC9-08256929BD62}"/>
                </a:ext>
              </a:extLst>
            </p:cNvPr>
            <p:cNvCxnSpPr/>
            <p:nvPr/>
          </p:nvCxnSpPr>
          <p:spPr bwMode="auto">
            <a:xfrm>
              <a:off x="1554616" y="6074462"/>
              <a:ext cx="0" cy="21160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64C69561-1E9A-46F9-A291-3BEA951C8A2E}"/>
                </a:ext>
              </a:extLst>
            </p:cNvPr>
            <p:cNvCxnSpPr/>
            <p:nvPr/>
          </p:nvCxnSpPr>
          <p:spPr bwMode="auto">
            <a:xfrm flipV="1">
              <a:off x="1401345" y="6024814"/>
              <a:ext cx="4437480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3366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" name="文字方塊 20">
              <a:extLst>
                <a:ext uri="{FF2B5EF4-FFF2-40B4-BE49-F238E27FC236}">
                  <a16:creationId xmlns:a16="http://schemas.microsoft.com/office/drawing/2014/main" id="{29690760-BF92-4E40-86F3-8C4722B54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468" y="5945420"/>
              <a:ext cx="618978" cy="2425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/>
              <a:r>
                <a:rPr lang="en-US" altLang="zh-TW" sz="1400" dirty="0"/>
                <a:t>0</a:t>
              </a:r>
              <a:endParaRPr lang="zh-TW" altLang="en-US" sz="1400" dirty="0"/>
            </a:p>
          </p:txBody>
        </p: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D678D5B1-B690-4B70-95EE-EC28DEA35916}"/>
                </a:ext>
              </a:extLst>
            </p:cNvPr>
            <p:cNvCxnSpPr/>
            <p:nvPr/>
          </p:nvCxnSpPr>
          <p:spPr bwMode="auto">
            <a:xfrm>
              <a:off x="1769047" y="4811359"/>
              <a:ext cx="3522548" cy="0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EA53B76B-D996-427C-BB53-EDBD205952BF}"/>
                </a:ext>
              </a:extLst>
            </p:cNvPr>
            <p:cNvCxnSpPr/>
            <p:nvPr/>
          </p:nvCxnSpPr>
          <p:spPr bwMode="auto">
            <a:xfrm flipV="1">
              <a:off x="1554616" y="4819012"/>
              <a:ext cx="202810" cy="1198707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6CDAF459-4BC9-4809-814C-3AC7A823EFB0}"/>
                </a:ext>
              </a:extLst>
            </p:cNvPr>
            <p:cNvCxnSpPr/>
            <p:nvPr/>
          </p:nvCxnSpPr>
          <p:spPr bwMode="auto">
            <a:xfrm flipV="1">
              <a:off x="1554616" y="4826107"/>
              <a:ext cx="786250" cy="1198707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2128C06D-6520-44AF-84CA-44EB1AF2C105}"/>
                </a:ext>
              </a:extLst>
            </p:cNvPr>
            <p:cNvCxnSpPr/>
            <p:nvPr/>
          </p:nvCxnSpPr>
          <p:spPr bwMode="auto">
            <a:xfrm>
              <a:off x="2327718" y="4835050"/>
              <a:ext cx="2950852" cy="0"/>
            </a:xfrm>
            <a:prstGeom prst="straightConnector1">
              <a:avLst/>
            </a:prstGeom>
            <a:noFill/>
            <a:ln w="38100" algn="ctr">
              <a:solidFill>
                <a:srgbClr val="00B0F0"/>
              </a:solidFill>
              <a:round/>
              <a:headEnd/>
              <a:tailEnd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25" name="Picture 3">
              <a:extLst>
                <a:ext uri="{FF2B5EF4-FFF2-40B4-BE49-F238E27FC236}">
                  <a16:creationId xmlns:a16="http://schemas.microsoft.com/office/drawing/2014/main" id="{7DD35D65-9268-4498-85D5-8D9A497BAD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387111" y="2506256"/>
              <a:ext cx="2187706" cy="1685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658477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6D087C-42F2-4E1D-8EE8-C02F32C56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Detect Short and Open at The Same Time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BD9A60-D38A-4E74-BA53-8B8658E22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338263"/>
            <a:ext cx="11040533" cy="1426376"/>
          </a:xfrm>
        </p:spPr>
        <p:txBody>
          <a:bodyPr/>
          <a:lstStyle/>
          <a:p>
            <a:r>
              <a:rPr lang="en-US" altLang="zh-TW" sz="1600" dirty="0"/>
              <a:t>We use one setting to detect open &amp; short.</a:t>
            </a:r>
          </a:p>
          <a:p>
            <a:endParaRPr lang="en-US" altLang="zh-TW" sz="1600" dirty="0"/>
          </a:p>
          <a:p>
            <a:r>
              <a:rPr lang="en-US" altLang="zh-TW" sz="1600" dirty="0"/>
              <a:t>Expected result</a:t>
            </a:r>
          </a:p>
          <a:p>
            <a:pPr lvl="1"/>
            <a:r>
              <a:rPr lang="en-US" altLang="zh-TW" sz="1400" dirty="0"/>
              <a:t>Normal: Median value</a:t>
            </a:r>
          </a:p>
          <a:p>
            <a:pPr lvl="1"/>
            <a:r>
              <a:rPr lang="en-US" altLang="zh-TW" sz="1400" dirty="0"/>
              <a:t>Open: Smaller value</a:t>
            </a:r>
          </a:p>
          <a:p>
            <a:pPr lvl="1"/>
            <a:r>
              <a:rPr lang="en-US" altLang="zh-TW" sz="1400" dirty="0"/>
              <a:t>Short: Larger value</a:t>
            </a:r>
            <a:endParaRPr lang="zh-TW" altLang="en-US" sz="1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F1ACCD-7888-4915-B884-69B410E12B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8</a:t>
            </a:fld>
            <a:endParaRPr lang="en-US" altLang="zh-TW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D08FFBFD-A716-448A-9E0F-568C13D24FA9}"/>
              </a:ext>
            </a:extLst>
          </p:cNvPr>
          <p:cNvGrpSpPr/>
          <p:nvPr/>
        </p:nvGrpSpPr>
        <p:grpSpPr>
          <a:xfrm>
            <a:off x="2906634" y="2756949"/>
            <a:ext cx="6249341" cy="3780376"/>
            <a:chOff x="311479" y="1556792"/>
            <a:chExt cx="7572889" cy="4644472"/>
          </a:xfrm>
        </p:grpSpPr>
        <p:cxnSp>
          <p:nvCxnSpPr>
            <p:cNvPr id="6" name="直線接點 6">
              <a:extLst>
                <a:ext uri="{FF2B5EF4-FFF2-40B4-BE49-F238E27FC236}">
                  <a16:creationId xmlns:a16="http://schemas.microsoft.com/office/drawing/2014/main" id="{2FA0EC83-48BE-49CD-93F1-BBDAF95D038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87148" y="3561921"/>
              <a:ext cx="1522527" cy="902823"/>
            </a:xfrm>
            <a:prstGeom prst="line">
              <a:avLst/>
            </a:prstGeom>
            <a:noFill/>
            <a:ln w="38100" algn="ctr">
              <a:noFill/>
              <a:round/>
              <a:headEnd/>
              <a:tailEnd/>
            </a:ln>
          </p:spPr>
        </p:cxnSp>
        <p:sp>
          <p:nvSpPr>
            <p:cNvPr id="7" name="文字方塊 21">
              <a:extLst>
                <a:ext uri="{FF2B5EF4-FFF2-40B4-BE49-F238E27FC236}">
                  <a16:creationId xmlns:a16="http://schemas.microsoft.com/office/drawing/2014/main" id="{659568F0-BD65-4057-A71D-D98C9DA6B5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5463" y="2077105"/>
              <a:ext cx="1489346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TW" sz="1400" dirty="0">
                  <a:solidFill>
                    <a:srgbClr val="00B0F0"/>
                  </a:solidFill>
                </a:rPr>
                <a:t>Normal</a:t>
              </a:r>
              <a:endParaRPr lang="zh-TW" altLang="en-US" sz="1400" dirty="0">
                <a:solidFill>
                  <a:srgbClr val="00B0F0"/>
                </a:solidFill>
              </a:endParaRPr>
            </a:p>
          </p:txBody>
        </p:sp>
        <p:sp>
          <p:nvSpPr>
            <p:cNvPr id="8" name="文字方塊 22">
              <a:extLst>
                <a:ext uri="{FF2B5EF4-FFF2-40B4-BE49-F238E27FC236}">
                  <a16:creationId xmlns:a16="http://schemas.microsoft.com/office/drawing/2014/main" id="{7284E9D4-50F0-4E81-BAE0-5A12DBD33A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8369" y="2054370"/>
              <a:ext cx="127347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TW" sz="1400" dirty="0">
                  <a:solidFill>
                    <a:srgbClr val="FF0000"/>
                  </a:solidFill>
                </a:rPr>
                <a:t>Open</a:t>
              </a:r>
              <a:endParaRPr lang="zh-TW" altLang="en-US" sz="1400" dirty="0">
                <a:solidFill>
                  <a:srgbClr val="FF0000"/>
                </a:solidFill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5EC2B21F-7D08-49A6-ABDF-9CA8B7B9E017}"/>
                </a:ext>
              </a:extLst>
            </p:cNvPr>
            <p:cNvCxnSpPr/>
            <p:nvPr/>
          </p:nvCxnSpPr>
          <p:spPr bwMode="auto">
            <a:xfrm flipV="1">
              <a:off x="1522598" y="1556792"/>
              <a:ext cx="0" cy="382897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3366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20D72BD6-A962-45DC-966D-FDCD876CAFBA}"/>
                </a:ext>
              </a:extLst>
            </p:cNvPr>
            <p:cNvCxnSpPr/>
            <p:nvPr/>
          </p:nvCxnSpPr>
          <p:spPr bwMode="auto">
            <a:xfrm flipH="1">
              <a:off x="1282597" y="2472415"/>
              <a:ext cx="6009272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3366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" name="文字方塊 20">
              <a:extLst>
                <a:ext uri="{FF2B5EF4-FFF2-40B4-BE49-F238E27FC236}">
                  <a16:creationId xmlns:a16="http://schemas.microsoft.com/office/drawing/2014/main" id="{73E4AA9A-886A-404A-BA6B-8B937C74DC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479" y="2318526"/>
              <a:ext cx="1024700" cy="3781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TW" sz="1400" dirty="0"/>
                <a:t>Voltage</a:t>
              </a:r>
              <a:endParaRPr lang="zh-TW" altLang="en-US" sz="1400" dirty="0"/>
            </a:p>
          </p:txBody>
        </p:sp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46C2DB99-EE17-43D8-955A-A5B9375DCB2C}"/>
                </a:ext>
              </a:extLst>
            </p:cNvPr>
            <p:cNvCxnSpPr/>
            <p:nvPr/>
          </p:nvCxnSpPr>
          <p:spPr bwMode="auto">
            <a:xfrm>
              <a:off x="1522599" y="1824641"/>
              <a:ext cx="0" cy="374573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3366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51584664-70E2-4EDE-B940-F14CAB93F39E}"/>
                </a:ext>
              </a:extLst>
            </p:cNvPr>
            <p:cNvCxnSpPr/>
            <p:nvPr/>
          </p:nvCxnSpPr>
          <p:spPr bwMode="auto">
            <a:xfrm>
              <a:off x="1522598" y="5801955"/>
              <a:ext cx="586619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00B050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54A38D94-C2BB-4CEE-B39D-8957BB69C01D}"/>
                </a:ext>
              </a:extLst>
            </p:cNvPr>
            <p:cNvCxnSpPr/>
            <p:nvPr/>
          </p:nvCxnSpPr>
          <p:spPr bwMode="auto">
            <a:xfrm>
              <a:off x="7388792" y="1723269"/>
              <a:ext cx="0" cy="37457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3366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ED62594A-2B64-42B9-99FD-851B2BB0C84F}"/>
                </a:ext>
              </a:extLst>
            </p:cNvPr>
            <p:cNvCxnSpPr/>
            <p:nvPr/>
          </p:nvCxnSpPr>
          <p:spPr bwMode="auto">
            <a:xfrm>
              <a:off x="7388792" y="5469001"/>
              <a:ext cx="0" cy="49943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文字方塊 20">
              <a:extLst>
                <a:ext uri="{FF2B5EF4-FFF2-40B4-BE49-F238E27FC236}">
                  <a16:creationId xmlns:a16="http://schemas.microsoft.com/office/drawing/2014/main" id="{C69DC84B-65DF-41FD-9E2B-AA2CD413F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6420" y="5893487"/>
              <a:ext cx="1442552" cy="30777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rgbClr val="00B050"/>
                  </a:solidFill>
                </a:rPr>
                <a:t>Detect time</a:t>
              </a:r>
              <a:endParaRPr lang="zh-TW" altLang="en-US" sz="1400" dirty="0">
                <a:solidFill>
                  <a:srgbClr val="00B050"/>
                </a:solidFill>
              </a:endParaRPr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D091E67E-0F9D-4000-BB0F-E9EBA0811352}"/>
                </a:ext>
              </a:extLst>
            </p:cNvPr>
            <p:cNvCxnSpPr/>
            <p:nvPr/>
          </p:nvCxnSpPr>
          <p:spPr bwMode="auto">
            <a:xfrm>
              <a:off x="1522598" y="5440610"/>
              <a:ext cx="0" cy="4994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4642990E-6D2C-45DE-8482-6F65DCC985E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82597" y="5385763"/>
              <a:ext cx="6601771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3366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" name="文字方塊 20">
              <a:extLst>
                <a:ext uri="{FF2B5EF4-FFF2-40B4-BE49-F238E27FC236}">
                  <a16:creationId xmlns:a16="http://schemas.microsoft.com/office/drawing/2014/main" id="{C3BA245C-CBF6-4623-88FE-3CD4AE0BF4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7329" y="5231874"/>
              <a:ext cx="39865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TW" sz="1400" dirty="0"/>
                <a:t>0</a:t>
              </a:r>
              <a:endParaRPr lang="zh-TW" altLang="en-US" sz="1400" dirty="0"/>
            </a:p>
          </p:txBody>
        </p: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97A8DE30-AF3E-48F5-95C3-0619C9C0B34A}"/>
                </a:ext>
              </a:extLst>
            </p:cNvPr>
            <p:cNvCxnSpPr/>
            <p:nvPr/>
          </p:nvCxnSpPr>
          <p:spPr bwMode="auto">
            <a:xfrm>
              <a:off x="1858369" y="2459458"/>
              <a:ext cx="5515835" cy="0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4CEE6227-A5F9-4412-84FE-10DE47385F71}"/>
                </a:ext>
              </a:extLst>
            </p:cNvPr>
            <p:cNvCxnSpPr/>
            <p:nvPr/>
          </p:nvCxnSpPr>
          <p:spPr bwMode="auto">
            <a:xfrm flipV="1">
              <a:off x="1522598" y="2477519"/>
              <a:ext cx="317573" cy="2829166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E2BD5740-5A52-4E8A-BE6F-1AEE1AAE5047}"/>
                </a:ext>
              </a:extLst>
            </p:cNvPr>
            <p:cNvCxnSpPr/>
            <p:nvPr/>
          </p:nvCxnSpPr>
          <p:spPr bwMode="auto">
            <a:xfrm flipV="1">
              <a:off x="1522598" y="2494265"/>
              <a:ext cx="1231162" cy="2829166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線單箭頭接點 22">
              <a:extLst>
                <a:ext uri="{FF2B5EF4-FFF2-40B4-BE49-F238E27FC236}">
                  <a16:creationId xmlns:a16="http://schemas.microsoft.com/office/drawing/2014/main" id="{8A598B80-5226-4F16-AA93-B822ABB4E22B}"/>
                </a:ext>
              </a:extLst>
            </p:cNvPr>
            <p:cNvCxnSpPr/>
            <p:nvPr/>
          </p:nvCxnSpPr>
          <p:spPr bwMode="auto">
            <a:xfrm>
              <a:off x="2733172" y="2515373"/>
              <a:ext cx="4620637" cy="0"/>
            </a:xfrm>
            <a:prstGeom prst="straightConnector1">
              <a:avLst/>
            </a:prstGeom>
            <a:noFill/>
            <a:ln w="38100" algn="ctr">
              <a:solidFill>
                <a:srgbClr val="00B0F0"/>
              </a:solidFill>
              <a:round/>
              <a:headEnd/>
              <a:tailEnd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2556E945-A607-4F45-848D-100DB6681FC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508031" y="2515373"/>
              <a:ext cx="1693425" cy="287039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8A40E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直線接點 24">
              <a:extLst>
                <a:ext uri="{FF2B5EF4-FFF2-40B4-BE49-F238E27FC236}">
                  <a16:creationId xmlns:a16="http://schemas.microsoft.com/office/drawing/2014/main" id="{CE993807-0786-4C21-980A-32C0F4D34AD8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3186386" y="2534748"/>
              <a:ext cx="585514" cy="230488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8A40E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9A9466A4-FFE5-44E7-A478-A90F5499C6DD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771900" y="2411617"/>
              <a:ext cx="309732" cy="35361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8A40E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D5CE3A8F-F8B2-4C46-B570-A7069AA5CD54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094457" y="2420315"/>
              <a:ext cx="845636" cy="344921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8A40E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1A30A2B7-49EB-4358-8454-9E58589358C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940093" y="2411617"/>
              <a:ext cx="309732" cy="35361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8A40E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9ADA296D-89EA-4B72-B989-699EB5F6728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242658" y="2428854"/>
              <a:ext cx="845636" cy="344921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8A40E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F4476B1E-14DB-4BA6-9CFC-C0D23D50A83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088294" y="2420156"/>
              <a:ext cx="309732" cy="35361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8A40E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29587AB1-6A48-493C-947F-C89EE86A0E2A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6361935" y="2438177"/>
              <a:ext cx="845636" cy="34492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8A40E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5612E096-079D-499E-B349-D25D1A48C073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7207571" y="2534748"/>
              <a:ext cx="146238" cy="24834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8A40E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" name="文字方塊 21">
              <a:extLst>
                <a:ext uri="{FF2B5EF4-FFF2-40B4-BE49-F238E27FC236}">
                  <a16:creationId xmlns:a16="http://schemas.microsoft.com/office/drawing/2014/main" id="{956872C0-2427-48A5-B9D0-0A8EDA0F78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9888" y="2782473"/>
              <a:ext cx="96966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TW" sz="1400" dirty="0">
                  <a:solidFill>
                    <a:srgbClr val="8A40EC"/>
                  </a:solidFill>
                </a:rPr>
                <a:t>Short</a:t>
              </a:r>
              <a:endParaRPr lang="zh-TW" altLang="en-US" sz="1400" dirty="0">
                <a:solidFill>
                  <a:srgbClr val="8A40E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3957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D65938-C036-4A54-B02E-6A79110FC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Self Test Sensing Timing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2205CF-7793-4F0D-934F-FD3B5D9C9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338263"/>
            <a:ext cx="11040533" cy="2027729"/>
          </a:xfrm>
        </p:spPr>
        <p:txBody>
          <a:bodyPr/>
          <a:lstStyle/>
          <a:p>
            <a:r>
              <a:rPr lang="en-US" altLang="zh-TW" sz="1600" dirty="0"/>
              <a:t>We use the last TPEN to detect open/short. </a:t>
            </a:r>
          </a:p>
          <a:p>
            <a:endParaRPr lang="en-US" altLang="zh-TW" sz="1600" dirty="0"/>
          </a:p>
          <a:p>
            <a:r>
              <a:rPr lang="en-US" altLang="zh-TW" sz="1600" dirty="0"/>
              <a:t>This way doesn’t affect the reporting point function.</a:t>
            </a:r>
            <a:endParaRPr lang="zh-TW" altLang="en-US" sz="1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4F2F83-97DB-4C12-869E-F2F7C96780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A6E0D16B-045C-451C-8841-AC194FE6BC3F}"/>
              </a:ext>
            </a:extLst>
          </p:cNvPr>
          <p:cNvGrpSpPr/>
          <p:nvPr/>
        </p:nvGrpSpPr>
        <p:grpSpPr>
          <a:xfrm>
            <a:off x="140367" y="3192664"/>
            <a:ext cx="11753497" cy="2233165"/>
            <a:chOff x="140367" y="3730071"/>
            <a:chExt cx="11753497" cy="2233165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2BC30A50-2E5F-4331-AB2E-CACD518D91AE}"/>
                </a:ext>
              </a:extLst>
            </p:cNvPr>
            <p:cNvGrpSpPr/>
            <p:nvPr/>
          </p:nvGrpSpPr>
          <p:grpSpPr>
            <a:xfrm>
              <a:off x="1575934" y="4536489"/>
              <a:ext cx="763477" cy="559651"/>
              <a:chOff x="1748901" y="2831223"/>
              <a:chExt cx="5760000" cy="1440754"/>
            </a:xfrm>
          </p:grpSpPr>
          <p:sp>
            <p:nvSpPr>
              <p:cNvPr id="155" name="弧形 154">
                <a:extLst>
                  <a:ext uri="{FF2B5EF4-FFF2-40B4-BE49-F238E27FC236}">
                    <a16:creationId xmlns:a16="http://schemas.microsoft.com/office/drawing/2014/main" id="{73B520D5-63EB-4570-A953-7D3D6DBC7286}"/>
                  </a:ext>
                </a:extLst>
              </p:cNvPr>
              <p:cNvSpPr/>
              <p:nvPr/>
            </p:nvSpPr>
            <p:spPr bwMode="auto">
              <a:xfrm>
                <a:off x="174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6" name="弧形 155">
                <a:extLst>
                  <a:ext uri="{FF2B5EF4-FFF2-40B4-BE49-F238E27FC236}">
                    <a16:creationId xmlns:a16="http://schemas.microsoft.com/office/drawing/2014/main" id="{69C3B5F1-8AEB-4D81-91B0-0E96936E2277}"/>
                  </a:ext>
                </a:extLst>
              </p:cNvPr>
              <p:cNvSpPr/>
              <p:nvPr/>
            </p:nvSpPr>
            <p:spPr bwMode="auto">
              <a:xfrm flipH="1">
                <a:off x="174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7" name="弧形 156">
                <a:extLst>
                  <a:ext uri="{FF2B5EF4-FFF2-40B4-BE49-F238E27FC236}">
                    <a16:creationId xmlns:a16="http://schemas.microsoft.com/office/drawing/2014/main" id="{509F2A78-317E-48FF-B083-25BBF42D2884}"/>
                  </a:ext>
                </a:extLst>
              </p:cNvPr>
              <p:cNvSpPr/>
              <p:nvPr/>
            </p:nvSpPr>
            <p:spPr bwMode="auto">
              <a:xfrm flipV="1">
                <a:off x="246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8" name="弧形 157">
                <a:extLst>
                  <a:ext uri="{FF2B5EF4-FFF2-40B4-BE49-F238E27FC236}">
                    <a16:creationId xmlns:a16="http://schemas.microsoft.com/office/drawing/2014/main" id="{2F5041E6-B32C-420C-8D9D-3B8A5FB5CE5E}"/>
                  </a:ext>
                </a:extLst>
              </p:cNvPr>
              <p:cNvSpPr/>
              <p:nvPr/>
            </p:nvSpPr>
            <p:spPr bwMode="auto">
              <a:xfrm flipH="1" flipV="1">
                <a:off x="246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9" name="弧形 158">
                <a:extLst>
                  <a:ext uri="{FF2B5EF4-FFF2-40B4-BE49-F238E27FC236}">
                    <a16:creationId xmlns:a16="http://schemas.microsoft.com/office/drawing/2014/main" id="{988AD374-7A48-4F08-A10D-B148F7D1AD51}"/>
                  </a:ext>
                </a:extLst>
              </p:cNvPr>
              <p:cNvSpPr/>
              <p:nvPr/>
            </p:nvSpPr>
            <p:spPr bwMode="auto">
              <a:xfrm>
                <a:off x="318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0" name="弧形 159">
                <a:extLst>
                  <a:ext uri="{FF2B5EF4-FFF2-40B4-BE49-F238E27FC236}">
                    <a16:creationId xmlns:a16="http://schemas.microsoft.com/office/drawing/2014/main" id="{9A555FD8-5618-4C11-A84F-4809D009E8DE}"/>
                  </a:ext>
                </a:extLst>
              </p:cNvPr>
              <p:cNvSpPr/>
              <p:nvPr/>
            </p:nvSpPr>
            <p:spPr bwMode="auto">
              <a:xfrm flipH="1">
                <a:off x="318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1" name="弧形 160">
                <a:extLst>
                  <a:ext uri="{FF2B5EF4-FFF2-40B4-BE49-F238E27FC236}">
                    <a16:creationId xmlns:a16="http://schemas.microsoft.com/office/drawing/2014/main" id="{068C298C-A5E8-47BD-9F22-DD229FF37FE3}"/>
                  </a:ext>
                </a:extLst>
              </p:cNvPr>
              <p:cNvSpPr/>
              <p:nvPr/>
            </p:nvSpPr>
            <p:spPr bwMode="auto">
              <a:xfrm flipV="1">
                <a:off x="390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2" name="弧形 161">
                <a:extLst>
                  <a:ext uri="{FF2B5EF4-FFF2-40B4-BE49-F238E27FC236}">
                    <a16:creationId xmlns:a16="http://schemas.microsoft.com/office/drawing/2014/main" id="{03369A20-B170-40E2-8B1A-3C5FCB70EFC4}"/>
                  </a:ext>
                </a:extLst>
              </p:cNvPr>
              <p:cNvSpPr/>
              <p:nvPr/>
            </p:nvSpPr>
            <p:spPr bwMode="auto">
              <a:xfrm flipH="1" flipV="1">
                <a:off x="390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3" name="弧形 162">
                <a:extLst>
                  <a:ext uri="{FF2B5EF4-FFF2-40B4-BE49-F238E27FC236}">
                    <a16:creationId xmlns:a16="http://schemas.microsoft.com/office/drawing/2014/main" id="{C5858D06-EA01-4D02-B776-4C6517A1D3FE}"/>
                  </a:ext>
                </a:extLst>
              </p:cNvPr>
              <p:cNvSpPr/>
              <p:nvPr/>
            </p:nvSpPr>
            <p:spPr bwMode="auto">
              <a:xfrm>
                <a:off x="462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4" name="弧形 163">
                <a:extLst>
                  <a:ext uri="{FF2B5EF4-FFF2-40B4-BE49-F238E27FC236}">
                    <a16:creationId xmlns:a16="http://schemas.microsoft.com/office/drawing/2014/main" id="{6F0B6448-657B-4F03-98FB-701E9EE3773F}"/>
                  </a:ext>
                </a:extLst>
              </p:cNvPr>
              <p:cNvSpPr/>
              <p:nvPr/>
            </p:nvSpPr>
            <p:spPr bwMode="auto">
              <a:xfrm flipH="1">
                <a:off x="462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5" name="弧形 164">
                <a:extLst>
                  <a:ext uri="{FF2B5EF4-FFF2-40B4-BE49-F238E27FC236}">
                    <a16:creationId xmlns:a16="http://schemas.microsoft.com/office/drawing/2014/main" id="{ACC67AD5-4313-478E-A84B-072FC5B87C7F}"/>
                  </a:ext>
                </a:extLst>
              </p:cNvPr>
              <p:cNvSpPr/>
              <p:nvPr/>
            </p:nvSpPr>
            <p:spPr bwMode="auto">
              <a:xfrm flipV="1">
                <a:off x="534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6" name="弧形 165">
                <a:extLst>
                  <a:ext uri="{FF2B5EF4-FFF2-40B4-BE49-F238E27FC236}">
                    <a16:creationId xmlns:a16="http://schemas.microsoft.com/office/drawing/2014/main" id="{EC30F726-7860-4125-8EEB-57CD6D973244}"/>
                  </a:ext>
                </a:extLst>
              </p:cNvPr>
              <p:cNvSpPr/>
              <p:nvPr/>
            </p:nvSpPr>
            <p:spPr bwMode="auto">
              <a:xfrm flipH="1" flipV="1">
                <a:off x="534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7" name="弧形 166">
                <a:extLst>
                  <a:ext uri="{FF2B5EF4-FFF2-40B4-BE49-F238E27FC236}">
                    <a16:creationId xmlns:a16="http://schemas.microsoft.com/office/drawing/2014/main" id="{D852E05F-D110-4E82-A5C6-C0385E8D88BC}"/>
                  </a:ext>
                </a:extLst>
              </p:cNvPr>
              <p:cNvSpPr/>
              <p:nvPr/>
            </p:nvSpPr>
            <p:spPr bwMode="auto">
              <a:xfrm>
                <a:off x="606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8" name="弧形 167">
                <a:extLst>
                  <a:ext uri="{FF2B5EF4-FFF2-40B4-BE49-F238E27FC236}">
                    <a16:creationId xmlns:a16="http://schemas.microsoft.com/office/drawing/2014/main" id="{56CA3590-8290-48DD-B477-134B5D356A06}"/>
                  </a:ext>
                </a:extLst>
              </p:cNvPr>
              <p:cNvSpPr/>
              <p:nvPr/>
            </p:nvSpPr>
            <p:spPr bwMode="auto">
              <a:xfrm flipH="1">
                <a:off x="606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9" name="弧形 168">
                <a:extLst>
                  <a:ext uri="{FF2B5EF4-FFF2-40B4-BE49-F238E27FC236}">
                    <a16:creationId xmlns:a16="http://schemas.microsoft.com/office/drawing/2014/main" id="{4E5DCE22-18EA-4673-9173-1BFB0C0AA6FE}"/>
                  </a:ext>
                </a:extLst>
              </p:cNvPr>
              <p:cNvSpPr/>
              <p:nvPr/>
            </p:nvSpPr>
            <p:spPr bwMode="auto">
              <a:xfrm flipV="1">
                <a:off x="678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0" name="弧形 169">
                <a:extLst>
                  <a:ext uri="{FF2B5EF4-FFF2-40B4-BE49-F238E27FC236}">
                    <a16:creationId xmlns:a16="http://schemas.microsoft.com/office/drawing/2014/main" id="{626133BF-6EDF-4B34-B6EA-639905FA3E47}"/>
                  </a:ext>
                </a:extLst>
              </p:cNvPr>
              <p:cNvSpPr/>
              <p:nvPr/>
            </p:nvSpPr>
            <p:spPr bwMode="auto">
              <a:xfrm flipH="1" flipV="1">
                <a:off x="678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A31DAE95-F99D-4FBE-B2CA-FEE51338E6C0}"/>
                </a:ext>
              </a:extLst>
            </p:cNvPr>
            <p:cNvGrpSpPr/>
            <p:nvPr/>
          </p:nvGrpSpPr>
          <p:grpSpPr>
            <a:xfrm>
              <a:off x="2655934" y="4537953"/>
              <a:ext cx="763477" cy="559651"/>
              <a:chOff x="1748901" y="2831223"/>
              <a:chExt cx="5760000" cy="1440754"/>
            </a:xfrm>
          </p:grpSpPr>
          <p:sp>
            <p:nvSpPr>
              <p:cNvPr id="139" name="弧形 138">
                <a:extLst>
                  <a:ext uri="{FF2B5EF4-FFF2-40B4-BE49-F238E27FC236}">
                    <a16:creationId xmlns:a16="http://schemas.microsoft.com/office/drawing/2014/main" id="{524BE95D-0919-4A4C-9450-6EF78694BC09}"/>
                  </a:ext>
                </a:extLst>
              </p:cNvPr>
              <p:cNvSpPr/>
              <p:nvPr/>
            </p:nvSpPr>
            <p:spPr bwMode="auto">
              <a:xfrm>
                <a:off x="174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0" name="弧形 139">
                <a:extLst>
                  <a:ext uri="{FF2B5EF4-FFF2-40B4-BE49-F238E27FC236}">
                    <a16:creationId xmlns:a16="http://schemas.microsoft.com/office/drawing/2014/main" id="{9FC9F8E6-C028-4B39-B187-C79C7713B647}"/>
                  </a:ext>
                </a:extLst>
              </p:cNvPr>
              <p:cNvSpPr/>
              <p:nvPr/>
            </p:nvSpPr>
            <p:spPr bwMode="auto">
              <a:xfrm flipH="1">
                <a:off x="174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1" name="弧形 140">
                <a:extLst>
                  <a:ext uri="{FF2B5EF4-FFF2-40B4-BE49-F238E27FC236}">
                    <a16:creationId xmlns:a16="http://schemas.microsoft.com/office/drawing/2014/main" id="{56A44D4D-B0AE-44EB-936E-CC19B25042DF}"/>
                  </a:ext>
                </a:extLst>
              </p:cNvPr>
              <p:cNvSpPr/>
              <p:nvPr/>
            </p:nvSpPr>
            <p:spPr bwMode="auto">
              <a:xfrm flipV="1">
                <a:off x="246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2" name="弧形 141">
                <a:extLst>
                  <a:ext uri="{FF2B5EF4-FFF2-40B4-BE49-F238E27FC236}">
                    <a16:creationId xmlns:a16="http://schemas.microsoft.com/office/drawing/2014/main" id="{95FFBC52-C676-40BF-8553-E0DB8C8D6FBD}"/>
                  </a:ext>
                </a:extLst>
              </p:cNvPr>
              <p:cNvSpPr/>
              <p:nvPr/>
            </p:nvSpPr>
            <p:spPr bwMode="auto">
              <a:xfrm flipH="1" flipV="1">
                <a:off x="246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3" name="弧形 142">
                <a:extLst>
                  <a:ext uri="{FF2B5EF4-FFF2-40B4-BE49-F238E27FC236}">
                    <a16:creationId xmlns:a16="http://schemas.microsoft.com/office/drawing/2014/main" id="{9645B853-BE0B-42CC-A94E-4936A5218A4B}"/>
                  </a:ext>
                </a:extLst>
              </p:cNvPr>
              <p:cNvSpPr/>
              <p:nvPr/>
            </p:nvSpPr>
            <p:spPr bwMode="auto">
              <a:xfrm>
                <a:off x="318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4" name="弧形 143">
                <a:extLst>
                  <a:ext uri="{FF2B5EF4-FFF2-40B4-BE49-F238E27FC236}">
                    <a16:creationId xmlns:a16="http://schemas.microsoft.com/office/drawing/2014/main" id="{E7A11DC1-CA66-4C6B-A654-21B243576598}"/>
                  </a:ext>
                </a:extLst>
              </p:cNvPr>
              <p:cNvSpPr/>
              <p:nvPr/>
            </p:nvSpPr>
            <p:spPr bwMode="auto">
              <a:xfrm flipH="1">
                <a:off x="318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5" name="弧形 144">
                <a:extLst>
                  <a:ext uri="{FF2B5EF4-FFF2-40B4-BE49-F238E27FC236}">
                    <a16:creationId xmlns:a16="http://schemas.microsoft.com/office/drawing/2014/main" id="{ECBF34E0-F429-486F-9BFA-DEB07951F6D7}"/>
                  </a:ext>
                </a:extLst>
              </p:cNvPr>
              <p:cNvSpPr/>
              <p:nvPr/>
            </p:nvSpPr>
            <p:spPr bwMode="auto">
              <a:xfrm flipV="1">
                <a:off x="390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6" name="弧形 145">
                <a:extLst>
                  <a:ext uri="{FF2B5EF4-FFF2-40B4-BE49-F238E27FC236}">
                    <a16:creationId xmlns:a16="http://schemas.microsoft.com/office/drawing/2014/main" id="{62880488-E5BB-49F6-9FE0-6C015CB1B0A9}"/>
                  </a:ext>
                </a:extLst>
              </p:cNvPr>
              <p:cNvSpPr/>
              <p:nvPr/>
            </p:nvSpPr>
            <p:spPr bwMode="auto">
              <a:xfrm flipH="1" flipV="1">
                <a:off x="390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7" name="弧形 146">
                <a:extLst>
                  <a:ext uri="{FF2B5EF4-FFF2-40B4-BE49-F238E27FC236}">
                    <a16:creationId xmlns:a16="http://schemas.microsoft.com/office/drawing/2014/main" id="{502EFAA6-77EA-47A9-A91D-20DD0317D11D}"/>
                  </a:ext>
                </a:extLst>
              </p:cNvPr>
              <p:cNvSpPr/>
              <p:nvPr/>
            </p:nvSpPr>
            <p:spPr bwMode="auto">
              <a:xfrm>
                <a:off x="462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8" name="弧形 147">
                <a:extLst>
                  <a:ext uri="{FF2B5EF4-FFF2-40B4-BE49-F238E27FC236}">
                    <a16:creationId xmlns:a16="http://schemas.microsoft.com/office/drawing/2014/main" id="{D9397042-28F3-45B3-B9AD-9E15DF99C0E3}"/>
                  </a:ext>
                </a:extLst>
              </p:cNvPr>
              <p:cNvSpPr/>
              <p:nvPr/>
            </p:nvSpPr>
            <p:spPr bwMode="auto">
              <a:xfrm flipH="1">
                <a:off x="462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9" name="弧形 148">
                <a:extLst>
                  <a:ext uri="{FF2B5EF4-FFF2-40B4-BE49-F238E27FC236}">
                    <a16:creationId xmlns:a16="http://schemas.microsoft.com/office/drawing/2014/main" id="{334E640B-C641-4709-964C-281D3CB160B7}"/>
                  </a:ext>
                </a:extLst>
              </p:cNvPr>
              <p:cNvSpPr/>
              <p:nvPr/>
            </p:nvSpPr>
            <p:spPr bwMode="auto">
              <a:xfrm flipV="1">
                <a:off x="534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0" name="弧形 149">
                <a:extLst>
                  <a:ext uri="{FF2B5EF4-FFF2-40B4-BE49-F238E27FC236}">
                    <a16:creationId xmlns:a16="http://schemas.microsoft.com/office/drawing/2014/main" id="{30BACAF8-ED85-4912-A0A9-3DCEB4C7B7E7}"/>
                  </a:ext>
                </a:extLst>
              </p:cNvPr>
              <p:cNvSpPr/>
              <p:nvPr/>
            </p:nvSpPr>
            <p:spPr bwMode="auto">
              <a:xfrm flipH="1" flipV="1">
                <a:off x="534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1" name="弧形 150">
                <a:extLst>
                  <a:ext uri="{FF2B5EF4-FFF2-40B4-BE49-F238E27FC236}">
                    <a16:creationId xmlns:a16="http://schemas.microsoft.com/office/drawing/2014/main" id="{13A6D4A7-8588-4349-9386-1C82816EAF7E}"/>
                  </a:ext>
                </a:extLst>
              </p:cNvPr>
              <p:cNvSpPr/>
              <p:nvPr/>
            </p:nvSpPr>
            <p:spPr bwMode="auto">
              <a:xfrm>
                <a:off x="606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2" name="弧形 151">
                <a:extLst>
                  <a:ext uri="{FF2B5EF4-FFF2-40B4-BE49-F238E27FC236}">
                    <a16:creationId xmlns:a16="http://schemas.microsoft.com/office/drawing/2014/main" id="{2E18A804-25AF-40C8-B418-B8A7823F6F86}"/>
                  </a:ext>
                </a:extLst>
              </p:cNvPr>
              <p:cNvSpPr/>
              <p:nvPr/>
            </p:nvSpPr>
            <p:spPr bwMode="auto">
              <a:xfrm flipH="1">
                <a:off x="606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3" name="弧形 152">
                <a:extLst>
                  <a:ext uri="{FF2B5EF4-FFF2-40B4-BE49-F238E27FC236}">
                    <a16:creationId xmlns:a16="http://schemas.microsoft.com/office/drawing/2014/main" id="{1D6F45D6-FA9B-4D1B-B6AE-41C912659B7F}"/>
                  </a:ext>
                </a:extLst>
              </p:cNvPr>
              <p:cNvSpPr/>
              <p:nvPr/>
            </p:nvSpPr>
            <p:spPr bwMode="auto">
              <a:xfrm flipV="1">
                <a:off x="678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4" name="弧形 153">
                <a:extLst>
                  <a:ext uri="{FF2B5EF4-FFF2-40B4-BE49-F238E27FC236}">
                    <a16:creationId xmlns:a16="http://schemas.microsoft.com/office/drawing/2014/main" id="{033A09AE-FDF4-4C6C-ABA7-F099639D2633}"/>
                  </a:ext>
                </a:extLst>
              </p:cNvPr>
              <p:cNvSpPr/>
              <p:nvPr/>
            </p:nvSpPr>
            <p:spPr bwMode="auto">
              <a:xfrm flipH="1" flipV="1">
                <a:off x="678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5E1020A1-E26D-4627-9EC9-6C33211CBC1F}"/>
                </a:ext>
              </a:extLst>
            </p:cNvPr>
            <p:cNvGrpSpPr/>
            <p:nvPr/>
          </p:nvGrpSpPr>
          <p:grpSpPr>
            <a:xfrm>
              <a:off x="3735934" y="4537660"/>
              <a:ext cx="763477" cy="559651"/>
              <a:chOff x="1748901" y="2831223"/>
              <a:chExt cx="5760000" cy="1440754"/>
            </a:xfrm>
          </p:grpSpPr>
          <p:sp>
            <p:nvSpPr>
              <p:cNvPr id="123" name="弧形 122">
                <a:extLst>
                  <a:ext uri="{FF2B5EF4-FFF2-40B4-BE49-F238E27FC236}">
                    <a16:creationId xmlns:a16="http://schemas.microsoft.com/office/drawing/2014/main" id="{25B0A187-17D0-4F31-A763-BB6474E481F1}"/>
                  </a:ext>
                </a:extLst>
              </p:cNvPr>
              <p:cNvSpPr/>
              <p:nvPr/>
            </p:nvSpPr>
            <p:spPr bwMode="auto">
              <a:xfrm>
                <a:off x="174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4" name="弧形 123">
                <a:extLst>
                  <a:ext uri="{FF2B5EF4-FFF2-40B4-BE49-F238E27FC236}">
                    <a16:creationId xmlns:a16="http://schemas.microsoft.com/office/drawing/2014/main" id="{A5E31070-069A-456E-A839-07DE7CB9959F}"/>
                  </a:ext>
                </a:extLst>
              </p:cNvPr>
              <p:cNvSpPr/>
              <p:nvPr/>
            </p:nvSpPr>
            <p:spPr bwMode="auto">
              <a:xfrm flipH="1">
                <a:off x="174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5" name="弧形 124">
                <a:extLst>
                  <a:ext uri="{FF2B5EF4-FFF2-40B4-BE49-F238E27FC236}">
                    <a16:creationId xmlns:a16="http://schemas.microsoft.com/office/drawing/2014/main" id="{017E99CA-6B3E-423D-88E8-F9F767DF3F6A}"/>
                  </a:ext>
                </a:extLst>
              </p:cNvPr>
              <p:cNvSpPr/>
              <p:nvPr/>
            </p:nvSpPr>
            <p:spPr bwMode="auto">
              <a:xfrm flipV="1">
                <a:off x="246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6" name="弧形 125">
                <a:extLst>
                  <a:ext uri="{FF2B5EF4-FFF2-40B4-BE49-F238E27FC236}">
                    <a16:creationId xmlns:a16="http://schemas.microsoft.com/office/drawing/2014/main" id="{F9BD395A-94C4-4D01-A889-C9303990F2C1}"/>
                  </a:ext>
                </a:extLst>
              </p:cNvPr>
              <p:cNvSpPr/>
              <p:nvPr/>
            </p:nvSpPr>
            <p:spPr bwMode="auto">
              <a:xfrm flipH="1" flipV="1">
                <a:off x="246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7" name="弧形 126">
                <a:extLst>
                  <a:ext uri="{FF2B5EF4-FFF2-40B4-BE49-F238E27FC236}">
                    <a16:creationId xmlns:a16="http://schemas.microsoft.com/office/drawing/2014/main" id="{2C3A78B4-F558-4C4B-8A65-BCE73176993E}"/>
                  </a:ext>
                </a:extLst>
              </p:cNvPr>
              <p:cNvSpPr/>
              <p:nvPr/>
            </p:nvSpPr>
            <p:spPr bwMode="auto">
              <a:xfrm>
                <a:off x="318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8" name="弧形 127">
                <a:extLst>
                  <a:ext uri="{FF2B5EF4-FFF2-40B4-BE49-F238E27FC236}">
                    <a16:creationId xmlns:a16="http://schemas.microsoft.com/office/drawing/2014/main" id="{B552B6B1-3E55-468F-89D8-1C3504E37E5C}"/>
                  </a:ext>
                </a:extLst>
              </p:cNvPr>
              <p:cNvSpPr/>
              <p:nvPr/>
            </p:nvSpPr>
            <p:spPr bwMode="auto">
              <a:xfrm flipH="1">
                <a:off x="318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9" name="弧形 128">
                <a:extLst>
                  <a:ext uri="{FF2B5EF4-FFF2-40B4-BE49-F238E27FC236}">
                    <a16:creationId xmlns:a16="http://schemas.microsoft.com/office/drawing/2014/main" id="{47BC7C8C-CC5E-4D93-AED6-97F5AEFE6AB6}"/>
                  </a:ext>
                </a:extLst>
              </p:cNvPr>
              <p:cNvSpPr/>
              <p:nvPr/>
            </p:nvSpPr>
            <p:spPr bwMode="auto">
              <a:xfrm flipV="1">
                <a:off x="390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0" name="弧形 129">
                <a:extLst>
                  <a:ext uri="{FF2B5EF4-FFF2-40B4-BE49-F238E27FC236}">
                    <a16:creationId xmlns:a16="http://schemas.microsoft.com/office/drawing/2014/main" id="{EC163935-4BF5-48B2-894B-F73431AFC240}"/>
                  </a:ext>
                </a:extLst>
              </p:cNvPr>
              <p:cNvSpPr/>
              <p:nvPr/>
            </p:nvSpPr>
            <p:spPr bwMode="auto">
              <a:xfrm flipH="1" flipV="1">
                <a:off x="390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1" name="弧形 130">
                <a:extLst>
                  <a:ext uri="{FF2B5EF4-FFF2-40B4-BE49-F238E27FC236}">
                    <a16:creationId xmlns:a16="http://schemas.microsoft.com/office/drawing/2014/main" id="{3600B2D7-7E39-4F54-A2AF-AD58827D68FE}"/>
                  </a:ext>
                </a:extLst>
              </p:cNvPr>
              <p:cNvSpPr/>
              <p:nvPr/>
            </p:nvSpPr>
            <p:spPr bwMode="auto">
              <a:xfrm>
                <a:off x="462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2" name="弧形 131">
                <a:extLst>
                  <a:ext uri="{FF2B5EF4-FFF2-40B4-BE49-F238E27FC236}">
                    <a16:creationId xmlns:a16="http://schemas.microsoft.com/office/drawing/2014/main" id="{01DA1395-6338-4E9B-8F15-056961680DFE}"/>
                  </a:ext>
                </a:extLst>
              </p:cNvPr>
              <p:cNvSpPr/>
              <p:nvPr/>
            </p:nvSpPr>
            <p:spPr bwMode="auto">
              <a:xfrm flipH="1">
                <a:off x="462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3" name="弧形 132">
                <a:extLst>
                  <a:ext uri="{FF2B5EF4-FFF2-40B4-BE49-F238E27FC236}">
                    <a16:creationId xmlns:a16="http://schemas.microsoft.com/office/drawing/2014/main" id="{90579466-71C7-48D9-981A-F2D5577CDCD3}"/>
                  </a:ext>
                </a:extLst>
              </p:cNvPr>
              <p:cNvSpPr/>
              <p:nvPr/>
            </p:nvSpPr>
            <p:spPr bwMode="auto">
              <a:xfrm flipV="1">
                <a:off x="534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4" name="弧形 133">
                <a:extLst>
                  <a:ext uri="{FF2B5EF4-FFF2-40B4-BE49-F238E27FC236}">
                    <a16:creationId xmlns:a16="http://schemas.microsoft.com/office/drawing/2014/main" id="{B4DE7135-DAA1-482F-95BD-937FCC629922}"/>
                  </a:ext>
                </a:extLst>
              </p:cNvPr>
              <p:cNvSpPr/>
              <p:nvPr/>
            </p:nvSpPr>
            <p:spPr bwMode="auto">
              <a:xfrm flipH="1" flipV="1">
                <a:off x="534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5" name="弧形 134">
                <a:extLst>
                  <a:ext uri="{FF2B5EF4-FFF2-40B4-BE49-F238E27FC236}">
                    <a16:creationId xmlns:a16="http://schemas.microsoft.com/office/drawing/2014/main" id="{8AAF9496-FB11-4E8B-AB3C-59E0D88CA14A}"/>
                  </a:ext>
                </a:extLst>
              </p:cNvPr>
              <p:cNvSpPr/>
              <p:nvPr/>
            </p:nvSpPr>
            <p:spPr bwMode="auto">
              <a:xfrm>
                <a:off x="606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6" name="弧形 135">
                <a:extLst>
                  <a:ext uri="{FF2B5EF4-FFF2-40B4-BE49-F238E27FC236}">
                    <a16:creationId xmlns:a16="http://schemas.microsoft.com/office/drawing/2014/main" id="{0CEB5832-37D5-4B1D-9180-930BD4CFFDF4}"/>
                  </a:ext>
                </a:extLst>
              </p:cNvPr>
              <p:cNvSpPr/>
              <p:nvPr/>
            </p:nvSpPr>
            <p:spPr bwMode="auto">
              <a:xfrm flipH="1">
                <a:off x="606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7" name="弧形 136">
                <a:extLst>
                  <a:ext uri="{FF2B5EF4-FFF2-40B4-BE49-F238E27FC236}">
                    <a16:creationId xmlns:a16="http://schemas.microsoft.com/office/drawing/2014/main" id="{B756E8DA-2419-4EEE-9A00-38808A08C09F}"/>
                  </a:ext>
                </a:extLst>
              </p:cNvPr>
              <p:cNvSpPr/>
              <p:nvPr/>
            </p:nvSpPr>
            <p:spPr bwMode="auto">
              <a:xfrm flipV="1">
                <a:off x="678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8" name="弧形 137">
                <a:extLst>
                  <a:ext uri="{FF2B5EF4-FFF2-40B4-BE49-F238E27FC236}">
                    <a16:creationId xmlns:a16="http://schemas.microsoft.com/office/drawing/2014/main" id="{D5819FF7-64DE-4F4E-9F86-11F3AADC9004}"/>
                  </a:ext>
                </a:extLst>
              </p:cNvPr>
              <p:cNvSpPr/>
              <p:nvPr/>
            </p:nvSpPr>
            <p:spPr bwMode="auto">
              <a:xfrm flipH="1" flipV="1">
                <a:off x="678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CCB100B1-C89D-4FB8-AD53-6D44BF430ED1}"/>
                </a:ext>
              </a:extLst>
            </p:cNvPr>
            <p:cNvGrpSpPr/>
            <p:nvPr/>
          </p:nvGrpSpPr>
          <p:grpSpPr>
            <a:xfrm>
              <a:off x="4815934" y="4537367"/>
              <a:ext cx="763477" cy="559651"/>
              <a:chOff x="1748901" y="2831223"/>
              <a:chExt cx="5760000" cy="1440754"/>
            </a:xfrm>
          </p:grpSpPr>
          <p:sp>
            <p:nvSpPr>
              <p:cNvPr id="107" name="弧形 106">
                <a:extLst>
                  <a:ext uri="{FF2B5EF4-FFF2-40B4-BE49-F238E27FC236}">
                    <a16:creationId xmlns:a16="http://schemas.microsoft.com/office/drawing/2014/main" id="{B2D53DB8-75EC-46BA-8F92-413C30EAF719}"/>
                  </a:ext>
                </a:extLst>
              </p:cNvPr>
              <p:cNvSpPr/>
              <p:nvPr/>
            </p:nvSpPr>
            <p:spPr bwMode="auto">
              <a:xfrm>
                <a:off x="174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8" name="弧形 107">
                <a:extLst>
                  <a:ext uri="{FF2B5EF4-FFF2-40B4-BE49-F238E27FC236}">
                    <a16:creationId xmlns:a16="http://schemas.microsoft.com/office/drawing/2014/main" id="{CD78BF88-711F-41EB-AEA0-101EE13F54CD}"/>
                  </a:ext>
                </a:extLst>
              </p:cNvPr>
              <p:cNvSpPr/>
              <p:nvPr/>
            </p:nvSpPr>
            <p:spPr bwMode="auto">
              <a:xfrm flipH="1">
                <a:off x="174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9" name="弧形 108">
                <a:extLst>
                  <a:ext uri="{FF2B5EF4-FFF2-40B4-BE49-F238E27FC236}">
                    <a16:creationId xmlns:a16="http://schemas.microsoft.com/office/drawing/2014/main" id="{9B5C71AB-8277-4DB5-A469-1F97537C895F}"/>
                  </a:ext>
                </a:extLst>
              </p:cNvPr>
              <p:cNvSpPr/>
              <p:nvPr/>
            </p:nvSpPr>
            <p:spPr bwMode="auto">
              <a:xfrm flipV="1">
                <a:off x="246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" name="弧形 109">
                <a:extLst>
                  <a:ext uri="{FF2B5EF4-FFF2-40B4-BE49-F238E27FC236}">
                    <a16:creationId xmlns:a16="http://schemas.microsoft.com/office/drawing/2014/main" id="{9587BBE2-41A8-4843-957A-709A318EBD17}"/>
                  </a:ext>
                </a:extLst>
              </p:cNvPr>
              <p:cNvSpPr/>
              <p:nvPr/>
            </p:nvSpPr>
            <p:spPr bwMode="auto">
              <a:xfrm flipH="1" flipV="1">
                <a:off x="246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1" name="弧形 110">
                <a:extLst>
                  <a:ext uri="{FF2B5EF4-FFF2-40B4-BE49-F238E27FC236}">
                    <a16:creationId xmlns:a16="http://schemas.microsoft.com/office/drawing/2014/main" id="{1BFE6627-BA9E-429A-AD6B-3444F12779B1}"/>
                  </a:ext>
                </a:extLst>
              </p:cNvPr>
              <p:cNvSpPr/>
              <p:nvPr/>
            </p:nvSpPr>
            <p:spPr bwMode="auto">
              <a:xfrm>
                <a:off x="318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2" name="弧形 111">
                <a:extLst>
                  <a:ext uri="{FF2B5EF4-FFF2-40B4-BE49-F238E27FC236}">
                    <a16:creationId xmlns:a16="http://schemas.microsoft.com/office/drawing/2014/main" id="{766CB7A6-8468-44BB-B85F-E297173DEADF}"/>
                  </a:ext>
                </a:extLst>
              </p:cNvPr>
              <p:cNvSpPr/>
              <p:nvPr/>
            </p:nvSpPr>
            <p:spPr bwMode="auto">
              <a:xfrm flipH="1">
                <a:off x="318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3" name="弧形 112">
                <a:extLst>
                  <a:ext uri="{FF2B5EF4-FFF2-40B4-BE49-F238E27FC236}">
                    <a16:creationId xmlns:a16="http://schemas.microsoft.com/office/drawing/2014/main" id="{8D5ACDD6-59C8-4DCD-A55D-DE4164D8C146}"/>
                  </a:ext>
                </a:extLst>
              </p:cNvPr>
              <p:cNvSpPr/>
              <p:nvPr/>
            </p:nvSpPr>
            <p:spPr bwMode="auto">
              <a:xfrm flipV="1">
                <a:off x="390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4" name="弧形 113">
                <a:extLst>
                  <a:ext uri="{FF2B5EF4-FFF2-40B4-BE49-F238E27FC236}">
                    <a16:creationId xmlns:a16="http://schemas.microsoft.com/office/drawing/2014/main" id="{AF50A214-B92B-4773-811A-E424D824354D}"/>
                  </a:ext>
                </a:extLst>
              </p:cNvPr>
              <p:cNvSpPr/>
              <p:nvPr/>
            </p:nvSpPr>
            <p:spPr bwMode="auto">
              <a:xfrm flipH="1" flipV="1">
                <a:off x="390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5" name="弧形 114">
                <a:extLst>
                  <a:ext uri="{FF2B5EF4-FFF2-40B4-BE49-F238E27FC236}">
                    <a16:creationId xmlns:a16="http://schemas.microsoft.com/office/drawing/2014/main" id="{22DBDFF5-3159-45D5-A039-D2431D79B0D3}"/>
                  </a:ext>
                </a:extLst>
              </p:cNvPr>
              <p:cNvSpPr/>
              <p:nvPr/>
            </p:nvSpPr>
            <p:spPr bwMode="auto">
              <a:xfrm>
                <a:off x="462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6" name="弧形 115">
                <a:extLst>
                  <a:ext uri="{FF2B5EF4-FFF2-40B4-BE49-F238E27FC236}">
                    <a16:creationId xmlns:a16="http://schemas.microsoft.com/office/drawing/2014/main" id="{E6DCACA4-52E7-4080-AD61-632AB3F57D69}"/>
                  </a:ext>
                </a:extLst>
              </p:cNvPr>
              <p:cNvSpPr/>
              <p:nvPr/>
            </p:nvSpPr>
            <p:spPr bwMode="auto">
              <a:xfrm flipH="1">
                <a:off x="462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7" name="弧形 116">
                <a:extLst>
                  <a:ext uri="{FF2B5EF4-FFF2-40B4-BE49-F238E27FC236}">
                    <a16:creationId xmlns:a16="http://schemas.microsoft.com/office/drawing/2014/main" id="{CC4102C1-857E-467F-AC24-171C88D43789}"/>
                  </a:ext>
                </a:extLst>
              </p:cNvPr>
              <p:cNvSpPr/>
              <p:nvPr/>
            </p:nvSpPr>
            <p:spPr bwMode="auto">
              <a:xfrm flipV="1">
                <a:off x="534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8" name="弧形 117">
                <a:extLst>
                  <a:ext uri="{FF2B5EF4-FFF2-40B4-BE49-F238E27FC236}">
                    <a16:creationId xmlns:a16="http://schemas.microsoft.com/office/drawing/2014/main" id="{B2945010-FBDF-4816-8C33-D21FCF4CF7F0}"/>
                  </a:ext>
                </a:extLst>
              </p:cNvPr>
              <p:cNvSpPr/>
              <p:nvPr/>
            </p:nvSpPr>
            <p:spPr bwMode="auto">
              <a:xfrm flipH="1" flipV="1">
                <a:off x="534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9" name="弧形 118">
                <a:extLst>
                  <a:ext uri="{FF2B5EF4-FFF2-40B4-BE49-F238E27FC236}">
                    <a16:creationId xmlns:a16="http://schemas.microsoft.com/office/drawing/2014/main" id="{31654062-D0E8-4711-9FDB-CDFDF0B70CCE}"/>
                  </a:ext>
                </a:extLst>
              </p:cNvPr>
              <p:cNvSpPr/>
              <p:nvPr/>
            </p:nvSpPr>
            <p:spPr bwMode="auto">
              <a:xfrm>
                <a:off x="606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0" name="弧形 119">
                <a:extLst>
                  <a:ext uri="{FF2B5EF4-FFF2-40B4-BE49-F238E27FC236}">
                    <a16:creationId xmlns:a16="http://schemas.microsoft.com/office/drawing/2014/main" id="{CB5AEF07-2131-4150-9D5E-DCE4EAF1FF0A}"/>
                  </a:ext>
                </a:extLst>
              </p:cNvPr>
              <p:cNvSpPr/>
              <p:nvPr/>
            </p:nvSpPr>
            <p:spPr bwMode="auto">
              <a:xfrm flipH="1">
                <a:off x="606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1" name="弧形 120">
                <a:extLst>
                  <a:ext uri="{FF2B5EF4-FFF2-40B4-BE49-F238E27FC236}">
                    <a16:creationId xmlns:a16="http://schemas.microsoft.com/office/drawing/2014/main" id="{024BD9F6-FFFA-4AB0-9FA2-72FBF3D26251}"/>
                  </a:ext>
                </a:extLst>
              </p:cNvPr>
              <p:cNvSpPr/>
              <p:nvPr/>
            </p:nvSpPr>
            <p:spPr bwMode="auto">
              <a:xfrm flipV="1">
                <a:off x="678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2" name="弧形 121">
                <a:extLst>
                  <a:ext uri="{FF2B5EF4-FFF2-40B4-BE49-F238E27FC236}">
                    <a16:creationId xmlns:a16="http://schemas.microsoft.com/office/drawing/2014/main" id="{3E9A1F52-BCC1-4CA7-B67E-B090B21E8C5C}"/>
                  </a:ext>
                </a:extLst>
              </p:cNvPr>
              <p:cNvSpPr/>
              <p:nvPr/>
            </p:nvSpPr>
            <p:spPr bwMode="auto">
              <a:xfrm flipH="1" flipV="1">
                <a:off x="678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2C7BC74C-A569-4F7F-8E7A-560E9C19D4CD}"/>
                </a:ext>
              </a:extLst>
            </p:cNvPr>
            <p:cNvGrpSpPr/>
            <p:nvPr/>
          </p:nvGrpSpPr>
          <p:grpSpPr>
            <a:xfrm>
              <a:off x="5895934" y="4537074"/>
              <a:ext cx="763477" cy="559651"/>
              <a:chOff x="1748901" y="2831223"/>
              <a:chExt cx="5760000" cy="1440754"/>
            </a:xfrm>
          </p:grpSpPr>
          <p:sp>
            <p:nvSpPr>
              <p:cNvPr id="91" name="弧形 90">
                <a:extLst>
                  <a:ext uri="{FF2B5EF4-FFF2-40B4-BE49-F238E27FC236}">
                    <a16:creationId xmlns:a16="http://schemas.microsoft.com/office/drawing/2014/main" id="{D64363AB-0E65-4989-919D-3CFCDC24AF09}"/>
                  </a:ext>
                </a:extLst>
              </p:cNvPr>
              <p:cNvSpPr/>
              <p:nvPr/>
            </p:nvSpPr>
            <p:spPr bwMode="auto">
              <a:xfrm>
                <a:off x="174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2" name="弧形 91">
                <a:extLst>
                  <a:ext uri="{FF2B5EF4-FFF2-40B4-BE49-F238E27FC236}">
                    <a16:creationId xmlns:a16="http://schemas.microsoft.com/office/drawing/2014/main" id="{5FAA8364-2173-4596-9260-F0B480620DD8}"/>
                  </a:ext>
                </a:extLst>
              </p:cNvPr>
              <p:cNvSpPr/>
              <p:nvPr/>
            </p:nvSpPr>
            <p:spPr bwMode="auto">
              <a:xfrm flipH="1">
                <a:off x="174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3" name="弧形 92">
                <a:extLst>
                  <a:ext uri="{FF2B5EF4-FFF2-40B4-BE49-F238E27FC236}">
                    <a16:creationId xmlns:a16="http://schemas.microsoft.com/office/drawing/2014/main" id="{7F334AE8-AD5D-4158-99E4-86A52FA3A467}"/>
                  </a:ext>
                </a:extLst>
              </p:cNvPr>
              <p:cNvSpPr/>
              <p:nvPr/>
            </p:nvSpPr>
            <p:spPr bwMode="auto">
              <a:xfrm flipV="1">
                <a:off x="246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4" name="弧形 93">
                <a:extLst>
                  <a:ext uri="{FF2B5EF4-FFF2-40B4-BE49-F238E27FC236}">
                    <a16:creationId xmlns:a16="http://schemas.microsoft.com/office/drawing/2014/main" id="{8415F5DA-BF57-46BC-AB3F-0ABCE7508A37}"/>
                  </a:ext>
                </a:extLst>
              </p:cNvPr>
              <p:cNvSpPr/>
              <p:nvPr/>
            </p:nvSpPr>
            <p:spPr bwMode="auto">
              <a:xfrm flipH="1" flipV="1">
                <a:off x="246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5" name="弧形 94">
                <a:extLst>
                  <a:ext uri="{FF2B5EF4-FFF2-40B4-BE49-F238E27FC236}">
                    <a16:creationId xmlns:a16="http://schemas.microsoft.com/office/drawing/2014/main" id="{12998548-12C6-4C04-945A-B0152D6891F8}"/>
                  </a:ext>
                </a:extLst>
              </p:cNvPr>
              <p:cNvSpPr/>
              <p:nvPr/>
            </p:nvSpPr>
            <p:spPr bwMode="auto">
              <a:xfrm>
                <a:off x="318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6" name="弧形 95">
                <a:extLst>
                  <a:ext uri="{FF2B5EF4-FFF2-40B4-BE49-F238E27FC236}">
                    <a16:creationId xmlns:a16="http://schemas.microsoft.com/office/drawing/2014/main" id="{A67F48DB-0136-4502-B08F-7624E7F893C7}"/>
                  </a:ext>
                </a:extLst>
              </p:cNvPr>
              <p:cNvSpPr/>
              <p:nvPr/>
            </p:nvSpPr>
            <p:spPr bwMode="auto">
              <a:xfrm flipH="1">
                <a:off x="318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7" name="弧形 96">
                <a:extLst>
                  <a:ext uri="{FF2B5EF4-FFF2-40B4-BE49-F238E27FC236}">
                    <a16:creationId xmlns:a16="http://schemas.microsoft.com/office/drawing/2014/main" id="{80DB994B-0557-4610-B522-DEED1851A692}"/>
                  </a:ext>
                </a:extLst>
              </p:cNvPr>
              <p:cNvSpPr/>
              <p:nvPr/>
            </p:nvSpPr>
            <p:spPr bwMode="auto">
              <a:xfrm flipV="1">
                <a:off x="390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8" name="弧形 97">
                <a:extLst>
                  <a:ext uri="{FF2B5EF4-FFF2-40B4-BE49-F238E27FC236}">
                    <a16:creationId xmlns:a16="http://schemas.microsoft.com/office/drawing/2014/main" id="{080888A6-CBE2-4BAB-B7DF-693517586D34}"/>
                  </a:ext>
                </a:extLst>
              </p:cNvPr>
              <p:cNvSpPr/>
              <p:nvPr/>
            </p:nvSpPr>
            <p:spPr bwMode="auto">
              <a:xfrm flipH="1" flipV="1">
                <a:off x="390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9" name="弧形 98">
                <a:extLst>
                  <a:ext uri="{FF2B5EF4-FFF2-40B4-BE49-F238E27FC236}">
                    <a16:creationId xmlns:a16="http://schemas.microsoft.com/office/drawing/2014/main" id="{F482A4D4-9685-4D95-BF38-286544B3095B}"/>
                  </a:ext>
                </a:extLst>
              </p:cNvPr>
              <p:cNvSpPr/>
              <p:nvPr/>
            </p:nvSpPr>
            <p:spPr bwMode="auto">
              <a:xfrm>
                <a:off x="462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0" name="弧形 99">
                <a:extLst>
                  <a:ext uri="{FF2B5EF4-FFF2-40B4-BE49-F238E27FC236}">
                    <a16:creationId xmlns:a16="http://schemas.microsoft.com/office/drawing/2014/main" id="{101676A5-4D07-4379-A63F-7DB1BCFC1745}"/>
                  </a:ext>
                </a:extLst>
              </p:cNvPr>
              <p:cNvSpPr/>
              <p:nvPr/>
            </p:nvSpPr>
            <p:spPr bwMode="auto">
              <a:xfrm flipH="1">
                <a:off x="462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1" name="弧形 100">
                <a:extLst>
                  <a:ext uri="{FF2B5EF4-FFF2-40B4-BE49-F238E27FC236}">
                    <a16:creationId xmlns:a16="http://schemas.microsoft.com/office/drawing/2014/main" id="{63468D7D-E3F6-49B5-BE0F-C337CC46DE76}"/>
                  </a:ext>
                </a:extLst>
              </p:cNvPr>
              <p:cNvSpPr/>
              <p:nvPr/>
            </p:nvSpPr>
            <p:spPr bwMode="auto">
              <a:xfrm flipV="1">
                <a:off x="534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2" name="弧形 101">
                <a:extLst>
                  <a:ext uri="{FF2B5EF4-FFF2-40B4-BE49-F238E27FC236}">
                    <a16:creationId xmlns:a16="http://schemas.microsoft.com/office/drawing/2014/main" id="{332A51D4-3B65-46E8-82B2-3191F084CB08}"/>
                  </a:ext>
                </a:extLst>
              </p:cNvPr>
              <p:cNvSpPr/>
              <p:nvPr/>
            </p:nvSpPr>
            <p:spPr bwMode="auto">
              <a:xfrm flipH="1" flipV="1">
                <a:off x="534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3" name="弧形 102">
                <a:extLst>
                  <a:ext uri="{FF2B5EF4-FFF2-40B4-BE49-F238E27FC236}">
                    <a16:creationId xmlns:a16="http://schemas.microsoft.com/office/drawing/2014/main" id="{3B60E135-2F0B-4586-A652-6C67F59DF4E1}"/>
                  </a:ext>
                </a:extLst>
              </p:cNvPr>
              <p:cNvSpPr/>
              <p:nvPr/>
            </p:nvSpPr>
            <p:spPr bwMode="auto">
              <a:xfrm>
                <a:off x="606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4" name="弧形 103">
                <a:extLst>
                  <a:ext uri="{FF2B5EF4-FFF2-40B4-BE49-F238E27FC236}">
                    <a16:creationId xmlns:a16="http://schemas.microsoft.com/office/drawing/2014/main" id="{AE61EC28-ACEB-4D29-9178-C72A4C58E81D}"/>
                  </a:ext>
                </a:extLst>
              </p:cNvPr>
              <p:cNvSpPr/>
              <p:nvPr/>
            </p:nvSpPr>
            <p:spPr bwMode="auto">
              <a:xfrm flipH="1">
                <a:off x="606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5" name="弧形 104">
                <a:extLst>
                  <a:ext uri="{FF2B5EF4-FFF2-40B4-BE49-F238E27FC236}">
                    <a16:creationId xmlns:a16="http://schemas.microsoft.com/office/drawing/2014/main" id="{0E3EC4D8-0924-432B-A07D-72144D0A1FFE}"/>
                  </a:ext>
                </a:extLst>
              </p:cNvPr>
              <p:cNvSpPr/>
              <p:nvPr/>
            </p:nvSpPr>
            <p:spPr bwMode="auto">
              <a:xfrm flipV="1">
                <a:off x="678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6" name="弧形 105">
                <a:extLst>
                  <a:ext uri="{FF2B5EF4-FFF2-40B4-BE49-F238E27FC236}">
                    <a16:creationId xmlns:a16="http://schemas.microsoft.com/office/drawing/2014/main" id="{2B15FE09-8EEC-4305-8122-3A1A453B3400}"/>
                  </a:ext>
                </a:extLst>
              </p:cNvPr>
              <p:cNvSpPr/>
              <p:nvPr/>
            </p:nvSpPr>
            <p:spPr bwMode="auto">
              <a:xfrm flipH="1" flipV="1">
                <a:off x="678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1E43EFA3-9519-4138-A251-FB9E845363B1}"/>
                </a:ext>
              </a:extLst>
            </p:cNvPr>
            <p:cNvGrpSpPr/>
            <p:nvPr/>
          </p:nvGrpSpPr>
          <p:grpSpPr>
            <a:xfrm>
              <a:off x="6975934" y="4537074"/>
              <a:ext cx="763477" cy="559651"/>
              <a:chOff x="1748901" y="2831223"/>
              <a:chExt cx="5760000" cy="1440754"/>
            </a:xfrm>
          </p:grpSpPr>
          <p:sp>
            <p:nvSpPr>
              <p:cNvPr id="75" name="弧形 74">
                <a:extLst>
                  <a:ext uri="{FF2B5EF4-FFF2-40B4-BE49-F238E27FC236}">
                    <a16:creationId xmlns:a16="http://schemas.microsoft.com/office/drawing/2014/main" id="{BBA42BB1-57FB-414B-98EB-3051A6BE9559}"/>
                  </a:ext>
                </a:extLst>
              </p:cNvPr>
              <p:cNvSpPr/>
              <p:nvPr/>
            </p:nvSpPr>
            <p:spPr bwMode="auto">
              <a:xfrm>
                <a:off x="174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6" name="弧形 75">
                <a:extLst>
                  <a:ext uri="{FF2B5EF4-FFF2-40B4-BE49-F238E27FC236}">
                    <a16:creationId xmlns:a16="http://schemas.microsoft.com/office/drawing/2014/main" id="{1DCE1789-27FE-462E-AAB2-765B5826EA65}"/>
                  </a:ext>
                </a:extLst>
              </p:cNvPr>
              <p:cNvSpPr/>
              <p:nvPr/>
            </p:nvSpPr>
            <p:spPr bwMode="auto">
              <a:xfrm flipH="1">
                <a:off x="174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7" name="弧形 76">
                <a:extLst>
                  <a:ext uri="{FF2B5EF4-FFF2-40B4-BE49-F238E27FC236}">
                    <a16:creationId xmlns:a16="http://schemas.microsoft.com/office/drawing/2014/main" id="{5059D66A-A86C-4F38-9879-EEE3AAD10954}"/>
                  </a:ext>
                </a:extLst>
              </p:cNvPr>
              <p:cNvSpPr/>
              <p:nvPr/>
            </p:nvSpPr>
            <p:spPr bwMode="auto">
              <a:xfrm flipV="1">
                <a:off x="246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8" name="弧形 77">
                <a:extLst>
                  <a:ext uri="{FF2B5EF4-FFF2-40B4-BE49-F238E27FC236}">
                    <a16:creationId xmlns:a16="http://schemas.microsoft.com/office/drawing/2014/main" id="{B0F72869-EFF6-497A-84A6-967047C85D59}"/>
                  </a:ext>
                </a:extLst>
              </p:cNvPr>
              <p:cNvSpPr/>
              <p:nvPr/>
            </p:nvSpPr>
            <p:spPr bwMode="auto">
              <a:xfrm flipH="1" flipV="1">
                <a:off x="246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9" name="弧形 78">
                <a:extLst>
                  <a:ext uri="{FF2B5EF4-FFF2-40B4-BE49-F238E27FC236}">
                    <a16:creationId xmlns:a16="http://schemas.microsoft.com/office/drawing/2014/main" id="{7A004DDC-27CE-40A5-86CB-88F1741A8ADB}"/>
                  </a:ext>
                </a:extLst>
              </p:cNvPr>
              <p:cNvSpPr/>
              <p:nvPr/>
            </p:nvSpPr>
            <p:spPr bwMode="auto">
              <a:xfrm>
                <a:off x="318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0" name="弧形 79">
                <a:extLst>
                  <a:ext uri="{FF2B5EF4-FFF2-40B4-BE49-F238E27FC236}">
                    <a16:creationId xmlns:a16="http://schemas.microsoft.com/office/drawing/2014/main" id="{1D44396D-3DAC-457D-A0B4-674C2066655C}"/>
                  </a:ext>
                </a:extLst>
              </p:cNvPr>
              <p:cNvSpPr/>
              <p:nvPr/>
            </p:nvSpPr>
            <p:spPr bwMode="auto">
              <a:xfrm flipH="1">
                <a:off x="318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1" name="弧形 80">
                <a:extLst>
                  <a:ext uri="{FF2B5EF4-FFF2-40B4-BE49-F238E27FC236}">
                    <a16:creationId xmlns:a16="http://schemas.microsoft.com/office/drawing/2014/main" id="{D2B1FE03-64CC-410C-A378-32697BE776A5}"/>
                  </a:ext>
                </a:extLst>
              </p:cNvPr>
              <p:cNvSpPr/>
              <p:nvPr/>
            </p:nvSpPr>
            <p:spPr bwMode="auto">
              <a:xfrm flipV="1">
                <a:off x="390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2" name="弧形 81">
                <a:extLst>
                  <a:ext uri="{FF2B5EF4-FFF2-40B4-BE49-F238E27FC236}">
                    <a16:creationId xmlns:a16="http://schemas.microsoft.com/office/drawing/2014/main" id="{079CF197-E414-4853-A58C-3BD7821433AF}"/>
                  </a:ext>
                </a:extLst>
              </p:cNvPr>
              <p:cNvSpPr/>
              <p:nvPr/>
            </p:nvSpPr>
            <p:spPr bwMode="auto">
              <a:xfrm flipH="1" flipV="1">
                <a:off x="390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3" name="弧形 82">
                <a:extLst>
                  <a:ext uri="{FF2B5EF4-FFF2-40B4-BE49-F238E27FC236}">
                    <a16:creationId xmlns:a16="http://schemas.microsoft.com/office/drawing/2014/main" id="{39CF1B7A-8047-4E90-B2AF-C90BEF17D202}"/>
                  </a:ext>
                </a:extLst>
              </p:cNvPr>
              <p:cNvSpPr/>
              <p:nvPr/>
            </p:nvSpPr>
            <p:spPr bwMode="auto">
              <a:xfrm>
                <a:off x="462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4" name="弧形 83">
                <a:extLst>
                  <a:ext uri="{FF2B5EF4-FFF2-40B4-BE49-F238E27FC236}">
                    <a16:creationId xmlns:a16="http://schemas.microsoft.com/office/drawing/2014/main" id="{2BFE3046-F416-4C10-B32A-02D277CA7682}"/>
                  </a:ext>
                </a:extLst>
              </p:cNvPr>
              <p:cNvSpPr/>
              <p:nvPr/>
            </p:nvSpPr>
            <p:spPr bwMode="auto">
              <a:xfrm flipH="1">
                <a:off x="462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5" name="弧形 84">
                <a:extLst>
                  <a:ext uri="{FF2B5EF4-FFF2-40B4-BE49-F238E27FC236}">
                    <a16:creationId xmlns:a16="http://schemas.microsoft.com/office/drawing/2014/main" id="{FD79F69A-329A-405B-88A0-51BD094CBD59}"/>
                  </a:ext>
                </a:extLst>
              </p:cNvPr>
              <p:cNvSpPr/>
              <p:nvPr/>
            </p:nvSpPr>
            <p:spPr bwMode="auto">
              <a:xfrm flipV="1">
                <a:off x="534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6" name="弧形 85">
                <a:extLst>
                  <a:ext uri="{FF2B5EF4-FFF2-40B4-BE49-F238E27FC236}">
                    <a16:creationId xmlns:a16="http://schemas.microsoft.com/office/drawing/2014/main" id="{E0DCF1D0-F596-4206-92F2-AFFFE2E256B8}"/>
                  </a:ext>
                </a:extLst>
              </p:cNvPr>
              <p:cNvSpPr/>
              <p:nvPr/>
            </p:nvSpPr>
            <p:spPr bwMode="auto">
              <a:xfrm flipH="1" flipV="1">
                <a:off x="534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7" name="弧形 86">
                <a:extLst>
                  <a:ext uri="{FF2B5EF4-FFF2-40B4-BE49-F238E27FC236}">
                    <a16:creationId xmlns:a16="http://schemas.microsoft.com/office/drawing/2014/main" id="{727601EF-AA7C-4ED6-9CCD-63EB030D0760}"/>
                  </a:ext>
                </a:extLst>
              </p:cNvPr>
              <p:cNvSpPr/>
              <p:nvPr/>
            </p:nvSpPr>
            <p:spPr bwMode="auto">
              <a:xfrm>
                <a:off x="606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8" name="弧形 87">
                <a:extLst>
                  <a:ext uri="{FF2B5EF4-FFF2-40B4-BE49-F238E27FC236}">
                    <a16:creationId xmlns:a16="http://schemas.microsoft.com/office/drawing/2014/main" id="{FEF3B6AB-F3CE-4791-A390-1B91007EA991}"/>
                  </a:ext>
                </a:extLst>
              </p:cNvPr>
              <p:cNvSpPr/>
              <p:nvPr/>
            </p:nvSpPr>
            <p:spPr bwMode="auto">
              <a:xfrm flipH="1">
                <a:off x="606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9" name="弧形 88">
                <a:extLst>
                  <a:ext uri="{FF2B5EF4-FFF2-40B4-BE49-F238E27FC236}">
                    <a16:creationId xmlns:a16="http://schemas.microsoft.com/office/drawing/2014/main" id="{E5671409-025C-488D-817C-027578DD058F}"/>
                  </a:ext>
                </a:extLst>
              </p:cNvPr>
              <p:cNvSpPr/>
              <p:nvPr/>
            </p:nvSpPr>
            <p:spPr bwMode="auto">
              <a:xfrm flipV="1">
                <a:off x="678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0" name="弧形 89">
                <a:extLst>
                  <a:ext uri="{FF2B5EF4-FFF2-40B4-BE49-F238E27FC236}">
                    <a16:creationId xmlns:a16="http://schemas.microsoft.com/office/drawing/2014/main" id="{37CAB3B0-7BD4-40DB-A3CA-6B5E2C79400E}"/>
                  </a:ext>
                </a:extLst>
              </p:cNvPr>
              <p:cNvSpPr/>
              <p:nvPr/>
            </p:nvSpPr>
            <p:spPr bwMode="auto">
              <a:xfrm flipH="1" flipV="1">
                <a:off x="678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5ABCD749-B609-491C-B73F-B9FB72E5E9EC}"/>
                </a:ext>
              </a:extLst>
            </p:cNvPr>
            <p:cNvGrpSpPr/>
            <p:nvPr/>
          </p:nvGrpSpPr>
          <p:grpSpPr>
            <a:xfrm>
              <a:off x="8055934" y="4536782"/>
              <a:ext cx="763477" cy="559651"/>
              <a:chOff x="1748901" y="2831223"/>
              <a:chExt cx="5760000" cy="1440754"/>
            </a:xfrm>
          </p:grpSpPr>
          <p:sp>
            <p:nvSpPr>
              <p:cNvPr id="59" name="弧形 58">
                <a:extLst>
                  <a:ext uri="{FF2B5EF4-FFF2-40B4-BE49-F238E27FC236}">
                    <a16:creationId xmlns:a16="http://schemas.microsoft.com/office/drawing/2014/main" id="{49F3D5EF-DCFF-414C-A2B3-00B35F5CF8B2}"/>
                  </a:ext>
                </a:extLst>
              </p:cNvPr>
              <p:cNvSpPr/>
              <p:nvPr/>
            </p:nvSpPr>
            <p:spPr bwMode="auto">
              <a:xfrm>
                <a:off x="174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0" name="弧形 59">
                <a:extLst>
                  <a:ext uri="{FF2B5EF4-FFF2-40B4-BE49-F238E27FC236}">
                    <a16:creationId xmlns:a16="http://schemas.microsoft.com/office/drawing/2014/main" id="{79AFA2E4-5D33-43A5-AB05-E949324EEDB9}"/>
                  </a:ext>
                </a:extLst>
              </p:cNvPr>
              <p:cNvSpPr/>
              <p:nvPr/>
            </p:nvSpPr>
            <p:spPr bwMode="auto">
              <a:xfrm flipH="1">
                <a:off x="174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1" name="弧形 60">
                <a:extLst>
                  <a:ext uri="{FF2B5EF4-FFF2-40B4-BE49-F238E27FC236}">
                    <a16:creationId xmlns:a16="http://schemas.microsoft.com/office/drawing/2014/main" id="{7EB253A7-7DFB-449B-970B-EE7835726CC0}"/>
                  </a:ext>
                </a:extLst>
              </p:cNvPr>
              <p:cNvSpPr/>
              <p:nvPr/>
            </p:nvSpPr>
            <p:spPr bwMode="auto">
              <a:xfrm flipV="1">
                <a:off x="246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弧形 61">
                <a:extLst>
                  <a:ext uri="{FF2B5EF4-FFF2-40B4-BE49-F238E27FC236}">
                    <a16:creationId xmlns:a16="http://schemas.microsoft.com/office/drawing/2014/main" id="{32CD3DFE-5AC2-456B-8E06-6D5E59B6D52B}"/>
                  </a:ext>
                </a:extLst>
              </p:cNvPr>
              <p:cNvSpPr/>
              <p:nvPr/>
            </p:nvSpPr>
            <p:spPr bwMode="auto">
              <a:xfrm flipH="1" flipV="1">
                <a:off x="246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弧形 62">
                <a:extLst>
                  <a:ext uri="{FF2B5EF4-FFF2-40B4-BE49-F238E27FC236}">
                    <a16:creationId xmlns:a16="http://schemas.microsoft.com/office/drawing/2014/main" id="{1E95B490-DD82-436D-8012-04CDA4937D04}"/>
                  </a:ext>
                </a:extLst>
              </p:cNvPr>
              <p:cNvSpPr/>
              <p:nvPr/>
            </p:nvSpPr>
            <p:spPr bwMode="auto">
              <a:xfrm>
                <a:off x="318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弧形 63">
                <a:extLst>
                  <a:ext uri="{FF2B5EF4-FFF2-40B4-BE49-F238E27FC236}">
                    <a16:creationId xmlns:a16="http://schemas.microsoft.com/office/drawing/2014/main" id="{93A90F66-7CEC-426F-B943-32CC1B0F1852}"/>
                  </a:ext>
                </a:extLst>
              </p:cNvPr>
              <p:cNvSpPr/>
              <p:nvPr/>
            </p:nvSpPr>
            <p:spPr bwMode="auto">
              <a:xfrm flipH="1">
                <a:off x="318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弧形 64">
                <a:extLst>
                  <a:ext uri="{FF2B5EF4-FFF2-40B4-BE49-F238E27FC236}">
                    <a16:creationId xmlns:a16="http://schemas.microsoft.com/office/drawing/2014/main" id="{06D48499-D365-4394-A7AA-D1DF0C6D3869}"/>
                  </a:ext>
                </a:extLst>
              </p:cNvPr>
              <p:cNvSpPr/>
              <p:nvPr/>
            </p:nvSpPr>
            <p:spPr bwMode="auto">
              <a:xfrm flipV="1">
                <a:off x="390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弧形 65">
                <a:extLst>
                  <a:ext uri="{FF2B5EF4-FFF2-40B4-BE49-F238E27FC236}">
                    <a16:creationId xmlns:a16="http://schemas.microsoft.com/office/drawing/2014/main" id="{16D88510-80D8-4068-A611-263BCD4CC09C}"/>
                  </a:ext>
                </a:extLst>
              </p:cNvPr>
              <p:cNvSpPr/>
              <p:nvPr/>
            </p:nvSpPr>
            <p:spPr bwMode="auto">
              <a:xfrm flipH="1" flipV="1">
                <a:off x="390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弧形 66">
                <a:extLst>
                  <a:ext uri="{FF2B5EF4-FFF2-40B4-BE49-F238E27FC236}">
                    <a16:creationId xmlns:a16="http://schemas.microsoft.com/office/drawing/2014/main" id="{D1C7F7CB-BF5C-4697-AB4F-290D0DAE5548}"/>
                  </a:ext>
                </a:extLst>
              </p:cNvPr>
              <p:cNvSpPr/>
              <p:nvPr/>
            </p:nvSpPr>
            <p:spPr bwMode="auto">
              <a:xfrm>
                <a:off x="462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8" name="弧形 67">
                <a:extLst>
                  <a:ext uri="{FF2B5EF4-FFF2-40B4-BE49-F238E27FC236}">
                    <a16:creationId xmlns:a16="http://schemas.microsoft.com/office/drawing/2014/main" id="{232595FA-405F-4818-8B81-8EEB17C2AB7E}"/>
                  </a:ext>
                </a:extLst>
              </p:cNvPr>
              <p:cNvSpPr/>
              <p:nvPr/>
            </p:nvSpPr>
            <p:spPr bwMode="auto">
              <a:xfrm flipH="1">
                <a:off x="462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9" name="弧形 68">
                <a:extLst>
                  <a:ext uri="{FF2B5EF4-FFF2-40B4-BE49-F238E27FC236}">
                    <a16:creationId xmlns:a16="http://schemas.microsoft.com/office/drawing/2014/main" id="{9E1BFF09-8F93-4277-AC29-77DD52780A40}"/>
                  </a:ext>
                </a:extLst>
              </p:cNvPr>
              <p:cNvSpPr/>
              <p:nvPr/>
            </p:nvSpPr>
            <p:spPr bwMode="auto">
              <a:xfrm flipV="1">
                <a:off x="534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0" name="弧形 69">
                <a:extLst>
                  <a:ext uri="{FF2B5EF4-FFF2-40B4-BE49-F238E27FC236}">
                    <a16:creationId xmlns:a16="http://schemas.microsoft.com/office/drawing/2014/main" id="{1A8834C5-F4A5-48BB-96BB-624944025488}"/>
                  </a:ext>
                </a:extLst>
              </p:cNvPr>
              <p:cNvSpPr/>
              <p:nvPr/>
            </p:nvSpPr>
            <p:spPr bwMode="auto">
              <a:xfrm flipH="1" flipV="1">
                <a:off x="534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1" name="弧形 70">
                <a:extLst>
                  <a:ext uri="{FF2B5EF4-FFF2-40B4-BE49-F238E27FC236}">
                    <a16:creationId xmlns:a16="http://schemas.microsoft.com/office/drawing/2014/main" id="{51620B78-2EE8-4C98-A3E3-9C0211BE6BFF}"/>
                  </a:ext>
                </a:extLst>
              </p:cNvPr>
              <p:cNvSpPr/>
              <p:nvPr/>
            </p:nvSpPr>
            <p:spPr bwMode="auto">
              <a:xfrm>
                <a:off x="606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2" name="弧形 71">
                <a:extLst>
                  <a:ext uri="{FF2B5EF4-FFF2-40B4-BE49-F238E27FC236}">
                    <a16:creationId xmlns:a16="http://schemas.microsoft.com/office/drawing/2014/main" id="{902D357C-9023-47D2-B28B-AF013C254A6C}"/>
                  </a:ext>
                </a:extLst>
              </p:cNvPr>
              <p:cNvSpPr/>
              <p:nvPr/>
            </p:nvSpPr>
            <p:spPr bwMode="auto">
              <a:xfrm flipH="1">
                <a:off x="606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3" name="弧形 72">
                <a:extLst>
                  <a:ext uri="{FF2B5EF4-FFF2-40B4-BE49-F238E27FC236}">
                    <a16:creationId xmlns:a16="http://schemas.microsoft.com/office/drawing/2014/main" id="{EA13F6CE-FCF6-4C3F-8ED2-2CB33E28505D}"/>
                  </a:ext>
                </a:extLst>
              </p:cNvPr>
              <p:cNvSpPr/>
              <p:nvPr/>
            </p:nvSpPr>
            <p:spPr bwMode="auto">
              <a:xfrm flipV="1">
                <a:off x="678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4" name="弧形 73">
                <a:extLst>
                  <a:ext uri="{FF2B5EF4-FFF2-40B4-BE49-F238E27FC236}">
                    <a16:creationId xmlns:a16="http://schemas.microsoft.com/office/drawing/2014/main" id="{8A84AD83-E649-4CAF-BCC8-30248556DC29}"/>
                  </a:ext>
                </a:extLst>
              </p:cNvPr>
              <p:cNvSpPr/>
              <p:nvPr/>
            </p:nvSpPr>
            <p:spPr bwMode="auto">
              <a:xfrm flipH="1" flipV="1">
                <a:off x="678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09C2BA16-498F-4FAB-A2B6-42B8DD21C0BA}"/>
                </a:ext>
              </a:extLst>
            </p:cNvPr>
            <p:cNvGrpSpPr/>
            <p:nvPr/>
          </p:nvGrpSpPr>
          <p:grpSpPr>
            <a:xfrm>
              <a:off x="9135934" y="4536489"/>
              <a:ext cx="763477" cy="559651"/>
              <a:chOff x="1748901" y="2831223"/>
              <a:chExt cx="5760000" cy="1440754"/>
            </a:xfrm>
          </p:grpSpPr>
          <p:sp>
            <p:nvSpPr>
              <p:cNvPr id="43" name="弧形 42">
                <a:extLst>
                  <a:ext uri="{FF2B5EF4-FFF2-40B4-BE49-F238E27FC236}">
                    <a16:creationId xmlns:a16="http://schemas.microsoft.com/office/drawing/2014/main" id="{28B2F06B-13FE-4F18-8540-2D7161B3B32E}"/>
                  </a:ext>
                </a:extLst>
              </p:cNvPr>
              <p:cNvSpPr/>
              <p:nvPr/>
            </p:nvSpPr>
            <p:spPr bwMode="auto">
              <a:xfrm>
                <a:off x="174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4" name="弧形 43">
                <a:extLst>
                  <a:ext uri="{FF2B5EF4-FFF2-40B4-BE49-F238E27FC236}">
                    <a16:creationId xmlns:a16="http://schemas.microsoft.com/office/drawing/2014/main" id="{D0CB3160-6828-4088-8B07-A0A98CF743A1}"/>
                  </a:ext>
                </a:extLst>
              </p:cNvPr>
              <p:cNvSpPr/>
              <p:nvPr/>
            </p:nvSpPr>
            <p:spPr bwMode="auto">
              <a:xfrm flipH="1">
                <a:off x="174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5" name="弧形 44">
                <a:extLst>
                  <a:ext uri="{FF2B5EF4-FFF2-40B4-BE49-F238E27FC236}">
                    <a16:creationId xmlns:a16="http://schemas.microsoft.com/office/drawing/2014/main" id="{218F7800-D3E5-495E-96C2-B221B410EB04}"/>
                  </a:ext>
                </a:extLst>
              </p:cNvPr>
              <p:cNvSpPr/>
              <p:nvPr/>
            </p:nvSpPr>
            <p:spPr bwMode="auto">
              <a:xfrm flipV="1">
                <a:off x="246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6" name="弧形 45">
                <a:extLst>
                  <a:ext uri="{FF2B5EF4-FFF2-40B4-BE49-F238E27FC236}">
                    <a16:creationId xmlns:a16="http://schemas.microsoft.com/office/drawing/2014/main" id="{E7EFB688-3823-4130-909F-D3715A9391F0}"/>
                  </a:ext>
                </a:extLst>
              </p:cNvPr>
              <p:cNvSpPr/>
              <p:nvPr/>
            </p:nvSpPr>
            <p:spPr bwMode="auto">
              <a:xfrm flipH="1" flipV="1">
                <a:off x="246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7" name="弧形 46">
                <a:extLst>
                  <a:ext uri="{FF2B5EF4-FFF2-40B4-BE49-F238E27FC236}">
                    <a16:creationId xmlns:a16="http://schemas.microsoft.com/office/drawing/2014/main" id="{137DCBC0-A666-47C1-B474-7B518F986D1D}"/>
                  </a:ext>
                </a:extLst>
              </p:cNvPr>
              <p:cNvSpPr/>
              <p:nvPr/>
            </p:nvSpPr>
            <p:spPr bwMode="auto">
              <a:xfrm>
                <a:off x="318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8" name="弧形 47">
                <a:extLst>
                  <a:ext uri="{FF2B5EF4-FFF2-40B4-BE49-F238E27FC236}">
                    <a16:creationId xmlns:a16="http://schemas.microsoft.com/office/drawing/2014/main" id="{ED2CF29A-71E0-42E7-8A3F-71909A574CAA}"/>
                  </a:ext>
                </a:extLst>
              </p:cNvPr>
              <p:cNvSpPr/>
              <p:nvPr/>
            </p:nvSpPr>
            <p:spPr bwMode="auto">
              <a:xfrm flipH="1">
                <a:off x="318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9" name="弧形 48">
                <a:extLst>
                  <a:ext uri="{FF2B5EF4-FFF2-40B4-BE49-F238E27FC236}">
                    <a16:creationId xmlns:a16="http://schemas.microsoft.com/office/drawing/2014/main" id="{9649A618-4CB3-450E-A1AD-DFC0DC908AA3}"/>
                  </a:ext>
                </a:extLst>
              </p:cNvPr>
              <p:cNvSpPr/>
              <p:nvPr/>
            </p:nvSpPr>
            <p:spPr bwMode="auto">
              <a:xfrm flipV="1">
                <a:off x="390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0" name="弧形 49">
                <a:extLst>
                  <a:ext uri="{FF2B5EF4-FFF2-40B4-BE49-F238E27FC236}">
                    <a16:creationId xmlns:a16="http://schemas.microsoft.com/office/drawing/2014/main" id="{656CCD26-90D8-4508-BAFA-B88E56BD7F0F}"/>
                  </a:ext>
                </a:extLst>
              </p:cNvPr>
              <p:cNvSpPr/>
              <p:nvPr/>
            </p:nvSpPr>
            <p:spPr bwMode="auto">
              <a:xfrm flipH="1" flipV="1">
                <a:off x="3908901" y="2831977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1" name="弧形 50">
                <a:extLst>
                  <a:ext uri="{FF2B5EF4-FFF2-40B4-BE49-F238E27FC236}">
                    <a16:creationId xmlns:a16="http://schemas.microsoft.com/office/drawing/2014/main" id="{125BF149-C560-4B8E-A2E0-6EA0E0B85F55}"/>
                  </a:ext>
                </a:extLst>
              </p:cNvPr>
              <p:cNvSpPr/>
              <p:nvPr/>
            </p:nvSpPr>
            <p:spPr bwMode="auto">
              <a:xfrm>
                <a:off x="462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2" name="弧形 51">
                <a:extLst>
                  <a:ext uri="{FF2B5EF4-FFF2-40B4-BE49-F238E27FC236}">
                    <a16:creationId xmlns:a16="http://schemas.microsoft.com/office/drawing/2014/main" id="{B796AB68-7716-4CA2-A42C-04A36FB7E1F3}"/>
                  </a:ext>
                </a:extLst>
              </p:cNvPr>
              <p:cNvSpPr/>
              <p:nvPr/>
            </p:nvSpPr>
            <p:spPr bwMode="auto">
              <a:xfrm flipH="1">
                <a:off x="462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3" name="弧形 52">
                <a:extLst>
                  <a:ext uri="{FF2B5EF4-FFF2-40B4-BE49-F238E27FC236}">
                    <a16:creationId xmlns:a16="http://schemas.microsoft.com/office/drawing/2014/main" id="{57BA634E-9977-4420-9B31-800B5CC21E97}"/>
                  </a:ext>
                </a:extLst>
              </p:cNvPr>
              <p:cNvSpPr/>
              <p:nvPr/>
            </p:nvSpPr>
            <p:spPr bwMode="auto">
              <a:xfrm flipV="1">
                <a:off x="534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4" name="弧形 53">
                <a:extLst>
                  <a:ext uri="{FF2B5EF4-FFF2-40B4-BE49-F238E27FC236}">
                    <a16:creationId xmlns:a16="http://schemas.microsoft.com/office/drawing/2014/main" id="{C3901DD3-36E9-4117-A8C2-83CEBFD83124}"/>
                  </a:ext>
                </a:extLst>
              </p:cNvPr>
              <p:cNvSpPr/>
              <p:nvPr/>
            </p:nvSpPr>
            <p:spPr bwMode="auto">
              <a:xfrm flipH="1" flipV="1">
                <a:off x="534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5" name="弧形 54">
                <a:extLst>
                  <a:ext uri="{FF2B5EF4-FFF2-40B4-BE49-F238E27FC236}">
                    <a16:creationId xmlns:a16="http://schemas.microsoft.com/office/drawing/2014/main" id="{F34F24C6-414D-4757-9F48-1E4EC35C2E3A}"/>
                  </a:ext>
                </a:extLst>
              </p:cNvPr>
              <p:cNvSpPr/>
              <p:nvPr/>
            </p:nvSpPr>
            <p:spPr bwMode="auto">
              <a:xfrm>
                <a:off x="606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6" name="弧形 55">
                <a:extLst>
                  <a:ext uri="{FF2B5EF4-FFF2-40B4-BE49-F238E27FC236}">
                    <a16:creationId xmlns:a16="http://schemas.microsoft.com/office/drawing/2014/main" id="{4965D9D4-005B-4D56-8F81-372571F227D4}"/>
                  </a:ext>
                </a:extLst>
              </p:cNvPr>
              <p:cNvSpPr/>
              <p:nvPr/>
            </p:nvSpPr>
            <p:spPr bwMode="auto">
              <a:xfrm flipH="1">
                <a:off x="606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7" name="弧形 56">
                <a:extLst>
                  <a:ext uri="{FF2B5EF4-FFF2-40B4-BE49-F238E27FC236}">
                    <a16:creationId xmlns:a16="http://schemas.microsoft.com/office/drawing/2014/main" id="{76EC8746-BE2B-4B0D-846A-BC29B43DEDA9}"/>
                  </a:ext>
                </a:extLst>
              </p:cNvPr>
              <p:cNvSpPr/>
              <p:nvPr/>
            </p:nvSpPr>
            <p:spPr bwMode="auto">
              <a:xfrm flipV="1">
                <a:off x="678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8" name="弧形 57">
                <a:extLst>
                  <a:ext uri="{FF2B5EF4-FFF2-40B4-BE49-F238E27FC236}">
                    <a16:creationId xmlns:a16="http://schemas.microsoft.com/office/drawing/2014/main" id="{1FD43192-141E-405D-B07B-7EB11D4FDE19}"/>
                  </a:ext>
                </a:extLst>
              </p:cNvPr>
              <p:cNvSpPr/>
              <p:nvPr/>
            </p:nvSpPr>
            <p:spPr bwMode="auto">
              <a:xfrm flipH="1" flipV="1">
                <a:off x="6788901" y="2831223"/>
                <a:ext cx="720000" cy="1440000"/>
              </a:xfrm>
              <a:prstGeom prst="arc">
                <a:avLst>
                  <a:gd name="adj1" fmla="val 16200000"/>
                  <a:gd name="adj2" fmla="val 0"/>
                </a:avLst>
              </a:prstGeom>
              <a:noFill/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BFCFBA18-2BE7-45D2-BFD4-C939DE0FD191}"/>
                </a:ext>
              </a:extLst>
            </p:cNvPr>
            <p:cNvGrpSpPr/>
            <p:nvPr/>
          </p:nvGrpSpPr>
          <p:grpSpPr>
            <a:xfrm>
              <a:off x="10267290" y="4576075"/>
              <a:ext cx="933635" cy="240093"/>
              <a:chOff x="9028590" y="3045041"/>
              <a:chExt cx="933635" cy="587299"/>
            </a:xfrm>
          </p:grpSpPr>
          <p:cxnSp>
            <p:nvCxnSpPr>
              <p:cNvPr id="40" name="直線接點 39">
                <a:extLst>
                  <a:ext uri="{FF2B5EF4-FFF2-40B4-BE49-F238E27FC236}">
                    <a16:creationId xmlns:a16="http://schemas.microsoft.com/office/drawing/2014/main" id="{0965CC80-9BB9-487E-9FF4-E879E36B1628}"/>
                  </a:ext>
                </a:extLst>
              </p:cNvPr>
              <p:cNvCxnSpPr/>
              <p:nvPr/>
            </p:nvCxnSpPr>
            <p:spPr bwMode="auto">
              <a:xfrm flipV="1">
                <a:off x="9028590" y="3045041"/>
                <a:ext cx="0" cy="574018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" name="直線接點 40">
                <a:extLst>
                  <a:ext uri="{FF2B5EF4-FFF2-40B4-BE49-F238E27FC236}">
                    <a16:creationId xmlns:a16="http://schemas.microsoft.com/office/drawing/2014/main" id="{D38A3DE8-4718-4367-BC8E-BF5CB413B1D4}"/>
                  </a:ext>
                </a:extLst>
              </p:cNvPr>
              <p:cNvCxnSpPr/>
              <p:nvPr/>
            </p:nvCxnSpPr>
            <p:spPr bwMode="auto">
              <a:xfrm>
                <a:off x="9028590" y="3045041"/>
                <a:ext cx="933635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2" name="直線接點 41">
                <a:extLst>
                  <a:ext uri="{FF2B5EF4-FFF2-40B4-BE49-F238E27FC236}">
                    <a16:creationId xmlns:a16="http://schemas.microsoft.com/office/drawing/2014/main" id="{A74A2922-1E93-4753-B47A-D8C77B637264}"/>
                  </a:ext>
                </a:extLst>
              </p:cNvPr>
              <p:cNvCxnSpPr/>
              <p:nvPr/>
            </p:nvCxnSpPr>
            <p:spPr bwMode="auto">
              <a:xfrm flipV="1">
                <a:off x="9962225" y="3058322"/>
                <a:ext cx="0" cy="574018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0BD60087-0C5C-4895-B9B7-210F010A4037}"/>
                </a:ext>
              </a:extLst>
            </p:cNvPr>
            <p:cNvCxnSpPr>
              <a:endCxn id="156" idx="2"/>
            </p:cNvCxnSpPr>
            <p:nvPr/>
          </p:nvCxnSpPr>
          <p:spPr bwMode="auto">
            <a:xfrm>
              <a:off x="856843" y="4816168"/>
              <a:ext cx="719091" cy="293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03E7EE9D-0BA3-47C2-B37F-DA6CDFD4A9A3}"/>
                </a:ext>
              </a:extLst>
            </p:cNvPr>
            <p:cNvCxnSpPr>
              <a:stCxn id="169" idx="2"/>
              <a:endCxn id="140" idx="2"/>
            </p:cNvCxnSpPr>
            <p:nvPr/>
          </p:nvCxnSpPr>
          <p:spPr bwMode="auto">
            <a:xfrm>
              <a:off x="2339411" y="4816168"/>
              <a:ext cx="316523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62B289B5-3DA2-4D1B-815D-6BF2949E73F1}"/>
                </a:ext>
              </a:extLst>
            </p:cNvPr>
            <p:cNvCxnSpPr>
              <a:stCxn id="153" idx="2"/>
              <a:endCxn id="124" idx="2"/>
            </p:cNvCxnSpPr>
            <p:nvPr/>
          </p:nvCxnSpPr>
          <p:spPr bwMode="auto">
            <a:xfrm>
              <a:off x="3419411" y="4817632"/>
              <a:ext cx="316523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3DC18503-EFD0-4B8A-B2D5-7DB9C2D9F7C7}"/>
                </a:ext>
              </a:extLst>
            </p:cNvPr>
            <p:cNvCxnSpPr>
              <a:stCxn id="137" idx="2"/>
              <a:endCxn id="108" idx="2"/>
            </p:cNvCxnSpPr>
            <p:nvPr/>
          </p:nvCxnSpPr>
          <p:spPr bwMode="auto">
            <a:xfrm>
              <a:off x="4499411" y="4817339"/>
              <a:ext cx="316523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46BB3FC9-632B-4CEC-875B-976FDA9D17BB}"/>
                </a:ext>
              </a:extLst>
            </p:cNvPr>
            <p:cNvCxnSpPr>
              <a:stCxn id="121" idx="2"/>
              <a:endCxn id="92" idx="2"/>
            </p:cNvCxnSpPr>
            <p:nvPr/>
          </p:nvCxnSpPr>
          <p:spPr bwMode="auto">
            <a:xfrm>
              <a:off x="5579411" y="4817046"/>
              <a:ext cx="316523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D9BABAC0-5BEC-47D4-8809-FDCCE5BCC97B}"/>
                </a:ext>
              </a:extLst>
            </p:cNvPr>
            <p:cNvCxnSpPr>
              <a:stCxn id="105" idx="2"/>
              <a:endCxn id="76" idx="2"/>
            </p:cNvCxnSpPr>
            <p:nvPr/>
          </p:nvCxnSpPr>
          <p:spPr bwMode="auto">
            <a:xfrm>
              <a:off x="6659411" y="4816754"/>
              <a:ext cx="316523" cy="293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C524527E-C3AD-4A61-AAA2-779451B9B7D1}"/>
                </a:ext>
              </a:extLst>
            </p:cNvPr>
            <p:cNvCxnSpPr>
              <a:endCxn id="60" idx="2"/>
            </p:cNvCxnSpPr>
            <p:nvPr/>
          </p:nvCxnSpPr>
          <p:spPr bwMode="auto">
            <a:xfrm>
              <a:off x="7739411" y="4816168"/>
              <a:ext cx="316523" cy="586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B0AE446F-984C-4DCD-8761-05E8FB56BCF1}"/>
                </a:ext>
              </a:extLst>
            </p:cNvPr>
            <p:cNvCxnSpPr>
              <a:stCxn id="73" idx="2"/>
              <a:endCxn id="44" idx="2"/>
            </p:cNvCxnSpPr>
            <p:nvPr/>
          </p:nvCxnSpPr>
          <p:spPr bwMode="auto">
            <a:xfrm>
              <a:off x="8819411" y="4816461"/>
              <a:ext cx="316523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810C3402-8055-4343-8CFB-0BC6384A62BB}"/>
                </a:ext>
              </a:extLst>
            </p:cNvPr>
            <p:cNvCxnSpPr>
              <a:stCxn id="57" idx="2"/>
            </p:cNvCxnSpPr>
            <p:nvPr/>
          </p:nvCxnSpPr>
          <p:spPr bwMode="auto">
            <a:xfrm>
              <a:off x="9899411" y="4816168"/>
              <a:ext cx="36787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47F53BD3-6B5D-4E52-A41C-8B7332BE1763}"/>
                </a:ext>
              </a:extLst>
            </p:cNvPr>
            <p:cNvCxnSpPr/>
            <p:nvPr/>
          </p:nvCxnSpPr>
          <p:spPr bwMode="auto">
            <a:xfrm flipV="1">
              <a:off x="11200921" y="4817339"/>
              <a:ext cx="692943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" name="右大括弧 24">
              <a:extLst>
                <a:ext uri="{FF2B5EF4-FFF2-40B4-BE49-F238E27FC236}">
                  <a16:creationId xmlns:a16="http://schemas.microsoft.com/office/drawing/2014/main" id="{4BEA879C-AE7A-406B-B8F9-18DA50E17025}"/>
                </a:ext>
              </a:extLst>
            </p:cNvPr>
            <p:cNvSpPr/>
            <p:nvPr/>
          </p:nvSpPr>
          <p:spPr bwMode="auto">
            <a:xfrm rot="5400000">
              <a:off x="5562833" y="1307125"/>
              <a:ext cx="349680" cy="8323479"/>
            </a:xfrm>
            <a:prstGeom prst="rightBrace">
              <a:avLst/>
            </a:prstGeom>
            <a:noFill/>
            <a:ln w="254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右大括弧 25">
              <a:extLst>
                <a:ext uri="{FF2B5EF4-FFF2-40B4-BE49-F238E27FC236}">
                  <a16:creationId xmlns:a16="http://schemas.microsoft.com/office/drawing/2014/main" id="{E51418EC-0BE0-4020-B8CD-FC32D276BF3C}"/>
                </a:ext>
              </a:extLst>
            </p:cNvPr>
            <p:cNvSpPr/>
            <p:nvPr/>
          </p:nvSpPr>
          <p:spPr bwMode="auto">
            <a:xfrm rot="5400000">
              <a:off x="10559265" y="5002049"/>
              <a:ext cx="349680" cy="933631"/>
            </a:xfrm>
            <a:prstGeom prst="rightBrace">
              <a:avLst/>
            </a:prstGeom>
            <a:noFill/>
            <a:ln w="254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E9889B04-9B19-4505-9276-9C0C7959CA26}"/>
                </a:ext>
              </a:extLst>
            </p:cNvPr>
            <p:cNvSpPr txBox="1"/>
            <p:nvPr/>
          </p:nvSpPr>
          <p:spPr>
            <a:xfrm>
              <a:off x="4428646" y="5655459"/>
              <a:ext cx="25946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/>
                <a:t>Touch normal sensing</a:t>
              </a:r>
              <a:endParaRPr lang="zh-TW" altLang="en-US" sz="1400" dirty="0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6C873413-604E-43F4-81B1-A5A1720DDF16}"/>
                </a:ext>
              </a:extLst>
            </p:cNvPr>
            <p:cNvSpPr txBox="1"/>
            <p:nvPr/>
          </p:nvSpPr>
          <p:spPr>
            <a:xfrm>
              <a:off x="9777338" y="5655459"/>
              <a:ext cx="19180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/>
                <a:t>Listen sensing</a:t>
              </a:r>
              <a:endParaRPr lang="zh-TW" altLang="en-US" sz="1400" dirty="0"/>
            </a:p>
          </p:txBody>
        </p:sp>
        <p:sp>
          <p:nvSpPr>
            <p:cNvPr id="29" name="星形: 三十二角 28">
              <a:extLst>
                <a:ext uri="{FF2B5EF4-FFF2-40B4-BE49-F238E27FC236}">
                  <a16:creationId xmlns:a16="http://schemas.microsoft.com/office/drawing/2014/main" id="{A52A257D-5D54-45B1-8E8B-7E52B6ED06E7}"/>
                </a:ext>
              </a:extLst>
            </p:cNvPr>
            <p:cNvSpPr/>
            <p:nvPr/>
          </p:nvSpPr>
          <p:spPr bwMode="auto">
            <a:xfrm>
              <a:off x="9834196" y="4083941"/>
              <a:ext cx="1810686" cy="1210084"/>
            </a:xfrm>
            <a:prstGeom prst="star32">
              <a:avLst>
                <a:gd name="adj" fmla="val 39514"/>
              </a:avLst>
            </a:prstGeom>
            <a:noFill/>
            <a:ln w="38100" cap="flat" cmpd="sng" algn="ctr">
              <a:solidFill>
                <a:schemeClr val="accent3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endParaRPr>
            </a:p>
          </p:txBody>
        </p: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EB16A5C6-7AD6-4636-8BBF-B2A0C6032A3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77227" y="3861302"/>
              <a:ext cx="405969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3366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950C2E0C-33C4-48A9-8F83-47DD60295EE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283473" y="3861792"/>
              <a:ext cx="1" cy="213143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3366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5EF66F96-FCE6-4358-A82E-7C72B5DD6A9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83196" y="4077077"/>
              <a:ext cx="59019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3366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A08B93F7-5BCA-4654-8536-361D00994BE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338847" y="3859014"/>
              <a:ext cx="10076877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3366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2BA21176-2019-4E66-A5AE-2694C1928F6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338847" y="3861792"/>
              <a:ext cx="1" cy="213143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3366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6439F61A-F76E-4B28-A9D5-3B8648D27F7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1416001" y="3861792"/>
              <a:ext cx="2" cy="213143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3366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5EEB6BAC-D6AC-41BF-A32F-1089434346D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415724" y="4077077"/>
              <a:ext cx="59019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3366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A31FF195-41DE-4FF2-9249-938C92EBE92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1471375" y="3861792"/>
              <a:ext cx="2" cy="213143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3366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" name="直線單箭頭接點 37">
              <a:extLst>
                <a:ext uri="{FF2B5EF4-FFF2-40B4-BE49-F238E27FC236}">
                  <a16:creationId xmlns:a16="http://schemas.microsoft.com/office/drawing/2014/main" id="{00F56376-8AC1-42E3-A6DD-56F57831D18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1474743" y="3856237"/>
              <a:ext cx="380031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3366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85E262E7-B8C8-4F0E-80FB-1F26881A40CE}"/>
                </a:ext>
              </a:extLst>
            </p:cNvPr>
            <p:cNvSpPr/>
            <p:nvPr/>
          </p:nvSpPr>
          <p:spPr>
            <a:xfrm>
              <a:off x="140367" y="3730071"/>
              <a:ext cx="80502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400" b="0" dirty="0"/>
                <a:t>VSYNC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0009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0CDD0A-12D5-4B60-BC2A-E69F0D2BE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Partition Detection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799C62-0A1A-48F9-BFCF-84AA63B8A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8" y="1338263"/>
            <a:ext cx="6126234" cy="2822929"/>
          </a:xfrm>
        </p:spPr>
        <p:txBody>
          <a:bodyPr/>
          <a:lstStyle/>
          <a:p>
            <a:r>
              <a:rPr lang="en-US" altLang="zh-TW" sz="1600" dirty="0"/>
              <a:t>HX83192-A's AFE architecture is mux-4. Sensing 4 times will make a TP raw data. </a:t>
            </a:r>
          </a:p>
          <a:p>
            <a:endParaRPr lang="en-US" altLang="zh-TW" sz="1600" dirty="0"/>
          </a:p>
          <a:p>
            <a:r>
              <a:rPr lang="en-US" altLang="zh-TW" sz="1600" dirty="0"/>
              <a:t>Currently, there are 10 TPENs on each display frame, we use one TPEN for sensor Open/Short diagnosis. </a:t>
            </a:r>
          </a:p>
          <a:p>
            <a:endParaRPr lang="en-US" altLang="zh-TW" sz="1600" dirty="0"/>
          </a:p>
          <a:p>
            <a:r>
              <a:rPr lang="en-US" altLang="zh-TW" sz="1600" dirty="0"/>
              <a:t>Due to sensing behavior, totally it should take 8 display frames for a whole open/short diagnosis data.  </a:t>
            </a:r>
          </a:p>
          <a:p>
            <a:pPr lvl="1"/>
            <a:r>
              <a:rPr lang="en-US" altLang="zh-TW" sz="1400" dirty="0"/>
              <a:t>Ex: Display 60Hz: should take 133.33ms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EAF212-BEC1-4331-9C22-1FAC4A7FF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A1FF622-8368-4995-8436-5D4C47F1DAC8}"/>
              </a:ext>
            </a:extLst>
          </p:cNvPr>
          <p:cNvSpPr txBox="1"/>
          <p:nvPr/>
        </p:nvSpPr>
        <p:spPr>
          <a:xfrm>
            <a:off x="9521646" y="4141357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/>
              <a:t>Time</a:t>
            </a:r>
            <a:endParaRPr lang="zh-TW" altLang="en-US" sz="10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562FB25-77E4-419A-975C-DD516CB2C2C4}"/>
              </a:ext>
            </a:extLst>
          </p:cNvPr>
          <p:cNvSpPr/>
          <p:nvPr/>
        </p:nvSpPr>
        <p:spPr>
          <a:xfrm>
            <a:off x="2394382" y="4661742"/>
            <a:ext cx="7136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/>
              <a:t>VSYNC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9A2125-675D-4FA5-93D2-696A5B8B8FAD}"/>
              </a:ext>
            </a:extLst>
          </p:cNvPr>
          <p:cNvSpPr/>
          <p:nvPr/>
        </p:nvSpPr>
        <p:spPr>
          <a:xfrm>
            <a:off x="2269533" y="5022757"/>
            <a:ext cx="9509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/>
              <a:t>TP Frame</a:t>
            </a:r>
          </a:p>
          <a:p>
            <a:r>
              <a:rPr lang="en-US" altLang="zh-TW" sz="1000" dirty="0"/>
              <a:t>Data Process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C38CE2-F515-4E8E-A51B-EF56BD5436E9}"/>
              </a:ext>
            </a:extLst>
          </p:cNvPr>
          <p:cNvSpPr/>
          <p:nvPr/>
        </p:nvSpPr>
        <p:spPr>
          <a:xfrm>
            <a:off x="2297930" y="5544499"/>
            <a:ext cx="87075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/>
              <a:t>Sensor </a:t>
            </a:r>
          </a:p>
          <a:p>
            <a:r>
              <a:rPr lang="en-US" altLang="zh-TW" sz="1000" dirty="0"/>
              <a:t>Open/Short </a:t>
            </a:r>
          </a:p>
          <a:p>
            <a:r>
              <a:rPr lang="en-US" altLang="zh-TW" sz="1000" dirty="0"/>
              <a:t>Diagnosis. 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66BAC4A9-850C-4504-8497-53193EF37DDB}"/>
              </a:ext>
            </a:extLst>
          </p:cNvPr>
          <p:cNvCxnSpPr>
            <a:cxnSpLocks/>
          </p:cNvCxnSpPr>
          <p:nvPr/>
        </p:nvCxnSpPr>
        <p:spPr bwMode="auto">
          <a:xfrm flipV="1">
            <a:off x="3118727" y="4365854"/>
            <a:ext cx="6840000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98A8A6B-EF06-4CDE-968B-7F0255693440}"/>
              </a:ext>
            </a:extLst>
          </p:cNvPr>
          <p:cNvCxnSpPr>
            <a:cxnSpLocks/>
          </p:cNvCxnSpPr>
          <p:nvPr/>
        </p:nvCxnSpPr>
        <p:spPr bwMode="auto">
          <a:xfrm flipV="1">
            <a:off x="3148607" y="4673538"/>
            <a:ext cx="103426" cy="109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F2368156-98FF-44B0-B821-D1A81312AE2B}"/>
              </a:ext>
            </a:extLst>
          </p:cNvPr>
          <p:cNvCxnSpPr>
            <a:cxnSpLocks/>
          </p:cNvCxnSpPr>
          <p:nvPr/>
        </p:nvCxnSpPr>
        <p:spPr bwMode="auto">
          <a:xfrm flipH="1">
            <a:off x="3252033" y="4674633"/>
            <a:ext cx="1" cy="21314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79A2E823-D5E1-41C2-9A3F-57D30DAD6143}"/>
              </a:ext>
            </a:extLst>
          </p:cNvPr>
          <p:cNvCxnSpPr>
            <a:cxnSpLocks/>
          </p:cNvCxnSpPr>
          <p:nvPr/>
        </p:nvCxnSpPr>
        <p:spPr bwMode="auto">
          <a:xfrm>
            <a:off x="3253250" y="4884108"/>
            <a:ext cx="32070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3B0C7E0F-A806-4A3C-992D-F747BBC0532D}"/>
              </a:ext>
            </a:extLst>
          </p:cNvPr>
          <p:cNvCxnSpPr>
            <a:cxnSpLocks/>
          </p:cNvCxnSpPr>
          <p:nvPr/>
        </p:nvCxnSpPr>
        <p:spPr bwMode="auto">
          <a:xfrm>
            <a:off x="3279518" y="4670965"/>
            <a:ext cx="806723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DA8A2795-B3E8-4FA7-A38B-2D5781557D71}"/>
              </a:ext>
            </a:extLst>
          </p:cNvPr>
          <p:cNvCxnSpPr>
            <a:cxnSpLocks/>
          </p:cNvCxnSpPr>
          <p:nvPr/>
        </p:nvCxnSpPr>
        <p:spPr bwMode="auto">
          <a:xfrm flipH="1">
            <a:off x="3281953" y="4668825"/>
            <a:ext cx="1" cy="21314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FB0DCAA1-ACBF-40DB-B505-B41E49835D40}"/>
              </a:ext>
            </a:extLst>
          </p:cNvPr>
          <p:cNvCxnSpPr>
            <a:cxnSpLocks/>
          </p:cNvCxnSpPr>
          <p:nvPr/>
        </p:nvCxnSpPr>
        <p:spPr bwMode="auto">
          <a:xfrm flipH="1">
            <a:off x="4086240" y="4668825"/>
            <a:ext cx="1" cy="21314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58123E3-B7AF-449E-A305-A8D9A0336802}"/>
              </a:ext>
            </a:extLst>
          </p:cNvPr>
          <p:cNvCxnSpPr>
            <a:cxnSpLocks/>
          </p:cNvCxnSpPr>
          <p:nvPr/>
        </p:nvCxnSpPr>
        <p:spPr bwMode="auto">
          <a:xfrm>
            <a:off x="4087457" y="4878301"/>
            <a:ext cx="32070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3ABE1529-5AD2-4E4A-8BE1-8206B15AF469}"/>
              </a:ext>
            </a:extLst>
          </p:cNvPr>
          <p:cNvCxnSpPr>
            <a:cxnSpLocks/>
          </p:cNvCxnSpPr>
          <p:nvPr/>
        </p:nvCxnSpPr>
        <p:spPr bwMode="auto">
          <a:xfrm>
            <a:off x="4113724" y="4665158"/>
            <a:ext cx="806723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B22114FF-FFB2-41BF-B744-44252AC067AF}"/>
              </a:ext>
            </a:extLst>
          </p:cNvPr>
          <p:cNvCxnSpPr>
            <a:cxnSpLocks/>
          </p:cNvCxnSpPr>
          <p:nvPr/>
        </p:nvCxnSpPr>
        <p:spPr bwMode="auto">
          <a:xfrm flipH="1">
            <a:off x="4116159" y="4663018"/>
            <a:ext cx="1" cy="21314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15C7511F-DD7B-4E74-9E2F-E9BFF10EC741}"/>
              </a:ext>
            </a:extLst>
          </p:cNvPr>
          <p:cNvCxnSpPr>
            <a:cxnSpLocks/>
          </p:cNvCxnSpPr>
          <p:nvPr/>
        </p:nvCxnSpPr>
        <p:spPr bwMode="auto">
          <a:xfrm flipH="1">
            <a:off x="4918011" y="4668825"/>
            <a:ext cx="1" cy="21314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15B0B742-7532-4D92-B8FD-A99103223880}"/>
              </a:ext>
            </a:extLst>
          </p:cNvPr>
          <p:cNvCxnSpPr>
            <a:cxnSpLocks/>
          </p:cNvCxnSpPr>
          <p:nvPr/>
        </p:nvCxnSpPr>
        <p:spPr bwMode="auto">
          <a:xfrm>
            <a:off x="4919228" y="4878301"/>
            <a:ext cx="32070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5C241B7E-F724-41B1-81A1-74FB0C52DE04}"/>
              </a:ext>
            </a:extLst>
          </p:cNvPr>
          <p:cNvCxnSpPr>
            <a:cxnSpLocks/>
          </p:cNvCxnSpPr>
          <p:nvPr/>
        </p:nvCxnSpPr>
        <p:spPr bwMode="auto">
          <a:xfrm>
            <a:off x="4945495" y="4665158"/>
            <a:ext cx="806723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A4A48501-5ACA-4B0E-A0F8-5A00A4CE144F}"/>
              </a:ext>
            </a:extLst>
          </p:cNvPr>
          <p:cNvCxnSpPr>
            <a:cxnSpLocks/>
          </p:cNvCxnSpPr>
          <p:nvPr/>
        </p:nvCxnSpPr>
        <p:spPr bwMode="auto">
          <a:xfrm flipH="1">
            <a:off x="4947930" y="4663018"/>
            <a:ext cx="1" cy="21314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5C62407F-90CA-4A28-ADD4-401DDF43224D}"/>
              </a:ext>
            </a:extLst>
          </p:cNvPr>
          <p:cNvCxnSpPr>
            <a:cxnSpLocks/>
          </p:cNvCxnSpPr>
          <p:nvPr/>
        </p:nvCxnSpPr>
        <p:spPr bwMode="auto">
          <a:xfrm flipH="1">
            <a:off x="5746222" y="4668825"/>
            <a:ext cx="1" cy="21314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0B6C88EF-2CD2-43FC-8967-402F182F1279}"/>
              </a:ext>
            </a:extLst>
          </p:cNvPr>
          <p:cNvCxnSpPr>
            <a:cxnSpLocks/>
          </p:cNvCxnSpPr>
          <p:nvPr/>
        </p:nvCxnSpPr>
        <p:spPr bwMode="auto">
          <a:xfrm>
            <a:off x="5747439" y="4878301"/>
            <a:ext cx="32070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74D5D610-CF45-4F94-9629-0CF79FD6907E}"/>
              </a:ext>
            </a:extLst>
          </p:cNvPr>
          <p:cNvCxnSpPr>
            <a:cxnSpLocks/>
          </p:cNvCxnSpPr>
          <p:nvPr/>
        </p:nvCxnSpPr>
        <p:spPr bwMode="auto">
          <a:xfrm flipV="1">
            <a:off x="5773705" y="4661742"/>
            <a:ext cx="781866" cy="341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49616AED-5E60-4E79-9BAC-9378A7AABF4C}"/>
              </a:ext>
            </a:extLst>
          </p:cNvPr>
          <p:cNvCxnSpPr>
            <a:cxnSpLocks/>
          </p:cNvCxnSpPr>
          <p:nvPr/>
        </p:nvCxnSpPr>
        <p:spPr bwMode="auto">
          <a:xfrm flipH="1">
            <a:off x="5776141" y="4663018"/>
            <a:ext cx="1" cy="21314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1311E8EA-4488-4D22-8C3A-B46CEA0EFB0E}"/>
              </a:ext>
            </a:extLst>
          </p:cNvPr>
          <p:cNvSpPr/>
          <p:nvPr/>
        </p:nvSpPr>
        <p:spPr bwMode="auto">
          <a:xfrm>
            <a:off x="3660387" y="5099234"/>
            <a:ext cx="211693" cy="260304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sz="400" dirty="0">
                <a:cs typeface="Arial" charset="0"/>
              </a:rPr>
              <a:t>f(n+1)</a:t>
            </a:r>
            <a:endParaRPr lang="zh-TW" altLang="en-US" sz="400" dirty="0">
              <a:cs typeface="Arial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E72AD2F-1A67-4DA7-B339-4A099C7A3E71}"/>
              </a:ext>
            </a:extLst>
          </p:cNvPr>
          <p:cNvSpPr/>
          <p:nvPr/>
        </p:nvSpPr>
        <p:spPr bwMode="auto">
          <a:xfrm>
            <a:off x="4081578" y="5099234"/>
            <a:ext cx="206882" cy="260304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sz="400" dirty="0">
                <a:cs typeface="Arial" charset="0"/>
              </a:rPr>
              <a:t>f(n+2)</a:t>
            </a:r>
            <a:endParaRPr lang="zh-TW" altLang="en-US" sz="400" dirty="0">
              <a:cs typeface="Arial" charset="0"/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EE3B482D-231B-4C23-8801-E92701C899F1}"/>
              </a:ext>
            </a:extLst>
          </p:cNvPr>
          <p:cNvCxnSpPr>
            <a:cxnSpLocks/>
          </p:cNvCxnSpPr>
          <p:nvPr/>
        </p:nvCxnSpPr>
        <p:spPr bwMode="auto">
          <a:xfrm>
            <a:off x="3125332" y="5361444"/>
            <a:ext cx="3446919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30" name="右大括弧 29">
            <a:extLst>
              <a:ext uri="{FF2B5EF4-FFF2-40B4-BE49-F238E27FC236}">
                <a16:creationId xmlns:a16="http://schemas.microsoft.com/office/drawing/2014/main" id="{647EE08E-B69C-42DF-8AFF-1610B9A6ACC9}"/>
              </a:ext>
            </a:extLst>
          </p:cNvPr>
          <p:cNvSpPr/>
          <p:nvPr/>
        </p:nvSpPr>
        <p:spPr bwMode="auto">
          <a:xfrm rot="5400000">
            <a:off x="3616979" y="4522829"/>
            <a:ext cx="104313" cy="834207"/>
          </a:xfrm>
          <a:prstGeom prst="rightBrace">
            <a:avLst>
              <a:gd name="adj1" fmla="val 30951"/>
              <a:gd name="adj2" fmla="val 51317"/>
            </a:avLst>
          </a:prstGeom>
          <a:noFill/>
          <a:ln w="9525" cap="flat" cmpd="sng" algn="ctr">
            <a:solidFill>
              <a:srgbClr val="003366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B644ECC-2063-4D33-A45B-97B6D3B7530C}"/>
              </a:ext>
            </a:extLst>
          </p:cNvPr>
          <p:cNvSpPr txBox="1"/>
          <p:nvPr/>
        </p:nvSpPr>
        <p:spPr>
          <a:xfrm>
            <a:off x="3174872" y="4764991"/>
            <a:ext cx="9547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/>
              <a:t>~60Hz</a:t>
            </a:r>
            <a:endParaRPr lang="zh-TW" altLang="en-US" sz="8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1346851-742A-48CE-976B-DD02FA66304D}"/>
              </a:ext>
            </a:extLst>
          </p:cNvPr>
          <p:cNvSpPr/>
          <p:nvPr/>
        </p:nvSpPr>
        <p:spPr bwMode="auto">
          <a:xfrm>
            <a:off x="4496820" y="5099234"/>
            <a:ext cx="211693" cy="260304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sz="400" dirty="0">
                <a:cs typeface="Arial" charset="0"/>
              </a:rPr>
              <a:t>f(n+3)</a:t>
            </a:r>
            <a:endParaRPr lang="zh-TW" altLang="en-US" sz="400" dirty="0">
              <a:cs typeface="Arial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20F3A80-D209-4031-9B2D-D659EE751044}"/>
              </a:ext>
            </a:extLst>
          </p:cNvPr>
          <p:cNvSpPr/>
          <p:nvPr/>
        </p:nvSpPr>
        <p:spPr bwMode="auto">
          <a:xfrm>
            <a:off x="4918010" y="5100680"/>
            <a:ext cx="206882" cy="260304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TW" altLang="en-US" sz="2800" b="1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B0CCB85-3C58-4FD1-BA35-5C79F4564624}"/>
              </a:ext>
            </a:extLst>
          </p:cNvPr>
          <p:cNvSpPr/>
          <p:nvPr/>
        </p:nvSpPr>
        <p:spPr bwMode="auto">
          <a:xfrm>
            <a:off x="5322842" y="5100814"/>
            <a:ext cx="211693" cy="260304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TW" altLang="en-US" sz="2800" b="1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AE479F0-6B3B-4781-885C-DED98F21B7E0}"/>
              </a:ext>
            </a:extLst>
          </p:cNvPr>
          <p:cNvSpPr/>
          <p:nvPr/>
        </p:nvSpPr>
        <p:spPr bwMode="auto">
          <a:xfrm>
            <a:off x="5744032" y="5096475"/>
            <a:ext cx="206882" cy="260304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TW" altLang="en-US" sz="2800" b="1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AC2E887-B344-4F03-A32D-E4F16862DF3E}"/>
              </a:ext>
            </a:extLst>
          </p:cNvPr>
          <p:cNvSpPr/>
          <p:nvPr/>
        </p:nvSpPr>
        <p:spPr bwMode="auto">
          <a:xfrm>
            <a:off x="6159274" y="5096475"/>
            <a:ext cx="211693" cy="260304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TW" altLang="en-US" sz="2800" b="1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089AB2B-D476-4C54-98E3-BFBE2D633207}"/>
              </a:ext>
            </a:extLst>
          </p:cNvPr>
          <p:cNvSpPr/>
          <p:nvPr/>
        </p:nvSpPr>
        <p:spPr bwMode="auto">
          <a:xfrm>
            <a:off x="3252221" y="5100263"/>
            <a:ext cx="206882" cy="260304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400" dirty="0">
                <a:latin typeface="Arial" charset="0"/>
                <a:ea typeface="Arial Unicode MS" pitchFamily="34" charset="-120"/>
                <a:cs typeface="Arial" charset="0"/>
              </a:rPr>
              <a:t>f(n)</a:t>
            </a:r>
            <a:endParaRPr lang="zh-TW" altLang="en-US" sz="400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3413C7B9-C8AD-4BF8-A083-C28C4193D7FE}"/>
              </a:ext>
            </a:extLst>
          </p:cNvPr>
          <p:cNvCxnSpPr>
            <a:cxnSpLocks/>
          </p:cNvCxnSpPr>
          <p:nvPr/>
        </p:nvCxnSpPr>
        <p:spPr bwMode="auto">
          <a:xfrm flipV="1">
            <a:off x="3166808" y="5864167"/>
            <a:ext cx="3405442" cy="121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5C8B9460-5DA6-4EE0-9A36-A04B0850B5F3}"/>
              </a:ext>
            </a:extLst>
          </p:cNvPr>
          <p:cNvSpPr/>
          <p:nvPr/>
        </p:nvSpPr>
        <p:spPr bwMode="auto">
          <a:xfrm>
            <a:off x="3933161" y="5627058"/>
            <a:ext cx="85565" cy="2400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800" dirty="0">
                <a:latin typeface="Arial" charset="0"/>
                <a:ea typeface="Arial Unicode MS" pitchFamily="34" charset="-120"/>
                <a:cs typeface="Arial" charset="0"/>
              </a:rPr>
              <a:t>1/8 frame</a:t>
            </a:r>
            <a:endParaRPr lang="zh-TW" altLang="en-US" sz="800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47F5C43-5269-4013-9962-47782DC99663}"/>
              </a:ext>
            </a:extLst>
          </p:cNvPr>
          <p:cNvSpPr/>
          <p:nvPr/>
        </p:nvSpPr>
        <p:spPr bwMode="auto">
          <a:xfrm>
            <a:off x="7422350" y="1638060"/>
            <a:ext cx="216000" cy="216000"/>
          </a:xfrm>
          <a:prstGeom prst="rect">
            <a:avLst/>
          </a:prstGeom>
          <a:solidFill>
            <a:schemeClr val="accent1"/>
          </a:solidFill>
          <a:ln w="22225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>
                <a:latin typeface="Arial" charset="0"/>
                <a:ea typeface="Arial Unicode MS" pitchFamily="34" charset="-120"/>
                <a:cs typeface="Arial" charset="0"/>
              </a:rPr>
              <a:t>s</a:t>
            </a:r>
            <a:endParaRPr lang="zh-TW" altLang="en-US" sz="1600" b="1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CA0A10F-8C46-49E7-96EE-62B9241FD5BB}"/>
              </a:ext>
            </a:extLst>
          </p:cNvPr>
          <p:cNvSpPr/>
          <p:nvPr/>
        </p:nvSpPr>
        <p:spPr bwMode="auto">
          <a:xfrm>
            <a:off x="7638350" y="1848493"/>
            <a:ext cx="216000" cy="216000"/>
          </a:xfrm>
          <a:prstGeom prst="rect">
            <a:avLst/>
          </a:prstGeom>
          <a:solidFill>
            <a:schemeClr val="accent1"/>
          </a:solidFill>
          <a:ln w="22225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>
                <a:latin typeface="Arial" charset="0"/>
                <a:ea typeface="Arial Unicode MS" pitchFamily="34" charset="-120"/>
                <a:cs typeface="Arial" charset="0"/>
              </a:rPr>
              <a:t>s</a:t>
            </a:r>
            <a:endParaRPr lang="zh-TW" altLang="en-US" sz="1600" b="1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5507C53-030A-4C8F-B821-B37BED23C03E}"/>
              </a:ext>
            </a:extLst>
          </p:cNvPr>
          <p:cNvSpPr/>
          <p:nvPr/>
        </p:nvSpPr>
        <p:spPr bwMode="auto">
          <a:xfrm>
            <a:off x="7857382" y="3318805"/>
            <a:ext cx="216000" cy="216000"/>
          </a:xfrm>
          <a:prstGeom prst="rect">
            <a:avLst/>
          </a:prstGeom>
          <a:solidFill>
            <a:schemeClr val="accent1"/>
          </a:solidFill>
          <a:ln w="22225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>
                <a:latin typeface="Arial" charset="0"/>
                <a:ea typeface="Arial Unicode MS" pitchFamily="34" charset="-120"/>
                <a:cs typeface="Arial" charset="0"/>
              </a:rPr>
              <a:t>s</a:t>
            </a:r>
            <a:endParaRPr lang="zh-TW" altLang="en-US" sz="1600" b="1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A481168-2F86-49C8-980C-D1DD9E851648}"/>
              </a:ext>
            </a:extLst>
          </p:cNvPr>
          <p:cNvSpPr/>
          <p:nvPr/>
        </p:nvSpPr>
        <p:spPr bwMode="auto">
          <a:xfrm>
            <a:off x="7858669" y="1635008"/>
            <a:ext cx="216000" cy="216000"/>
          </a:xfrm>
          <a:prstGeom prst="rect">
            <a:avLst/>
          </a:prstGeom>
          <a:solidFill>
            <a:schemeClr val="accent1"/>
          </a:solidFill>
          <a:ln w="22225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>
                <a:latin typeface="Arial" charset="0"/>
                <a:ea typeface="Arial Unicode MS" pitchFamily="34" charset="-120"/>
                <a:cs typeface="Arial" charset="0"/>
              </a:rPr>
              <a:t>s</a:t>
            </a:r>
            <a:endParaRPr lang="zh-TW" altLang="en-US" sz="1600" b="1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9921509-C6E3-4BC2-96E2-F6719220BFF2}"/>
              </a:ext>
            </a:extLst>
          </p:cNvPr>
          <p:cNvSpPr/>
          <p:nvPr/>
        </p:nvSpPr>
        <p:spPr bwMode="auto">
          <a:xfrm>
            <a:off x="7428165" y="3319929"/>
            <a:ext cx="216000" cy="216000"/>
          </a:xfrm>
          <a:prstGeom prst="rect">
            <a:avLst/>
          </a:prstGeom>
          <a:solidFill>
            <a:schemeClr val="accent1"/>
          </a:solidFill>
          <a:ln w="22225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>
                <a:latin typeface="Arial" charset="0"/>
                <a:ea typeface="Arial Unicode MS" pitchFamily="34" charset="-120"/>
                <a:cs typeface="Arial" charset="0"/>
              </a:rPr>
              <a:t>s</a:t>
            </a:r>
            <a:endParaRPr lang="zh-TW" altLang="en-US" sz="1600" b="1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61314FD4-7B2F-46DB-A445-827D73F09FA2}"/>
              </a:ext>
            </a:extLst>
          </p:cNvPr>
          <p:cNvSpPr txBox="1"/>
          <p:nvPr/>
        </p:nvSpPr>
        <p:spPr>
          <a:xfrm>
            <a:off x="7573867" y="1576249"/>
            <a:ext cx="344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rgbClr val="008000"/>
                </a:solidFill>
              </a:rPr>
              <a:t>G</a:t>
            </a:r>
            <a:endParaRPr lang="zh-TW" altLang="en-US" sz="1600" dirty="0">
              <a:solidFill>
                <a:srgbClr val="008000"/>
              </a:solidFill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F4EFF302-C184-48BF-83F3-459E10DD70D3}"/>
              </a:ext>
            </a:extLst>
          </p:cNvPr>
          <p:cNvSpPr txBox="1"/>
          <p:nvPr/>
        </p:nvSpPr>
        <p:spPr>
          <a:xfrm>
            <a:off x="7576077" y="3255332"/>
            <a:ext cx="344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rgbClr val="008000"/>
                </a:solidFill>
              </a:rPr>
              <a:t>G</a:t>
            </a:r>
            <a:endParaRPr lang="zh-TW" altLang="en-US" sz="1600" dirty="0">
              <a:solidFill>
                <a:srgbClr val="008000"/>
              </a:solidFill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2FF3730C-0F87-4196-B2D3-7DC4E2672D8A}"/>
              </a:ext>
            </a:extLst>
          </p:cNvPr>
          <p:cNvSpPr txBox="1"/>
          <p:nvPr/>
        </p:nvSpPr>
        <p:spPr>
          <a:xfrm>
            <a:off x="7791203" y="1790223"/>
            <a:ext cx="344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rgbClr val="008000"/>
                </a:solidFill>
              </a:rPr>
              <a:t>G</a:t>
            </a:r>
            <a:endParaRPr lang="zh-TW" altLang="en-US" sz="1600" dirty="0">
              <a:solidFill>
                <a:srgbClr val="008000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54B67B06-E463-470D-B830-D4778278CD20}"/>
              </a:ext>
            </a:extLst>
          </p:cNvPr>
          <p:cNvSpPr txBox="1"/>
          <p:nvPr/>
        </p:nvSpPr>
        <p:spPr>
          <a:xfrm>
            <a:off x="7348977" y="1789554"/>
            <a:ext cx="344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rgbClr val="008000"/>
                </a:solidFill>
              </a:rPr>
              <a:t>G</a:t>
            </a:r>
            <a:endParaRPr lang="zh-TW" altLang="en-US" sz="1600" dirty="0">
              <a:solidFill>
                <a:srgbClr val="008000"/>
              </a:solidFill>
            </a:endParaRPr>
          </a:p>
        </p:txBody>
      </p:sp>
      <p:pic>
        <p:nvPicPr>
          <p:cNvPr id="49" name="圖片 48">
            <a:extLst>
              <a:ext uri="{FF2B5EF4-FFF2-40B4-BE49-F238E27FC236}">
                <a16:creationId xmlns:a16="http://schemas.microsoft.com/office/drawing/2014/main" id="{A82CA2BB-36A6-4DEC-BD08-6A58A2D82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00" y="1226954"/>
            <a:ext cx="2505676" cy="1400968"/>
          </a:xfrm>
          <a:prstGeom prst="rect">
            <a:avLst/>
          </a:prstGeom>
        </p:spPr>
      </p:pic>
      <p:pic>
        <p:nvPicPr>
          <p:cNvPr id="50" name="圖片 49">
            <a:extLst>
              <a:ext uri="{FF2B5EF4-FFF2-40B4-BE49-F238E27FC236}">
                <a16:creationId xmlns:a16="http://schemas.microsoft.com/office/drawing/2014/main" id="{D968C475-E200-4314-9D95-40F8B59B6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054" y="2683853"/>
            <a:ext cx="2501322" cy="1471079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A34DFCC8-D300-4273-9AA3-A4E391E9ECCC}"/>
              </a:ext>
            </a:extLst>
          </p:cNvPr>
          <p:cNvSpPr/>
          <p:nvPr/>
        </p:nvSpPr>
        <p:spPr bwMode="auto">
          <a:xfrm>
            <a:off x="7642669" y="3102287"/>
            <a:ext cx="216000" cy="216000"/>
          </a:xfrm>
          <a:prstGeom prst="rect">
            <a:avLst/>
          </a:prstGeom>
          <a:solidFill>
            <a:schemeClr val="accent1"/>
          </a:solidFill>
          <a:ln w="22225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>
                <a:latin typeface="Arial" charset="0"/>
                <a:ea typeface="Arial Unicode MS" pitchFamily="34" charset="-120"/>
                <a:cs typeface="Arial" charset="0"/>
              </a:rPr>
              <a:t>s</a:t>
            </a:r>
            <a:endParaRPr lang="zh-TW" altLang="en-US" sz="1600" b="1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308873F7-0EC3-4D68-AFEE-62F1FFC583A6}"/>
              </a:ext>
            </a:extLst>
          </p:cNvPr>
          <p:cNvSpPr txBox="1"/>
          <p:nvPr/>
        </p:nvSpPr>
        <p:spPr>
          <a:xfrm>
            <a:off x="7791203" y="3045093"/>
            <a:ext cx="344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rgbClr val="008000"/>
                </a:solidFill>
              </a:rPr>
              <a:t>G</a:t>
            </a:r>
            <a:endParaRPr lang="zh-TW" altLang="en-US" sz="1600" dirty="0">
              <a:solidFill>
                <a:srgbClr val="008000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C3BDAA9-80E3-4B1B-BC57-1ECA18C50D53}"/>
              </a:ext>
            </a:extLst>
          </p:cNvPr>
          <p:cNvSpPr/>
          <p:nvPr/>
        </p:nvSpPr>
        <p:spPr bwMode="auto">
          <a:xfrm>
            <a:off x="7642669" y="3531759"/>
            <a:ext cx="216000" cy="216000"/>
          </a:xfrm>
          <a:prstGeom prst="rect">
            <a:avLst/>
          </a:prstGeom>
          <a:solidFill>
            <a:schemeClr val="accent1"/>
          </a:solidFill>
          <a:ln w="22225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>
                <a:latin typeface="Arial" charset="0"/>
                <a:ea typeface="Arial Unicode MS" pitchFamily="34" charset="-120"/>
                <a:cs typeface="Arial" charset="0"/>
              </a:rPr>
              <a:t>s</a:t>
            </a:r>
            <a:endParaRPr lang="zh-TW" altLang="en-US" sz="1600" b="1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8FDE687D-ABAB-46D1-A50A-973A4DE457C8}"/>
              </a:ext>
            </a:extLst>
          </p:cNvPr>
          <p:cNvSpPr txBox="1"/>
          <p:nvPr/>
        </p:nvSpPr>
        <p:spPr>
          <a:xfrm>
            <a:off x="7357867" y="3037817"/>
            <a:ext cx="344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rgbClr val="008000"/>
                </a:solidFill>
              </a:rPr>
              <a:t>G</a:t>
            </a:r>
            <a:endParaRPr lang="zh-TW" altLang="en-US" sz="1600" dirty="0">
              <a:solidFill>
                <a:srgbClr val="008000"/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43900678-49A2-4FD7-9D9E-60878C3BB5C8}"/>
              </a:ext>
            </a:extLst>
          </p:cNvPr>
          <p:cNvSpPr txBox="1"/>
          <p:nvPr/>
        </p:nvSpPr>
        <p:spPr>
          <a:xfrm>
            <a:off x="7357867" y="3470067"/>
            <a:ext cx="344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rgbClr val="008000"/>
                </a:solidFill>
              </a:rPr>
              <a:t>G</a:t>
            </a:r>
            <a:endParaRPr lang="zh-TW" altLang="en-US" sz="1600" dirty="0">
              <a:solidFill>
                <a:srgbClr val="008000"/>
              </a:solidFill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0622440C-916C-4734-A27C-F41F52811870}"/>
              </a:ext>
            </a:extLst>
          </p:cNvPr>
          <p:cNvSpPr txBox="1"/>
          <p:nvPr/>
        </p:nvSpPr>
        <p:spPr>
          <a:xfrm>
            <a:off x="7798505" y="3476364"/>
            <a:ext cx="344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rgbClr val="008000"/>
                </a:solidFill>
              </a:rPr>
              <a:t>G</a:t>
            </a:r>
            <a:endParaRPr lang="zh-TW" altLang="en-US" sz="1600" dirty="0">
              <a:solidFill>
                <a:srgbClr val="008000"/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852138A-4440-4C68-A04C-DF5568F91E6E}"/>
              </a:ext>
            </a:extLst>
          </p:cNvPr>
          <p:cNvSpPr/>
          <p:nvPr/>
        </p:nvSpPr>
        <p:spPr bwMode="auto">
          <a:xfrm>
            <a:off x="7420412" y="2064176"/>
            <a:ext cx="216000" cy="216000"/>
          </a:xfrm>
          <a:prstGeom prst="rect">
            <a:avLst/>
          </a:prstGeom>
          <a:solidFill>
            <a:schemeClr val="accent1"/>
          </a:solidFill>
          <a:ln w="22225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>
                <a:latin typeface="Arial" charset="0"/>
                <a:ea typeface="Arial Unicode MS" pitchFamily="34" charset="-120"/>
                <a:cs typeface="Arial" charset="0"/>
              </a:rPr>
              <a:t>s</a:t>
            </a:r>
            <a:endParaRPr lang="zh-TW" altLang="en-US" sz="1600" b="1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B34AEF7-6747-4917-8CDA-695F196E465F}"/>
              </a:ext>
            </a:extLst>
          </p:cNvPr>
          <p:cNvSpPr/>
          <p:nvPr/>
        </p:nvSpPr>
        <p:spPr bwMode="auto">
          <a:xfrm>
            <a:off x="7856731" y="2061124"/>
            <a:ext cx="216000" cy="216000"/>
          </a:xfrm>
          <a:prstGeom prst="rect">
            <a:avLst/>
          </a:prstGeom>
          <a:solidFill>
            <a:schemeClr val="accent1"/>
          </a:solidFill>
          <a:ln w="22225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1600" b="1" dirty="0">
                <a:latin typeface="Arial" charset="0"/>
                <a:ea typeface="Arial Unicode MS" pitchFamily="34" charset="-120"/>
                <a:cs typeface="Arial" charset="0"/>
              </a:rPr>
              <a:t>s</a:t>
            </a:r>
            <a:endParaRPr lang="zh-TW" altLang="en-US" sz="1600" b="1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B3CF2B1C-AD29-4A61-B6DE-DD2DE9A9150E}"/>
              </a:ext>
            </a:extLst>
          </p:cNvPr>
          <p:cNvSpPr txBox="1"/>
          <p:nvPr/>
        </p:nvSpPr>
        <p:spPr>
          <a:xfrm>
            <a:off x="7571929" y="2002365"/>
            <a:ext cx="344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rgbClr val="008000"/>
                </a:solidFill>
              </a:rPr>
              <a:t>G</a:t>
            </a:r>
            <a:endParaRPr lang="zh-TW" altLang="en-US" sz="1600" dirty="0">
              <a:solidFill>
                <a:srgbClr val="008000"/>
              </a:solidFill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3A7122C8-484B-41EC-ADD3-44FE25AED076}"/>
              </a:ext>
            </a:extLst>
          </p:cNvPr>
          <p:cNvSpPr txBox="1"/>
          <p:nvPr/>
        </p:nvSpPr>
        <p:spPr>
          <a:xfrm>
            <a:off x="7295833" y="2345531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Method1</a:t>
            </a:r>
            <a:endParaRPr lang="zh-TW" altLang="en-US" sz="1400" dirty="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1B895D0C-4ACC-4D32-82B6-D2BCBF87BEBE}"/>
              </a:ext>
            </a:extLst>
          </p:cNvPr>
          <p:cNvSpPr txBox="1"/>
          <p:nvPr/>
        </p:nvSpPr>
        <p:spPr>
          <a:xfrm>
            <a:off x="7295833" y="3810220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Method2</a:t>
            </a:r>
            <a:endParaRPr lang="zh-TW" altLang="en-US" sz="1400" dirty="0"/>
          </a:p>
        </p:txBody>
      </p: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18E0FC8F-4BB1-418E-884A-BB6436D45BF8}"/>
              </a:ext>
            </a:extLst>
          </p:cNvPr>
          <p:cNvCxnSpPr>
            <a:cxnSpLocks/>
            <a:stCxn id="63" idx="2"/>
            <a:endCxn id="45" idx="0"/>
          </p:cNvCxnSpPr>
          <p:nvPr/>
        </p:nvCxnSpPr>
        <p:spPr bwMode="auto">
          <a:xfrm>
            <a:off x="7744412" y="1441157"/>
            <a:ext cx="1938" cy="13509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104B695A-6151-4A66-9F93-3C85D279DB3C}"/>
              </a:ext>
            </a:extLst>
          </p:cNvPr>
          <p:cNvSpPr txBox="1"/>
          <p:nvPr/>
        </p:nvSpPr>
        <p:spPr>
          <a:xfrm>
            <a:off x="7481359" y="1164159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GND</a:t>
            </a:r>
            <a:endParaRPr lang="zh-TW" altLang="en-US" sz="1200" dirty="0"/>
          </a:p>
        </p:txBody>
      </p: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3D2A6CCA-18EF-48FB-875F-20DA5212F24E}"/>
              </a:ext>
            </a:extLst>
          </p:cNvPr>
          <p:cNvCxnSpPr>
            <a:cxnSpLocks/>
            <a:stCxn id="65" idx="2"/>
          </p:cNvCxnSpPr>
          <p:nvPr/>
        </p:nvCxnSpPr>
        <p:spPr bwMode="auto">
          <a:xfrm>
            <a:off x="7175698" y="1621631"/>
            <a:ext cx="214329" cy="103493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72434C08-5B39-4FB4-B10B-0AE6FD0FD5D3}"/>
              </a:ext>
            </a:extLst>
          </p:cNvPr>
          <p:cNvSpPr txBox="1"/>
          <p:nvPr/>
        </p:nvSpPr>
        <p:spPr>
          <a:xfrm>
            <a:off x="6806846" y="1344632"/>
            <a:ext cx="737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Sensing</a:t>
            </a:r>
            <a:endParaRPr lang="zh-TW" altLang="en-US" sz="1200" dirty="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0D0F6DF-1255-48A1-92CE-0A5B09E958F3}"/>
              </a:ext>
            </a:extLst>
          </p:cNvPr>
          <p:cNvSpPr/>
          <p:nvPr/>
        </p:nvSpPr>
        <p:spPr bwMode="auto">
          <a:xfrm>
            <a:off x="4750244" y="5624496"/>
            <a:ext cx="85565" cy="2400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800" dirty="0">
                <a:latin typeface="Arial" charset="0"/>
                <a:ea typeface="Arial Unicode MS" pitchFamily="34" charset="-120"/>
                <a:cs typeface="Arial" charset="0"/>
              </a:rPr>
              <a:t>1/8 frame</a:t>
            </a:r>
            <a:endParaRPr lang="zh-TW" altLang="en-US" sz="800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A0BBD2F-46D5-4499-B3AB-A93B7DA58681}"/>
              </a:ext>
            </a:extLst>
          </p:cNvPr>
          <p:cNvSpPr/>
          <p:nvPr/>
        </p:nvSpPr>
        <p:spPr bwMode="auto">
          <a:xfrm>
            <a:off x="5606747" y="5627344"/>
            <a:ext cx="85565" cy="2400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800" dirty="0">
                <a:latin typeface="Arial" charset="0"/>
                <a:ea typeface="Arial Unicode MS" pitchFamily="34" charset="-120"/>
                <a:cs typeface="Arial" charset="0"/>
              </a:rPr>
              <a:t>1/8 frame</a:t>
            </a:r>
            <a:endParaRPr lang="zh-TW" altLang="en-US" sz="800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FF8AAA9-4B80-4164-8792-38DE26FE96BD}"/>
              </a:ext>
            </a:extLst>
          </p:cNvPr>
          <p:cNvSpPr/>
          <p:nvPr/>
        </p:nvSpPr>
        <p:spPr bwMode="auto">
          <a:xfrm>
            <a:off x="6423830" y="5624782"/>
            <a:ext cx="85565" cy="2400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800" dirty="0">
                <a:latin typeface="Arial" charset="0"/>
                <a:ea typeface="Arial Unicode MS" pitchFamily="34" charset="-120"/>
                <a:cs typeface="Arial" charset="0"/>
              </a:rPr>
              <a:t>1/8 frame</a:t>
            </a:r>
            <a:endParaRPr lang="zh-TW" altLang="en-US" sz="800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cxnSp>
        <p:nvCxnSpPr>
          <p:cNvPr id="69" name="直線單箭頭接點 68">
            <a:extLst>
              <a:ext uri="{FF2B5EF4-FFF2-40B4-BE49-F238E27FC236}">
                <a16:creationId xmlns:a16="http://schemas.microsoft.com/office/drawing/2014/main" id="{983F3B72-63AC-4985-93FD-339D042D4B89}"/>
              </a:ext>
            </a:extLst>
          </p:cNvPr>
          <p:cNvCxnSpPr>
            <a:cxnSpLocks/>
          </p:cNvCxnSpPr>
          <p:nvPr/>
        </p:nvCxnSpPr>
        <p:spPr bwMode="auto">
          <a:xfrm flipV="1">
            <a:off x="6477545" y="4660838"/>
            <a:ext cx="103426" cy="109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E176F562-8FF6-49FF-98B8-AAAB87EF336E}"/>
              </a:ext>
            </a:extLst>
          </p:cNvPr>
          <p:cNvCxnSpPr>
            <a:cxnSpLocks/>
          </p:cNvCxnSpPr>
          <p:nvPr/>
        </p:nvCxnSpPr>
        <p:spPr bwMode="auto">
          <a:xfrm flipH="1">
            <a:off x="6580971" y="4661933"/>
            <a:ext cx="1" cy="21314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46484876-E677-4D2E-BECC-7F0C8FB5325B}"/>
              </a:ext>
            </a:extLst>
          </p:cNvPr>
          <p:cNvCxnSpPr>
            <a:cxnSpLocks/>
          </p:cNvCxnSpPr>
          <p:nvPr/>
        </p:nvCxnSpPr>
        <p:spPr bwMode="auto">
          <a:xfrm>
            <a:off x="6582188" y="4871408"/>
            <a:ext cx="32070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2" name="直線單箭頭接點 71">
            <a:extLst>
              <a:ext uri="{FF2B5EF4-FFF2-40B4-BE49-F238E27FC236}">
                <a16:creationId xmlns:a16="http://schemas.microsoft.com/office/drawing/2014/main" id="{A03FC161-076F-4992-B17D-C0C64D978319}"/>
              </a:ext>
            </a:extLst>
          </p:cNvPr>
          <p:cNvCxnSpPr>
            <a:cxnSpLocks/>
          </p:cNvCxnSpPr>
          <p:nvPr/>
        </p:nvCxnSpPr>
        <p:spPr bwMode="auto">
          <a:xfrm>
            <a:off x="6608456" y="4658265"/>
            <a:ext cx="806723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3" name="直線單箭頭接點 72">
            <a:extLst>
              <a:ext uri="{FF2B5EF4-FFF2-40B4-BE49-F238E27FC236}">
                <a16:creationId xmlns:a16="http://schemas.microsoft.com/office/drawing/2014/main" id="{BDC1D5EB-2B11-46C5-AA93-9BD7DFEDE620}"/>
              </a:ext>
            </a:extLst>
          </p:cNvPr>
          <p:cNvCxnSpPr>
            <a:cxnSpLocks/>
          </p:cNvCxnSpPr>
          <p:nvPr/>
        </p:nvCxnSpPr>
        <p:spPr bwMode="auto">
          <a:xfrm flipH="1">
            <a:off x="6610891" y="4656125"/>
            <a:ext cx="1" cy="21314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4" name="直線單箭頭接點 73">
            <a:extLst>
              <a:ext uri="{FF2B5EF4-FFF2-40B4-BE49-F238E27FC236}">
                <a16:creationId xmlns:a16="http://schemas.microsoft.com/office/drawing/2014/main" id="{1781AE55-659B-4120-BA86-4AF79E1869DA}"/>
              </a:ext>
            </a:extLst>
          </p:cNvPr>
          <p:cNvCxnSpPr>
            <a:cxnSpLocks/>
          </p:cNvCxnSpPr>
          <p:nvPr/>
        </p:nvCxnSpPr>
        <p:spPr bwMode="auto">
          <a:xfrm flipH="1">
            <a:off x="7415178" y="4656125"/>
            <a:ext cx="1" cy="21314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B52487A2-A22E-4283-8F65-8A3BDC96A6FE}"/>
              </a:ext>
            </a:extLst>
          </p:cNvPr>
          <p:cNvCxnSpPr>
            <a:cxnSpLocks/>
          </p:cNvCxnSpPr>
          <p:nvPr/>
        </p:nvCxnSpPr>
        <p:spPr bwMode="auto">
          <a:xfrm>
            <a:off x="7416395" y="4865601"/>
            <a:ext cx="32070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6" name="直線單箭頭接點 75">
            <a:extLst>
              <a:ext uri="{FF2B5EF4-FFF2-40B4-BE49-F238E27FC236}">
                <a16:creationId xmlns:a16="http://schemas.microsoft.com/office/drawing/2014/main" id="{4BA0C583-517C-41DE-96A1-9379F769507B}"/>
              </a:ext>
            </a:extLst>
          </p:cNvPr>
          <p:cNvCxnSpPr>
            <a:cxnSpLocks/>
          </p:cNvCxnSpPr>
          <p:nvPr/>
        </p:nvCxnSpPr>
        <p:spPr bwMode="auto">
          <a:xfrm>
            <a:off x="7442662" y="4652458"/>
            <a:ext cx="806723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37F063BA-69A6-4C8B-96E8-F649BF384B1D}"/>
              </a:ext>
            </a:extLst>
          </p:cNvPr>
          <p:cNvCxnSpPr>
            <a:cxnSpLocks/>
          </p:cNvCxnSpPr>
          <p:nvPr/>
        </p:nvCxnSpPr>
        <p:spPr bwMode="auto">
          <a:xfrm flipH="1">
            <a:off x="7445097" y="4650318"/>
            <a:ext cx="1" cy="21314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id="{F71D76A6-C513-4822-A509-FED1547FA7B9}"/>
              </a:ext>
            </a:extLst>
          </p:cNvPr>
          <p:cNvCxnSpPr>
            <a:cxnSpLocks/>
          </p:cNvCxnSpPr>
          <p:nvPr/>
        </p:nvCxnSpPr>
        <p:spPr bwMode="auto">
          <a:xfrm flipH="1">
            <a:off x="8246949" y="4656125"/>
            <a:ext cx="1" cy="21314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9" name="直線單箭頭接點 78">
            <a:extLst>
              <a:ext uri="{FF2B5EF4-FFF2-40B4-BE49-F238E27FC236}">
                <a16:creationId xmlns:a16="http://schemas.microsoft.com/office/drawing/2014/main" id="{F708E0BD-7AA0-46F5-8722-DACF1397BC1E}"/>
              </a:ext>
            </a:extLst>
          </p:cNvPr>
          <p:cNvCxnSpPr>
            <a:cxnSpLocks/>
          </p:cNvCxnSpPr>
          <p:nvPr/>
        </p:nvCxnSpPr>
        <p:spPr bwMode="auto">
          <a:xfrm>
            <a:off x="8248166" y="4865601"/>
            <a:ext cx="32070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80" name="直線單箭頭接點 79">
            <a:extLst>
              <a:ext uri="{FF2B5EF4-FFF2-40B4-BE49-F238E27FC236}">
                <a16:creationId xmlns:a16="http://schemas.microsoft.com/office/drawing/2014/main" id="{E57A5605-CF96-4123-8249-5C2859A13382}"/>
              </a:ext>
            </a:extLst>
          </p:cNvPr>
          <p:cNvCxnSpPr>
            <a:cxnSpLocks/>
          </p:cNvCxnSpPr>
          <p:nvPr/>
        </p:nvCxnSpPr>
        <p:spPr bwMode="auto">
          <a:xfrm>
            <a:off x="8274433" y="4652458"/>
            <a:ext cx="806723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9A182D39-7B44-4195-B0F4-5FD7E449EA0B}"/>
              </a:ext>
            </a:extLst>
          </p:cNvPr>
          <p:cNvCxnSpPr>
            <a:cxnSpLocks/>
          </p:cNvCxnSpPr>
          <p:nvPr/>
        </p:nvCxnSpPr>
        <p:spPr bwMode="auto">
          <a:xfrm flipH="1">
            <a:off x="8276868" y="4650318"/>
            <a:ext cx="1" cy="21314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82" name="直線單箭頭接點 81">
            <a:extLst>
              <a:ext uri="{FF2B5EF4-FFF2-40B4-BE49-F238E27FC236}">
                <a16:creationId xmlns:a16="http://schemas.microsoft.com/office/drawing/2014/main" id="{32710FAA-7649-4710-B14A-6152766BF212}"/>
              </a:ext>
            </a:extLst>
          </p:cNvPr>
          <p:cNvCxnSpPr>
            <a:cxnSpLocks/>
          </p:cNvCxnSpPr>
          <p:nvPr/>
        </p:nvCxnSpPr>
        <p:spPr bwMode="auto">
          <a:xfrm flipH="1">
            <a:off x="9075160" y="4656125"/>
            <a:ext cx="1" cy="21314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FEE879E9-685B-4C42-BFC1-97A2C8D25603}"/>
              </a:ext>
            </a:extLst>
          </p:cNvPr>
          <p:cNvCxnSpPr>
            <a:cxnSpLocks/>
          </p:cNvCxnSpPr>
          <p:nvPr/>
        </p:nvCxnSpPr>
        <p:spPr bwMode="auto">
          <a:xfrm>
            <a:off x="9076377" y="4865601"/>
            <a:ext cx="32070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84" name="直線單箭頭接點 83">
            <a:extLst>
              <a:ext uri="{FF2B5EF4-FFF2-40B4-BE49-F238E27FC236}">
                <a16:creationId xmlns:a16="http://schemas.microsoft.com/office/drawing/2014/main" id="{A7D75620-655E-41C0-8EEB-9430BCD1628E}"/>
              </a:ext>
            </a:extLst>
          </p:cNvPr>
          <p:cNvCxnSpPr>
            <a:cxnSpLocks/>
          </p:cNvCxnSpPr>
          <p:nvPr/>
        </p:nvCxnSpPr>
        <p:spPr bwMode="auto">
          <a:xfrm flipV="1">
            <a:off x="9102643" y="4649042"/>
            <a:ext cx="781866" cy="341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85" name="直線單箭頭接點 84">
            <a:extLst>
              <a:ext uri="{FF2B5EF4-FFF2-40B4-BE49-F238E27FC236}">
                <a16:creationId xmlns:a16="http://schemas.microsoft.com/office/drawing/2014/main" id="{A1A78304-3AE8-4650-B33C-D4760D8BA22D}"/>
              </a:ext>
            </a:extLst>
          </p:cNvPr>
          <p:cNvCxnSpPr>
            <a:cxnSpLocks/>
          </p:cNvCxnSpPr>
          <p:nvPr/>
        </p:nvCxnSpPr>
        <p:spPr bwMode="auto">
          <a:xfrm flipH="1">
            <a:off x="9105079" y="4650318"/>
            <a:ext cx="1" cy="213143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86" name="矩形 85">
            <a:extLst>
              <a:ext uri="{FF2B5EF4-FFF2-40B4-BE49-F238E27FC236}">
                <a16:creationId xmlns:a16="http://schemas.microsoft.com/office/drawing/2014/main" id="{9E0A0379-2F4C-4C0A-86A7-4A3EB51FB5FA}"/>
              </a:ext>
            </a:extLst>
          </p:cNvPr>
          <p:cNvSpPr/>
          <p:nvPr/>
        </p:nvSpPr>
        <p:spPr bwMode="auto">
          <a:xfrm>
            <a:off x="6989325" y="5098486"/>
            <a:ext cx="211693" cy="260304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sz="400" dirty="0">
                <a:cs typeface="Arial" charset="0"/>
              </a:rPr>
              <a:t>f(n+1)</a:t>
            </a:r>
            <a:endParaRPr lang="zh-TW" altLang="en-US" sz="400" dirty="0">
              <a:cs typeface="Arial" charset="0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8E1A3DC5-5F26-447A-B649-2575DE584ED7}"/>
              </a:ext>
            </a:extLst>
          </p:cNvPr>
          <p:cNvSpPr/>
          <p:nvPr/>
        </p:nvSpPr>
        <p:spPr bwMode="auto">
          <a:xfrm>
            <a:off x="7410516" y="5098486"/>
            <a:ext cx="206882" cy="260304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sz="400" dirty="0">
                <a:cs typeface="Arial" charset="0"/>
              </a:rPr>
              <a:t>f(n+2)</a:t>
            </a:r>
            <a:endParaRPr lang="zh-TW" altLang="en-US" sz="400" dirty="0">
              <a:cs typeface="Arial" charset="0"/>
            </a:endParaRPr>
          </a:p>
        </p:txBody>
      </p:sp>
      <p:cxnSp>
        <p:nvCxnSpPr>
          <p:cNvPr id="88" name="直線單箭頭接點 87">
            <a:extLst>
              <a:ext uri="{FF2B5EF4-FFF2-40B4-BE49-F238E27FC236}">
                <a16:creationId xmlns:a16="http://schemas.microsoft.com/office/drawing/2014/main" id="{FD9B4C87-19D9-471F-85C9-F8328799A8E0}"/>
              </a:ext>
            </a:extLst>
          </p:cNvPr>
          <p:cNvCxnSpPr>
            <a:cxnSpLocks/>
          </p:cNvCxnSpPr>
          <p:nvPr/>
        </p:nvCxnSpPr>
        <p:spPr bwMode="auto">
          <a:xfrm>
            <a:off x="6454270" y="5360696"/>
            <a:ext cx="3446919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FF3B4CE0-823D-407B-A4EC-ED5248C50B10}"/>
              </a:ext>
            </a:extLst>
          </p:cNvPr>
          <p:cNvSpPr/>
          <p:nvPr/>
        </p:nvSpPr>
        <p:spPr bwMode="auto">
          <a:xfrm>
            <a:off x="7825758" y="5098486"/>
            <a:ext cx="211693" cy="260304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sz="400" dirty="0">
                <a:cs typeface="Arial" charset="0"/>
              </a:rPr>
              <a:t>f(n+3)</a:t>
            </a:r>
            <a:endParaRPr lang="zh-TW" altLang="en-US" sz="400" dirty="0">
              <a:cs typeface="Arial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3FA29A7C-D18E-4ADD-A2A0-060B4952DEFF}"/>
              </a:ext>
            </a:extLst>
          </p:cNvPr>
          <p:cNvSpPr/>
          <p:nvPr/>
        </p:nvSpPr>
        <p:spPr bwMode="auto">
          <a:xfrm>
            <a:off x="8246948" y="5099932"/>
            <a:ext cx="206882" cy="260304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TW" altLang="en-US" sz="2800" b="1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36AF09DB-CF4C-4B35-8E5D-2E2AB939C6A0}"/>
              </a:ext>
            </a:extLst>
          </p:cNvPr>
          <p:cNvSpPr/>
          <p:nvPr/>
        </p:nvSpPr>
        <p:spPr bwMode="auto">
          <a:xfrm>
            <a:off x="8651780" y="5100066"/>
            <a:ext cx="211693" cy="260304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TW" altLang="en-US" sz="2800" b="1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AB85E3E0-8AE9-4832-AB04-354D4B6B31D4}"/>
              </a:ext>
            </a:extLst>
          </p:cNvPr>
          <p:cNvSpPr/>
          <p:nvPr/>
        </p:nvSpPr>
        <p:spPr bwMode="auto">
          <a:xfrm>
            <a:off x="9072970" y="5095727"/>
            <a:ext cx="206882" cy="260304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TW" altLang="en-US" sz="2800" b="1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C86383AC-79A9-47DA-B6CB-52E56F8B77F4}"/>
              </a:ext>
            </a:extLst>
          </p:cNvPr>
          <p:cNvSpPr/>
          <p:nvPr/>
        </p:nvSpPr>
        <p:spPr bwMode="auto">
          <a:xfrm>
            <a:off x="9488212" y="5095727"/>
            <a:ext cx="211693" cy="260304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TW" altLang="en-US" sz="2800" b="1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A6FB27DE-5B2F-40E3-A86E-499E2821C801}"/>
              </a:ext>
            </a:extLst>
          </p:cNvPr>
          <p:cNvSpPr/>
          <p:nvPr/>
        </p:nvSpPr>
        <p:spPr bwMode="auto">
          <a:xfrm>
            <a:off x="6581159" y="5099515"/>
            <a:ext cx="206882" cy="260304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400" dirty="0">
                <a:latin typeface="Arial" charset="0"/>
                <a:ea typeface="Arial Unicode MS" pitchFamily="34" charset="-120"/>
                <a:cs typeface="Arial" charset="0"/>
              </a:rPr>
              <a:t>f(n)</a:t>
            </a:r>
            <a:endParaRPr lang="zh-TW" altLang="en-US" sz="400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cxnSp>
        <p:nvCxnSpPr>
          <p:cNvPr id="95" name="直線單箭頭接點 94">
            <a:extLst>
              <a:ext uri="{FF2B5EF4-FFF2-40B4-BE49-F238E27FC236}">
                <a16:creationId xmlns:a16="http://schemas.microsoft.com/office/drawing/2014/main" id="{48ECE3BF-8757-4C26-A522-221159E253B7}"/>
              </a:ext>
            </a:extLst>
          </p:cNvPr>
          <p:cNvCxnSpPr>
            <a:cxnSpLocks/>
          </p:cNvCxnSpPr>
          <p:nvPr/>
        </p:nvCxnSpPr>
        <p:spPr bwMode="auto">
          <a:xfrm flipV="1">
            <a:off x="6495746" y="5871039"/>
            <a:ext cx="3405442" cy="121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96" name="矩形 95">
            <a:extLst>
              <a:ext uri="{FF2B5EF4-FFF2-40B4-BE49-F238E27FC236}">
                <a16:creationId xmlns:a16="http://schemas.microsoft.com/office/drawing/2014/main" id="{F2065A0C-D5E1-4328-8A02-BA29F0F05263}"/>
              </a:ext>
            </a:extLst>
          </p:cNvPr>
          <p:cNvSpPr/>
          <p:nvPr/>
        </p:nvSpPr>
        <p:spPr bwMode="auto">
          <a:xfrm>
            <a:off x="7262099" y="5626310"/>
            <a:ext cx="85565" cy="2400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800" dirty="0">
                <a:latin typeface="Arial" charset="0"/>
                <a:ea typeface="Arial Unicode MS" pitchFamily="34" charset="-120"/>
                <a:cs typeface="Arial" charset="0"/>
              </a:rPr>
              <a:t>1/8 frame</a:t>
            </a:r>
            <a:endParaRPr lang="zh-TW" altLang="en-US" sz="800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FA5B0954-4B99-4962-BA24-97024547B929}"/>
              </a:ext>
            </a:extLst>
          </p:cNvPr>
          <p:cNvSpPr/>
          <p:nvPr/>
        </p:nvSpPr>
        <p:spPr bwMode="auto">
          <a:xfrm>
            <a:off x="8079182" y="5623748"/>
            <a:ext cx="85565" cy="2400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800" dirty="0">
                <a:latin typeface="Arial" charset="0"/>
                <a:ea typeface="Arial Unicode MS" pitchFamily="34" charset="-120"/>
                <a:cs typeface="Arial" charset="0"/>
              </a:rPr>
              <a:t>1/8 frame</a:t>
            </a:r>
            <a:endParaRPr lang="zh-TW" altLang="en-US" sz="800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7EEA0DE2-2A53-438D-9A3D-DDB26EF83AF1}"/>
              </a:ext>
            </a:extLst>
          </p:cNvPr>
          <p:cNvSpPr/>
          <p:nvPr/>
        </p:nvSpPr>
        <p:spPr bwMode="auto">
          <a:xfrm>
            <a:off x="8935685" y="5626596"/>
            <a:ext cx="85565" cy="2400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800" dirty="0">
                <a:latin typeface="Arial" charset="0"/>
                <a:ea typeface="Arial Unicode MS" pitchFamily="34" charset="-120"/>
                <a:cs typeface="Arial" charset="0"/>
              </a:rPr>
              <a:t>1/8 frame</a:t>
            </a:r>
            <a:endParaRPr lang="zh-TW" altLang="en-US" sz="800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E17436EE-658D-4EFC-AF57-A99A259827A3}"/>
              </a:ext>
            </a:extLst>
          </p:cNvPr>
          <p:cNvSpPr/>
          <p:nvPr/>
        </p:nvSpPr>
        <p:spPr bwMode="auto">
          <a:xfrm>
            <a:off x="9752768" y="5624034"/>
            <a:ext cx="85565" cy="2400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800" dirty="0">
                <a:latin typeface="Arial" charset="0"/>
                <a:ea typeface="Arial Unicode MS" pitchFamily="34" charset="-120"/>
                <a:cs typeface="Arial" charset="0"/>
              </a:rPr>
              <a:t>1/8 frame</a:t>
            </a:r>
            <a:endParaRPr lang="zh-TW" altLang="en-US" sz="800" dirty="0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5ED84530-540F-4FD0-92D0-CECE1CC3999F}"/>
              </a:ext>
            </a:extLst>
          </p:cNvPr>
          <p:cNvSpPr txBox="1"/>
          <p:nvPr/>
        </p:nvSpPr>
        <p:spPr>
          <a:xfrm>
            <a:off x="3822763" y="5858518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1</a:t>
            </a:r>
            <a:endParaRPr lang="zh-TW" altLang="en-US" sz="1600" dirty="0"/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4FA47943-2482-47C2-9D9F-5D1A2F284709}"/>
              </a:ext>
            </a:extLst>
          </p:cNvPr>
          <p:cNvSpPr txBox="1"/>
          <p:nvPr/>
        </p:nvSpPr>
        <p:spPr>
          <a:xfrm>
            <a:off x="4647393" y="5869669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2</a:t>
            </a:r>
            <a:endParaRPr lang="zh-TW" altLang="en-US" sz="1600" dirty="0"/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A3152189-0A06-4180-8EA2-861ADDFFD5CE}"/>
              </a:ext>
            </a:extLst>
          </p:cNvPr>
          <p:cNvSpPr txBox="1"/>
          <p:nvPr/>
        </p:nvSpPr>
        <p:spPr>
          <a:xfrm>
            <a:off x="5496361" y="5877174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3</a:t>
            </a:r>
            <a:endParaRPr lang="zh-TW" altLang="en-US" sz="1600" dirty="0"/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FE403F15-7501-4025-8758-2AB80A3A2542}"/>
              </a:ext>
            </a:extLst>
          </p:cNvPr>
          <p:cNvSpPr txBox="1"/>
          <p:nvPr/>
        </p:nvSpPr>
        <p:spPr>
          <a:xfrm>
            <a:off x="6315342" y="5865377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4</a:t>
            </a:r>
            <a:endParaRPr lang="zh-TW" altLang="en-US" sz="1600" dirty="0"/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10E59EAE-B1B5-4934-8B77-3DC0475616E1}"/>
              </a:ext>
            </a:extLst>
          </p:cNvPr>
          <p:cNvSpPr txBox="1"/>
          <p:nvPr/>
        </p:nvSpPr>
        <p:spPr>
          <a:xfrm>
            <a:off x="7155639" y="5869669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5</a:t>
            </a:r>
            <a:endParaRPr lang="zh-TW" altLang="en-US" sz="1600" dirty="0"/>
          </a:p>
        </p:txBody>
      </p: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25D8E8D0-C919-410D-B385-F8FD44F33441}"/>
              </a:ext>
            </a:extLst>
          </p:cNvPr>
          <p:cNvSpPr txBox="1"/>
          <p:nvPr/>
        </p:nvSpPr>
        <p:spPr>
          <a:xfrm>
            <a:off x="7972612" y="5872671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6</a:t>
            </a:r>
            <a:endParaRPr lang="zh-TW" altLang="en-US" sz="1600" dirty="0"/>
          </a:p>
        </p:txBody>
      </p: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D25C0FEF-0DA6-44A7-AB35-DF643296E02F}"/>
              </a:ext>
            </a:extLst>
          </p:cNvPr>
          <p:cNvSpPr txBox="1"/>
          <p:nvPr/>
        </p:nvSpPr>
        <p:spPr>
          <a:xfrm>
            <a:off x="8828522" y="5872671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7</a:t>
            </a:r>
            <a:endParaRPr lang="zh-TW" altLang="en-US" sz="1600" dirty="0"/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62641A8A-8489-4FDD-A6F6-9804240B03EC}"/>
              </a:ext>
            </a:extLst>
          </p:cNvPr>
          <p:cNvSpPr txBox="1"/>
          <p:nvPr/>
        </p:nvSpPr>
        <p:spPr>
          <a:xfrm>
            <a:off x="9645292" y="5865377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8</a:t>
            </a:r>
            <a:endParaRPr lang="zh-TW" altLang="en-US" sz="1600" dirty="0"/>
          </a:p>
        </p:txBody>
      </p: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46B5AD0A-C846-4683-A247-0F50A30381ED}"/>
              </a:ext>
            </a:extLst>
          </p:cNvPr>
          <p:cNvSpPr txBox="1"/>
          <p:nvPr/>
        </p:nvSpPr>
        <p:spPr>
          <a:xfrm>
            <a:off x="8391712" y="1787217"/>
            <a:ext cx="213076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1</a:t>
            </a:r>
            <a:endParaRPr lang="zh-TW" altLang="en-US" sz="1200" dirty="0"/>
          </a:p>
        </p:txBody>
      </p: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153D3AEF-14B9-4D55-BD3F-459E1CFB567B}"/>
              </a:ext>
            </a:extLst>
          </p:cNvPr>
          <p:cNvSpPr txBox="1"/>
          <p:nvPr/>
        </p:nvSpPr>
        <p:spPr>
          <a:xfrm>
            <a:off x="8681575" y="1788722"/>
            <a:ext cx="213076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2</a:t>
            </a:r>
            <a:endParaRPr lang="zh-TW" altLang="en-US" sz="1200" dirty="0"/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E0092817-7F87-4EDA-8987-E8F4BCAF2FA9}"/>
              </a:ext>
            </a:extLst>
          </p:cNvPr>
          <p:cNvSpPr txBox="1"/>
          <p:nvPr/>
        </p:nvSpPr>
        <p:spPr>
          <a:xfrm>
            <a:off x="8990355" y="1794346"/>
            <a:ext cx="213076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3</a:t>
            </a:r>
            <a:endParaRPr lang="zh-TW" altLang="en-US" sz="1200" dirty="0"/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E890B8FC-ABDC-468E-9574-F3AAB00BCDE9}"/>
              </a:ext>
            </a:extLst>
          </p:cNvPr>
          <p:cNvSpPr txBox="1"/>
          <p:nvPr/>
        </p:nvSpPr>
        <p:spPr>
          <a:xfrm>
            <a:off x="9287361" y="1794346"/>
            <a:ext cx="213076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4</a:t>
            </a:r>
            <a:endParaRPr lang="zh-TW" altLang="en-US" sz="1200" dirty="0"/>
          </a:p>
        </p:txBody>
      </p:sp>
      <p:sp>
        <p:nvSpPr>
          <p:cNvPr id="112" name="文字方塊 111">
            <a:extLst>
              <a:ext uri="{FF2B5EF4-FFF2-40B4-BE49-F238E27FC236}">
                <a16:creationId xmlns:a16="http://schemas.microsoft.com/office/drawing/2014/main" id="{3683230F-915F-4B98-835C-7CDA0458E317}"/>
              </a:ext>
            </a:extLst>
          </p:cNvPr>
          <p:cNvSpPr txBox="1"/>
          <p:nvPr/>
        </p:nvSpPr>
        <p:spPr>
          <a:xfrm>
            <a:off x="9600903" y="1801694"/>
            <a:ext cx="213076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1</a:t>
            </a:r>
            <a:endParaRPr lang="zh-TW" altLang="en-US" sz="1200" dirty="0"/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D140F2D2-4FB7-4455-987A-18937D49C8E6}"/>
              </a:ext>
            </a:extLst>
          </p:cNvPr>
          <p:cNvSpPr txBox="1"/>
          <p:nvPr/>
        </p:nvSpPr>
        <p:spPr>
          <a:xfrm>
            <a:off x="9890766" y="1803199"/>
            <a:ext cx="213076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2</a:t>
            </a:r>
            <a:endParaRPr lang="zh-TW" altLang="en-US" sz="1200" dirty="0"/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EE7E3788-CC03-47EF-A446-E0825EBE61D3}"/>
              </a:ext>
            </a:extLst>
          </p:cNvPr>
          <p:cNvSpPr txBox="1"/>
          <p:nvPr/>
        </p:nvSpPr>
        <p:spPr>
          <a:xfrm>
            <a:off x="10199546" y="1808823"/>
            <a:ext cx="213076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3</a:t>
            </a:r>
            <a:endParaRPr lang="zh-TW" altLang="en-US" sz="1200" dirty="0"/>
          </a:p>
        </p:txBody>
      </p: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3AD46B8F-E465-4B64-A205-3565F10A4006}"/>
              </a:ext>
            </a:extLst>
          </p:cNvPr>
          <p:cNvSpPr txBox="1"/>
          <p:nvPr/>
        </p:nvSpPr>
        <p:spPr>
          <a:xfrm>
            <a:off x="10496552" y="1808823"/>
            <a:ext cx="213076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4</a:t>
            </a:r>
            <a:endParaRPr lang="zh-TW" altLang="en-US" sz="1200" dirty="0"/>
          </a:p>
        </p:txBody>
      </p:sp>
      <p:sp>
        <p:nvSpPr>
          <p:cNvPr id="116" name="文字方塊 115">
            <a:extLst>
              <a:ext uri="{FF2B5EF4-FFF2-40B4-BE49-F238E27FC236}">
                <a16:creationId xmlns:a16="http://schemas.microsoft.com/office/drawing/2014/main" id="{1F9FCACD-3330-4899-9633-23900DB1C7E3}"/>
              </a:ext>
            </a:extLst>
          </p:cNvPr>
          <p:cNvSpPr txBox="1"/>
          <p:nvPr/>
        </p:nvSpPr>
        <p:spPr>
          <a:xfrm>
            <a:off x="8391712" y="3273620"/>
            <a:ext cx="213076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5</a:t>
            </a:r>
            <a:endParaRPr lang="zh-TW" altLang="en-US" sz="1200" dirty="0"/>
          </a:p>
        </p:txBody>
      </p: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6C79AF45-1018-40DE-8CA5-12B4DC909595}"/>
              </a:ext>
            </a:extLst>
          </p:cNvPr>
          <p:cNvSpPr txBox="1"/>
          <p:nvPr/>
        </p:nvSpPr>
        <p:spPr>
          <a:xfrm>
            <a:off x="8681575" y="3275125"/>
            <a:ext cx="213076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6</a:t>
            </a:r>
            <a:endParaRPr lang="zh-TW" altLang="en-US" sz="1200" dirty="0"/>
          </a:p>
        </p:txBody>
      </p: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3B138A2A-856B-432D-B4A2-62D9B3A6D656}"/>
              </a:ext>
            </a:extLst>
          </p:cNvPr>
          <p:cNvSpPr txBox="1"/>
          <p:nvPr/>
        </p:nvSpPr>
        <p:spPr>
          <a:xfrm>
            <a:off x="8990355" y="3280749"/>
            <a:ext cx="213076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7</a:t>
            </a:r>
            <a:endParaRPr lang="zh-TW" altLang="en-US" sz="1200" dirty="0"/>
          </a:p>
        </p:txBody>
      </p: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1876913E-B3B0-476F-A0D2-0142BEAC83EB}"/>
              </a:ext>
            </a:extLst>
          </p:cNvPr>
          <p:cNvSpPr txBox="1"/>
          <p:nvPr/>
        </p:nvSpPr>
        <p:spPr>
          <a:xfrm>
            <a:off x="9287361" y="3280749"/>
            <a:ext cx="213076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8</a:t>
            </a:r>
            <a:endParaRPr lang="zh-TW" altLang="en-US" sz="1200" dirty="0"/>
          </a:p>
        </p:txBody>
      </p:sp>
      <p:sp>
        <p:nvSpPr>
          <p:cNvPr id="120" name="文字方塊 119">
            <a:extLst>
              <a:ext uri="{FF2B5EF4-FFF2-40B4-BE49-F238E27FC236}">
                <a16:creationId xmlns:a16="http://schemas.microsoft.com/office/drawing/2014/main" id="{DC31C8C2-CF86-4ED5-81DB-98C7F5D41828}"/>
              </a:ext>
            </a:extLst>
          </p:cNvPr>
          <p:cNvSpPr txBox="1"/>
          <p:nvPr/>
        </p:nvSpPr>
        <p:spPr>
          <a:xfrm>
            <a:off x="9600903" y="3288097"/>
            <a:ext cx="213076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5</a:t>
            </a:r>
            <a:endParaRPr lang="zh-TW" altLang="en-US" sz="1200" dirty="0"/>
          </a:p>
        </p:txBody>
      </p:sp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77AADCC6-EBA6-483B-9EF3-E5D6A14697E4}"/>
              </a:ext>
            </a:extLst>
          </p:cNvPr>
          <p:cNvSpPr txBox="1"/>
          <p:nvPr/>
        </p:nvSpPr>
        <p:spPr>
          <a:xfrm>
            <a:off x="9890766" y="3289602"/>
            <a:ext cx="213076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6</a:t>
            </a:r>
            <a:endParaRPr lang="zh-TW" altLang="en-US" sz="1200" dirty="0"/>
          </a:p>
        </p:txBody>
      </p: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4FAAD24C-B61E-49D6-BD8A-CED582CFBA6E}"/>
              </a:ext>
            </a:extLst>
          </p:cNvPr>
          <p:cNvSpPr txBox="1"/>
          <p:nvPr/>
        </p:nvSpPr>
        <p:spPr>
          <a:xfrm>
            <a:off x="10199546" y="3295226"/>
            <a:ext cx="213076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7</a:t>
            </a:r>
            <a:endParaRPr lang="zh-TW" altLang="en-US" sz="1200" dirty="0"/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2D3BCA78-E0F1-47CA-90BF-38E81676B2B5}"/>
              </a:ext>
            </a:extLst>
          </p:cNvPr>
          <p:cNvSpPr txBox="1"/>
          <p:nvPr/>
        </p:nvSpPr>
        <p:spPr>
          <a:xfrm>
            <a:off x="10496552" y="3295226"/>
            <a:ext cx="213076" cy="2769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8</a:t>
            </a:r>
            <a:endParaRPr lang="zh-TW" altLang="en-US" sz="1200" dirty="0"/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AED4BBA8-9FA1-4EED-B0B1-8BE3A3D599E9}"/>
              </a:ext>
            </a:extLst>
          </p:cNvPr>
          <p:cNvSpPr txBox="1"/>
          <p:nvPr/>
        </p:nvSpPr>
        <p:spPr>
          <a:xfrm>
            <a:off x="4830907" y="6279304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rgbClr val="333333"/>
                </a:solidFill>
              </a:rPr>
              <a:t>Method1</a:t>
            </a:r>
            <a:endParaRPr lang="zh-TW" altLang="en-US" sz="1200" dirty="0">
              <a:solidFill>
                <a:srgbClr val="333333"/>
              </a:solidFill>
            </a:endParaRPr>
          </a:p>
        </p:txBody>
      </p:sp>
      <p:sp>
        <p:nvSpPr>
          <p:cNvPr id="125" name="左大括弧 124">
            <a:extLst>
              <a:ext uri="{FF2B5EF4-FFF2-40B4-BE49-F238E27FC236}">
                <a16:creationId xmlns:a16="http://schemas.microsoft.com/office/drawing/2014/main" id="{44152331-DE16-46AF-A694-4802012661FC}"/>
              </a:ext>
            </a:extLst>
          </p:cNvPr>
          <p:cNvSpPr/>
          <p:nvPr/>
        </p:nvSpPr>
        <p:spPr bwMode="auto">
          <a:xfrm rot="16200000">
            <a:off x="5205015" y="4987510"/>
            <a:ext cx="81189" cy="2411981"/>
          </a:xfrm>
          <a:prstGeom prst="leftBrace">
            <a:avLst>
              <a:gd name="adj1" fmla="val 81656"/>
              <a:gd name="adj2" fmla="val 50000"/>
            </a:avLst>
          </a:prstGeom>
          <a:noFill/>
          <a:ln w="12700" cap="flat" cmpd="sng" algn="ctr">
            <a:solidFill>
              <a:srgbClr val="333333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TW" altLang="en-US" sz="2800" b="1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0B6A8E98-EA6F-4CC4-917D-3237B7802FE7}"/>
              </a:ext>
            </a:extLst>
          </p:cNvPr>
          <p:cNvSpPr txBox="1"/>
          <p:nvPr/>
        </p:nvSpPr>
        <p:spPr>
          <a:xfrm>
            <a:off x="8131056" y="6266623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rgbClr val="333333"/>
                </a:solidFill>
              </a:rPr>
              <a:t>Method2</a:t>
            </a:r>
            <a:endParaRPr lang="zh-TW" altLang="en-US" sz="1200" dirty="0">
              <a:solidFill>
                <a:srgbClr val="333333"/>
              </a:solidFill>
            </a:endParaRPr>
          </a:p>
        </p:txBody>
      </p:sp>
      <p:sp>
        <p:nvSpPr>
          <p:cNvPr id="127" name="左大括弧 126">
            <a:extLst>
              <a:ext uri="{FF2B5EF4-FFF2-40B4-BE49-F238E27FC236}">
                <a16:creationId xmlns:a16="http://schemas.microsoft.com/office/drawing/2014/main" id="{B35B0F86-5531-4BD0-A61F-A16A6523CFBD}"/>
              </a:ext>
            </a:extLst>
          </p:cNvPr>
          <p:cNvSpPr/>
          <p:nvPr/>
        </p:nvSpPr>
        <p:spPr bwMode="auto">
          <a:xfrm rot="16200000">
            <a:off x="8505164" y="4974829"/>
            <a:ext cx="81189" cy="2411981"/>
          </a:xfrm>
          <a:prstGeom prst="leftBrace">
            <a:avLst>
              <a:gd name="adj1" fmla="val 81656"/>
              <a:gd name="adj2" fmla="val 50000"/>
            </a:avLst>
          </a:prstGeom>
          <a:noFill/>
          <a:ln w="12700" cap="flat" cmpd="sng" algn="ctr">
            <a:solidFill>
              <a:srgbClr val="333333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TW" altLang="en-US" sz="2800" b="1">
              <a:latin typeface="Arial" charset="0"/>
              <a:ea typeface="Arial Unicode MS" pitchFamily="34" charset="-12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887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800CEC-718D-40B0-B646-F6F836BAA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Parameter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D6ADC6-C050-42DE-9215-FEDF2EBF6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338262"/>
            <a:ext cx="11040533" cy="3541852"/>
          </a:xfrm>
        </p:spPr>
        <p:txBody>
          <a:bodyPr/>
          <a:lstStyle/>
          <a:p>
            <a:r>
              <a:rPr lang="en-US" altLang="zh-TW" sz="1600" dirty="0"/>
              <a:t>Only fail threshold can be adjusted </a:t>
            </a:r>
          </a:p>
          <a:p>
            <a:endParaRPr lang="en-US" altLang="zh-TW" sz="1600" dirty="0"/>
          </a:p>
          <a:p>
            <a:r>
              <a:rPr lang="en-US" altLang="zh-TW" sz="1600" dirty="0"/>
              <a:t>Self test raw data in normal mode: percentage of maximum value</a:t>
            </a:r>
          </a:p>
          <a:p>
            <a:pPr lvl="1"/>
            <a:r>
              <a:rPr lang="en-US" altLang="zh-TW" sz="1400" dirty="0"/>
              <a:t>High boundary: open NG threshold. Ex. [31:16] = 0x5A , Max. = 118 </a:t>
            </a:r>
            <a:r>
              <a:rPr lang="zh-TW" altLang="en-US" sz="1400" dirty="0"/>
              <a:t>→ </a:t>
            </a:r>
            <a:r>
              <a:rPr lang="en-US" altLang="zh-TW" sz="1400" dirty="0"/>
              <a:t>High boundary</a:t>
            </a:r>
            <a:r>
              <a:rPr lang="zh-TW" altLang="en-US" sz="1400" dirty="0"/>
              <a:t> </a:t>
            </a:r>
            <a:r>
              <a:rPr lang="en-US" altLang="zh-TW" sz="1400" dirty="0"/>
              <a:t>=</a:t>
            </a:r>
            <a:r>
              <a:rPr lang="zh-TW" altLang="en-US" sz="1400" dirty="0"/>
              <a:t> </a:t>
            </a:r>
            <a:r>
              <a:rPr lang="en-US" altLang="zh-TW" sz="1400" dirty="0"/>
              <a:t>118</a:t>
            </a:r>
            <a:r>
              <a:rPr lang="zh-TW" altLang="en-US" sz="1400" dirty="0"/>
              <a:t> * </a:t>
            </a:r>
            <a:r>
              <a:rPr lang="en-US" altLang="zh-TW" sz="1400" dirty="0"/>
              <a:t>90%</a:t>
            </a:r>
            <a:r>
              <a:rPr lang="zh-TW" altLang="en-US" sz="1400" dirty="0"/>
              <a:t> </a:t>
            </a:r>
            <a:r>
              <a:rPr lang="en-US" altLang="zh-TW" sz="1400" dirty="0"/>
              <a:t>=</a:t>
            </a:r>
            <a:r>
              <a:rPr lang="zh-TW" altLang="en-US" sz="1400" dirty="0"/>
              <a:t> </a:t>
            </a:r>
            <a:r>
              <a:rPr lang="en-US" altLang="zh-TW" sz="1400" dirty="0"/>
              <a:t>106</a:t>
            </a:r>
          </a:p>
          <a:p>
            <a:pPr lvl="1"/>
            <a:r>
              <a:rPr lang="en-US" altLang="zh-TW" sz="1400" dirty="0"/>
              <a:t>Low boundary: short NG threshold .  Ex. [15:0] = 0x0A , Max. = 118 </a:t>
            </a:r>
            <a:r>
              <a:rPr lang="zh-TW" altLang="en-US" sz="1400" dirty="0"/>
              <a:t>→ </a:t>
            </a:r>
            <a:r>
              <a:rPr lang="en-US" altLang="zh-TW" sz="1400" dirty="0"/>
              <a:t>High boundary</a:t>
            </a:r>
            <a:r>
              <a:rPr lang="zh-TW" altLang="en-US" sz="1400" dirty="0"/>
              <a:t> </a:t>
            </a:r>
            <a:r>
              <a:rPr lang="en-US" altLang="zh-TW" sz="1400" dirty="0"/>
              <a:t>=</a:t>
            </a:r>
            <a:r>
              <a:rPr lang="zh-TW" altLang="en-US" sz="1400" dirty="0"/>
              <a:t> </a:t>
            </a:r>
            <a:r>
              <a:rPr lang="en-US" altLang="zh-TW" sz="1400" dirty="0"/>
              <a:t>118</a:t>
            </a:r>
            <a:r>
              <a:rPr lang="zh-TW" altLang="en-US" sz="1400" dirty="0"/>
              <a:t> * </a:t>
            </a:r>
            <a:r>
              <a:rPr lang="en-US" altLang="zh-TW" sz="1400" dirty="0"/>
              <a:t>10%</a:t>
            </a:r>
            <a:r>
              <a:rPr lang="zh-TW" altLang="en-US" sz="1400" dirty="0"/>
              <a:t> </a:t>
            </a:r>
            <a:r>
              <a:rPr lang="en-US" altLang="zh-TW" sz="1400" dirty="0"/>
              <a:t>=</a:t>
            </a:r>
            <a:r>
              <a:rPr lang="zh-TW" altLang="en-US" sz="1400" dirty="0"/>
              <a:t> </a:t>
            </a:r>
            <a:r>
              <a:rPr lang="en-US" altLang="zh-TW" sz="1400" dirty="0"/>
              <a:t>11</a:t>
            </a:r>
          </a:p>
          <a:p>
            <a:endParaRPr lang="en-US" altLang="zh-TW" sz="1600" dirty="0"/>
          </a:p>
          <a:p>
            <a:r>
              <a:rPr lang="x-none" altLang="zh-TW" sz="1600" dirty="0">
                <a:solidFill>
                  <a:schemeClr val="dk1"/>
                </a:solidFill>
              </a:rPr>
              <a:t>Fail point boundary</a:t>
            </a:r>
            <a:r>
              <a:rPr lang="en-US" altLang="zh-TW" sz="1600" dirty="0">
                <a:solidFill>
                  <a:schemeClr val="dk1"/>
                </a:solidFill>
              </a:rPr>
              <a:t>: The amount of NG blocks must exceed this value, FW will raise the fail bit.</a:t>
            </a:r>
          </a:p>
          <a:p>
            <a:pPr lvl="1"/>
            <a:r>
              <a:rPr lang="en-US" altLang="zh-TW" sz="1400" dirty="0">
                <a:solidFill>
                  <a:schemeClr val="dk1"/>
                </a:solidFill>
              </a:rPr>
              <a:t>If this </a:t>
            </a:r>
            <a:r>
              <a:rPr lang="en-US" altLang="zh-TW" sz="1400" dirty="0"/>
              <a:t>parameter is set to 0x05, open NG blocks </a:t>
            </a:r>
            <a:r>
              <a:rPr lang="en-US" altLang="zh-TW" sz="1400" dirty="0">
                <a:solidFill>
                  <a:schemeClr val="dk1"/>
                </a:solidFill>
              </a:rPr>
              <a:t>must</a:t>
            </a:r>
            <a:r>
              <a:rPr lang="en-US" altLang="zh-TW" sz="1400" dirty="0"/>
              <a:t> </a:t>
            </a:r>
            <a:r>
              <a:rPr lang="en-US" altLang="zh-TW" sz="1400" dirty="0">
                <a:solidFill>
                  <a:schemeClr val="dk1"/>
                </a:solidFill>
              </a:rPr>
              <a:t>exceed 5 blocks.</a:t>
            </a:r>
            <a:endParaRPr lang="zh-TW" altLang="en-US" sz="1400" dirty="0">
              <a:solidFill>
                <a:schemeClr val="dk1"/>
              </a:solidFill>
            </a:endParaRPr>
          </a:p>
          <a:p>
            <a:endParaRPr lang="en-US" altLang="zh-TW" sz="1600" dirty="0"/>
          </a:p>
          <a:p>
            <a:r>
              <a:rPr lang="en-US" altLang="zh-TW" sz="1600" dirty="0"/>
              <a:t>Frame base: </a:t>
            </a:r>
            <a:r>
              <a:rPr lang="en-US" altLang="zh-TW" sz="1600" dirty="0">
                <a:solidFill>
                  <a:schemeClr val="dk1"/>
                </a:solidFill>
              </a:rPr>
              <a:t>The self test frames must exceed this value, FW will raise the fail bit.</a:t>
            </a:r>
          </a:p>
          <a:p>
            <a:pPr lvl="1"/>
            <a:r>
              <a:rPr lang="en-US" altLang="zh-TW" sz="1400" dirty="0">
                <a:solidFill>
                  <a:schemeClr val="dk1"/>
                </a:solidFill>
              </a:rPr>
              <a:t>If this </a:t>
            </a:r>
            <a:r>
              <a:rPr lang="en-US" altLang="zh-TW" sz="1400" dirty="0"/>
              <a:t>parameter is set to 0x05, FW requires 5 consecutive fail frames to raise the fail bit.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E8DF06-2E9C-479E-9A66-AC0C49D632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11</a:t>
            </a:fld>
            <a:endParaRPr lang="en-US" altLang="zh-TW"/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BC1118D3-B686-428B-BD2A-A450A1381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670200"/>
              </p:ext>
            </p:extLst>
          </p:nvPr>
        </p:nvGraphicFramePr>
        <p:xfrm>
          <a:off x="1842052" y="4880114"/>
          <a:ext cx="8901044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721">
                  <a:extLst>
                    <a:ext uri="{9D8B030D-6E8A-4147-A177-3AD203B41FA5}">
                      <a16:colId xmlns:a16="http://schemas.microsoft.com/office/drawing/2014/main" val="896289094"/>
                    </a:ext>
                  </a:extLst>
                </a:gridCol>
                <a:gridCol w="3098801">
                  <a:extLst>
                    <a:ext uri="{9D8B030D-6E8A-4147-A177-3AD203B41FA5}">
                      <a16:colId xmlns:a16="http://schemas.microsoft.com/office/drawing/2014/main" val="230170289"/>
                    </a:ext>
                  </a:extLst>
                </a:gridCol>
                <a:gridCol w="2225261">
                  <a:extLst>
                    <a:ext uri="{9D8B030D-6E8A-4147-A177-3AD203B41FA5}">
                      <a16:colId xmlns:a16="http://schemas.microsoft.com/office/drawing/2014/main" val="2882473984"/>
                    </a:ext>
                  </a:extLst>
                </a:gridCol>
                <a:gridCol w="2225261">
                  <a:extLst>
                    <a:ext uri="{9D8B030D-6E8A-4147-A177-3AD203B41FA5}">
                      <a16:colId xmlns:a16="http://schemas.microsoft.com/office/drawing/2014/main" val="33875828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Address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Threshold Item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[31:16]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[15:0]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775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0x100074B0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04800" algn="ctr">
                        <a:spcAft>
                          <a:spcPts val="0"/>
                        </a:spcAft>
                      </a:pPr>
                      <a:r>
                        <a:rPr lang="x-none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Self test raw data in normal mode</a:t>
                      </a:r>
                      <a:endParaRPr lang="zh-TW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04800" algn="ctr">
                        <a:spcAft>
                          <a:spcPts val="0"/>
                        </a:spcAft>
                      </a:pPr>
                      <a:r>
                        <a:rPr lang="x-none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 Boundary</a:t>
                      </a:r>
                      <a:endParaRPr lang="zh-TW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04800" algn="ctr">
                        <a:spcAft>
                          <a:spcPts val="0"/>
                        </a:spcAft>
                      </a:pPr>
                      <a:r>
                        <a:rPr lang="x-none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 Boundary</a:t>
                      </a:r>
                      <a:endParaRPr lang="zh-TW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7648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x-none" altLang="zh-T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0x100074B</a:t>
                      </a: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04800" algn="ctr">
                        <a:spcAft>
                          <a:spcPts val="0"/>
                        </a:spcAft>
                      </a:pPr>
                      <a:r>
                        <a:rPr lang="x-none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Fail point boundary</a:t>
                      </a:r>
                      <a:endParaRPr lang="zh-TW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</a:t>
                      </a:r>
                      <a:endParaRPr lang="zh-TW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048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x-none" altLang="zh-T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0x100074B</a:t>
                      </a: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Frame base</a:t>
                      </a:r>
                      <a:endParaRPr lang="zh-TW" altLang="en-US" sz="1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</a:t>
                      </a:r>
                      <a:endParaRPr lang="zh-TW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743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3916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4535AF-E5C4-47A6-8467-E4997FB35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Output Value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6AAE23-14F8-4408-9BF9-C3E3CF95C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042737"/>
            <a:ext cx="11040533" cy="673768"/>
          </a:xfrm>
        </p:spPr>
        <p:txBody>
          <a:bodyPr/>
          <a:lstStyle/>
          <a:p>
            <a:r>
              <a:rPr lang="en-US" altLang="zh-TW" sz="1600" dirty="0"/>
              <a:t>Self test value</a:t>
            </a:r>
          </a:p>
          <a:p>
            <a:pPr lvl="1"/>
            <a:r>
              <a:rPr lang="en-US" altLang="zh-TW" sz="1400" dirty="0"/>
              <a:t>Raw out type 0x0B in normal mode: output value is about half of the maximum </a:t>
            </a:r>
            <a:endParaRPr lang="zh-TW" altLang="en-US" sz="1400" dirty="0"/>
          </a:p>
          <a:p>
            <a:pPr lvl="1"/>
            <a:endParaRPr lang="zh-TW" altLang="en-US" sz="1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38C8E1-6DA7-4106-BF12-93A8D8619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12</a:t>
            </a:fld>
            <a:endParaRPr lang="en-US" altLang="zh-TW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CD40692-FEBD-4E60-82FF-35CE82E53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369" y="1716505"/>
            <a:ext cx="9151920" cy="481129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172A775-DDA9-48A2-87E6-638E19CE9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711" y="3929347"/>
            <a:ext cx="3669060" cy="2598453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34B4F87D-9F33-4F74-ABB7-F4C01D9C2316}"/>
              </a:ext>
            </a:extLst>
          </p:cNvPr>
          <p:cNvSpPr/>
          <p:nvPr/>
        </p:nvSpPr>
        <p:spPr bwMode="auto">
          <a:xfrm>
            <a:off x="4138072" y="5450373"/>
            <a:ext cx="1026695" cy="416727"/>
          </a:xfrm>
          <a:prstGeom prst="roundRect">
            <a:avLst/>
          </a:prstGeom>
          <a:noFill/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7312097-F41A-466B-B20B-94930D08ABE4}"/>
              </a:ext>
            </a:extLst>
          </p:cNvPr>
          <p:cNvSpPr/>
          <p:nvPr/>
        </p:nvSpPr>
        <p:spPr bwMode="auto">
          <a:xfrm>
            <a:off x="1195137" y="5270200"/>
            <a:ext cx="336883" cy="376622"/>
          </a:xfrm>
          <a:prstGeom prst="roundRect">
            <a:avLst/>
          </a:prstGeom>
          <a:noFill/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189706-2E0E-4E96-A163-9EC2554DD2DA}"/>
              </a:ext>
            </a:extLst>
          </p:cNvPr>
          <p:cNvSpPr/>
          <p:nvPr/>
        </p:nvSpPr>
        <p:spPr>
          <a:xfrm>
            <a:off x="144379" y="4681169"/>
            <a:ext cx="10507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400" dirty="0"/>
              <a:t>Maximum</a:t>
            </a:r>
          </a:p>
          <a:p>
            <a:pPr algn="ctr"/>
            <a:r>
              <a:rPr lang="en-US" altLang="zh-TW" sz="1400" dirty="0"/>
              <a:t>value</a:t>
            </a:r>
            <a:endParaRPr lang="zh-TW" altLang="en-US" sz="1400" dirty="0"/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EEB15B3F-F226-45D8-8ABA-7597269D8B73}"/>
              </a:ext>
            </a:extLst>
          </p:cNvPr>
          <p:cNvCxnSpPr>
            <a:stCxn id="10" idx="1"/>
            <a:endCxn id="11" idx="2"/>
          </p:cNvCxnSpPr>
          <p:nvPr/>
        </p:nvCxnSpPr>
        <p:spPr bwMode="auto">
          <a:xfrm flipH="1" flipV="1">
            <a:off x="669758" y="5204389"/>
            <a:ext cx="525379" cy="25412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1C33FF3-3CE3-440F-90FA-C3D5EF7FA00D}"/>
              </a:ext>
            </a:extLst>
          </p:cNvPr>
          <p:cNvSpPr/>
          <p:nvPr/>
        </p:nvSpPr>
        <p:spPr bwMode="auto">
          <a:xfrm>
            <a:off x="2846683" y="4010526"/>
            <a:ext cx="1026695" cy="240633"/>
          </a:xfrm>
          <a:prstGeom prst="roundRect">
            <a:avLst/>
          </a:prstGeom>
          <a:noFill/>
          <a:ln w="381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689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B9721E-F63E-45FE-B945-BDB77EDB2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Unable to Detect Short NG Case(1/2)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B43767-82C5-4C56-A676-3EBCE781DD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13</a:t>
            </a:fld>
            <a:endParaRPr lang="en-US" altLang="zh-TW"/>
          </a:p>
        </p:txBody>
      </p:sp>
      <p:pic>
        <p:nvPicPr>
          <p:cNvPr id="5" name="図 2">
            <a:extLst>
              <a:ext uri="{FF2B5EF4-FFF2-40B4-BE49-F238E27FC236}">
                <a16:creationId xmlns:a16="http://schemas.microsoft.com/office/drawing/2014/main" id="{7BE5928E-9F81-4F30-8D6C-4AA8199771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61" t="3020" r="8843" b="9707"/>
          <a:stretch/>
        </p:blipFill>
        <p:spPr>
          <a:xfrm>
            <a:off x="2188229" y="1541603"/>
            <a:ext cx="7815541" cy="4986197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07F79902-A8B1-4D72-96EB-EDC82A1EB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043609"/>
            <a:ext cx="11040533" cy="497994"/>
          </a:xfrm>
        </p:spPr>
        <p:txBody>
          <a:bodyPr/>
          <a:lstStyle/>
          <a:p>
            <a:r>
              <a:rPr lang="en-US" altLang="zh-TW" sz="1600" dirty="0"/>
              <a:t>Short NG block can be detected in </a:t>
            </a:r>
            <a:r>
              <a:rPr lang="en-US" altLang="zh-TW" sz="1600" b="1" dirty="0"/>
              <a:t>short mode(MPAP)</a:t>
            </a:r>
            <a:r>
              <a:rPr lang="en-US" altLang="zh-TW" sz="1600" dirty="0"/>
              <a:t>. 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1829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CC7431-CB38-4F9F-A12F-81C2CAC8F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Unable to Detect Short NG Case(2/2)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CC80A0-B051-4AE2-9EF1-04508EAB48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51AFDDA6-69B7-4FC0-BDD7-E6C201453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990600"/>
            <a:ext cx="11040533" cy="551003"/>
          </a:xfrm>
        </p:spPr>
        <p:txBody>
          <a:bodyPr/>
          <a:lstStyle/>
          <a:p>
            <a:r>
              <a:rPr lang="en-US" altLang="zh-TW" sz="1600" dirty="0"/>
              <a:t>Short NG block may not be detectable in </a:t>
            </a:r>
            <a:r>
              <a:rPr lang="en-US" altLang="zh-TW" sz="1600" b="1" dirty="0"/>
              <a:t>self test – normal mode</a:t>
            </a:r>
            <a:r>
              <a:rPr lang="en-US" altLang="zh-TW" sz="1600" dirty="0"/>
              <a:t>. </a:t>
            </a:r>
          </a:p>
          <a:p>
            <a:pPr lvl="1"/>
            <a:r>
              <a:rPr lang="en-US" altLang="zh-TW" sz="1400" dirty="0"/>
              <a:t>Because the sensing blocks are shorted together. Ex. ADC drive : C = 1 : 1 = 2 : 2</a:t>
            </a:r>
            <a:endParaRPr lang="zh-TW" altLang="en-US" sz="1400" dirty="0"/>
          </a:p>
        </p:txBody>
      </p:sp>
      <p:pic>
        <p:nvPicPr>
          <p:cNvPr id="6" name="図 1">
            <a:extLst>
              <a:ext uri="{FF2B5EF4-FFF2-40B4-BE49-F238E27FC236}">
                <a16:creationId xmlns:a16="http://schemas.microsoft.com/office/drawing/2014/main" id="{7D3C78B5-FEFF-4AC7-A7A0-3066A8A85F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86" t="2971" r="8489" b="10279"/>
          <a:stretch/>
        </p:blipFill>
        <p:spPr>
          <a:xfrm>
            <a:off x="2215689" y="1556545"/>
            <a:ext cx="7845287" cy="495631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4904C8D-FEF8-43ED-AD19-D0250E7DE951}"/>
              </a:ext>
            </a:extLst>
          </p:cNvPr>
          <p:cNvSpPr/>
          <p:nvPr/>
        </p:nvSpPr>
        <p:spPr bwMode="auto">
          <a:xfrm>
            <a:off x="8298181" y="3542712"/>
            <a:ext cx="167640" cy="27019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0334FD-5B5D-4D72-8AC8-AE39E8DF52AE}"/>
              </a:ext>
            </a:extLst>
          </p:cNvPr>
          <p:cNvSpPr/>
          <p:nvPr/>
        </p:nvSpPr>
        <p:spPr bwMode="auto">
          <a:xfrm>
            <a:off x="8298181" y="4034701"/>
            <a:ext cx="167640" cy="27019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730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0E6CEC-E797-460F-B51B-225FC0F2A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Detect Open NG Case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6C0009-72CA-4583-87B2-590EDC6F1C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9EAF15AD-1CA4-4E0F-91EC-EE8F4B471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043609"/>
            <a:ext cx="11040533" cy="497994"/>
          </a:xfrm>
        </p:spPr>
        <p:txBody>
          <a:bodyPr/>
          <a:lstStyle/>
          <a:p>
            <a:r>
              <a:rPr lang="en-US" altLang="zh-TW" sz="1600" dirty="0"/>
              <a:t>Open NG must be detected in self test – normal mode. </a:t>
            </a:r>
            <a:endParaRPr lang="zh-TW" altLang="en-US" sz="1600" dirty="0"/>
          </a:p>
        </p:txBody>
      </p:sp>
      <p:pic>
        <p:nvPicPr>
          <p:cNvPr id="6" name="図 4">
            <a:extLst>
              <a:ext uri="{FF2B5EF4-FFF2-40B4-BE49-F238E27FC236}">
                <a16:creationId xmlns:a16="http://schemas.microsoft.com/office/drawing/2014/main" id="{1A0BC0D1-CE05-4D09-B4D5-158EB12AF0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51" t="2717" r="9100" b="9822"/>
          <a:stretch/>
        </p:blipFill>
        <p:spPr>
          <a:xfrm>
            <a:off x="2214032" y="1475408"/>
            <a:ext cx="7848601" cy="505239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A00FADD-6A99-4732-B623-914D6E64E373}"/>
              </a:ext>
            </a:extLst>
          </p:cNvPr>
          <p:cNvSpPr/>
          <p:nvPr/>
        </p:nvSpPr>
        <p:spPr bwMode="auto">
          <a:xfrm>
            <a:off x="3764281" y="3255804"/>
            <a:ext cx="167640" cy="27019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306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8A9719-64FA-4B85-9A3E-07BB819169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16</a:t>
            </a:fld>
            <a:endParaRPr lang="en-US" altLang="zh-TW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799F257-E3C2-4CC9-99DC-1AF045153985}"/>
              </a:ext>
            </a:extLst>
          </p:cNvPr>
          <p:cNvSpPr txBox="1"/>
          <p:nvPr/>
        </p:nvSpPr>
        <p:spPr>
          <a:xfrm>
            <a:off x="3545305" y="3167390"/>
            <a:ext cx="5101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Self Test – Inspect Mode</a:t>
            </a:r>
          </a:p>
        </p:txBody>
      </p:sp>
    </p:spTree>
    <p:extLst>
      <p:ext uri="{BB962C8B-B14F-4D97-AF65-F5344CB8AC3E}">
        <p14:creationId xmlns:p14="http://schemas.microsoft.com/office/powerpoint/2010/main" val="368301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80E8F7-6152-4E2E-813C-49A50FD9E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System Diagram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310C36-68A8-4BAD-B934-A0E86BB93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338263"/>
            <a:ext cx="11040533" cy="1871662"/>
          </a:xfrm>
        </p:spPr>
        <p:txBody>
          <a:bodyPr/>
          <a:lstStyle/>
          <a:p>
            <a:pPr lvl="0"/>
            <a:r>
              <a:rPr lang="en-US" altLang="zh-TW" sz="1600" dirty="0"/>
              <a:t>Through R/W Reg node of AP to access Himax TDDI.</a:t>
            </a:r>
          </a:p>
          <a:p>
            <a:pPr lvl="0"/>
            <a:endParaRPr lang="zh-TW" altLang="zh-TW" sz="1600" dirty="0"/>
          </a:p>
          <a:p>
            <a:pPr lvl="0"/>
            <a:r>
              <a:rPr lang="en-US" altLang="zh-TW" sz="1600" dirty="0"/>
              <a:t>Following Himax design command and flow to do TP sensor function check. </a:t>
            </a:r>
            <a:endParaRPr lang="en-US" altLang="zh-TW" sz="1600" b="1" dirty="0"/>
          </a:p>
          <a:p>
            <a:pPr lvl="1"/>
            <a:r>
              <a:rPr lang="en-US" altLang="zh-TW" sz="1400" dirty="0"/>
              <a:t>Test Item: Open, Short, Noise</a:t>
            </a:r>
          </a:p>
          <a:p>
            <a:pPr lvl="1"/>
            <a:endParaRPr lang="zh-TW" altLang="zh-TW" sz="1600" dirty="0"/>
          </a:p>
          <a:p>
            <a:pPr lvl="0"/>
            <a:r>
              <a:rPr lang="en-US" altLang="zh-TW" sz="1600" dirty="0"/>
              <a:t>Check results after inspect mode done.</a:t>
            </a:r>
            <a:endParaRPr lang="zh-TW" altLang="zh-TW" sz="1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DA3CA2-7F59-4730-83DA-14BE98467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17</a:t>
            </a:fld>
            <a:endParaRPr lang="en-US" altLang="zh-TW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D8BEA9D-01DF-46C8-B07F-FE273F044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825" y="3382963"/>
            <a:ext cx="2800350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6878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7BBDF5-0307-48C7-9245-B5F011B6A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Command Description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37759E-240A-41F2-A271-B7698BFC0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338263"/>
            <a:ext cx="11040533" cy="947737"/>
          </a:xfrm>
        </p:spPr>
        <p:txBody>
          <a:bodyPr/>
          <a:lstStyle/>
          <a:p>
            <a:r>
              <a:rPr lang="en-US" altLang="zh-TW" sz="1600" dirty="0"/>
              <a:t>Command address:  </a:t>
            </a:r>
            <a:r>
              <a:rPr lang="en-US" altLang="zh-TW" sz="1600" dirty="0">
                <a:solidFill>
                  <a:srgbClr val="008000"/>
                </a:solidFill>
              </a:rPr>
              <a:t>0x10007454</a:t>
            </a:r>
            <a:endParaRPr lang="en-US" altLang="zh-TW" sz="1600" dirty="0"/>
          </a:p>
          <a:p>
            <a:r>
              <a:rPr lang="en-US" altLang="zh-TW" sz="1600" dirty="0"/>
              <a:t>32 bits definition of register </a:t>
            </a:r>
            <a:endParaRPr lang="zh-TW" altLang="en-US" sz="1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B9592B-7C6D-403B-A088-A09CEE0CA5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18</a:t>
            </a:fld>
            <a:endParaRPr lang="en-US" altLang="zh-TW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7B035ED-BD22-436D-8457-1578F258D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81079"/>
              </p:ext>
            </p:extLst>
          </p:nvPr>
        </p:nvGraphicFramePr>
        <p:xfrm>
          <a:off x="6435438" y="4182012"/>
          <a:ext cx="2902517" cy="2105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457">
                  <a:extLst>
                    <a:ext uri="{9D8B030D-6E8A-4147-A177-3AD203B41FA5}">
                      <a16:colId xmlns:a16="http://schemas.microsoft.com/office/drawing/2014/main" val="2796999310"/>
                    </a:ext>
                  </a:extLst>
                </a:gridCol>
                <a:gridCol w="1997060">
                  <a:extLst>
                    <a:ext uri="{9D8B030D-6E8A-4147-A177-3AD203B41FA5}">
                      <a16:colId xmlns:a16="http://schemas.microsoft.com/office/drawing/2014/main" val="1012023406"/>
                    </a:ext>
                  </a:extLst>
                </a:gridCol>
              </a:tblGrid>
              <a:tr h="3509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Bit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Description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209739"/>
                  </a:ext>
                </a:extLst>
              </a:tr>
              <a:tr h="3509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[0]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Do Short Test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2600"/>
                  </a:ext>
                </a:extLst>
              </a:tr>
              <a:tr h="3509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[1]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Do Open Test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452584"/>
                  </a:ext>
                </a:extLst>
              </a:tr>
              <a:tr h="3509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[2]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Reserved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69230"/>
                  </a:ext>
                </a:extLst>
              </a:tr>
              <a:tr h="3509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[3]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Do Noise Test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368994"/>
                  </a:ext>
                </a:extLst>
              </a:tr>
              <a:tr h="3509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[4~7]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Reserved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05197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D2E85567-A827-4767-A1B9-E9EB0630655B}"/>
              </a:ext>
            </a:extLst>
          </p:cNvPr>
          <p:cNvSpPr txBox="1"/>
          <p:nvPr/>
        </p:nvSpPr>
        <p:spPr>
          <a:xfrm>
            <a:off x="2478009" y="4213393"/>
            <a:ext cx="34337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TW" sz="1200" b="1" dirty="0"/>
              <a:t>0x00: Initial Value</a:t>
            </a:r>
          </a:p>
          <a:p>
            <a:pPr algn="l"/>
            <a:r>
              <a:rPr lang="en-US" altLang="zh-TW" sz="1200" b="1" dirty="0">
                <a:solidFill>
                  <a:srgbClr val="FF9933"/>
                </a:solidFill>
              </a:rPr>
              <a:t>0x5A: Trigger Self-Test   </a:t>
            </a:r>
            <a:r>
              <a:rPr lang="en-US" altLang="zh-TW" sz="1200" b="1" dirty="0">
                <a:solidFill>
                  <a:srgbClr val="008000"/>
                </a:solidFill>
              </a:rPr>
              <a:t>(Update by Indigo3)</a:t>
            </a:r>
          </a:p>
          <a:p>
            <a:pPr algn="l"/>
            <a:r>
              <a:rPr lang="en-US" altLang="zh-TW" sz="1200" b="1" dirty="0">
                <a:solidFill>
                  <a:srgbClr val="FF9933"/>
                </a:solidFill>
              </a:rPr>
              <a:t>0xA5: Start Self-Test      </a:t>
            </a:r>
            <a:r>
              <a:rPr lang="en-US" altLang="zh-TW" sz="1200" b="1" dirty="0">
                <a:solidFill>
                  <a:srgbClr val="7030A0"/>
                </a:solidFill>
              </a:rPr>
              <a:t>(Update by Hx TDDI)</a:t>
            </a:r>
          </a:p>
          <a:p>
            <a:pPr algn="l"/>
            <a:r>
              <a:rPr lang="en-US" altLang="zh-TW" sz="1200" b="1" dirty="0">
                <a:solidFill>
                  <a:srgbClr val="FF9933"/>
                </a:solidFill>
              </a:rPr>
              <a:t>0xFF: Self-Test is done. </a:t>
            </a:r>
            <a:r>
              <a:rPr lang="en-US" altLang="zh-TW" sz="1200" b="1" dirty="0">
                <a:solidFill>
                  <a:srgbClr val="7030A0"/>
                </a:solidFill>
              </a:rPr>
              <a:t>(Update by Hx TDDI</a:t>
            </a:r>
            <a:r>
              <a:rPr lang="en-US" altLang="zh-TW" sz="1200" dirty="0">
                <a:solidFill>
                  <a:srgbClr val="7030A0"/>
                </a:solidFill>
              </a:rPr>
              <a:t>)</a:t>
            </a:r>
            <a:endParaRPr lang="en-US" altLang="zh-TW" sz="1200" b="1" dirty="0">
              <a:solidFill>
                <a:srgbClr val="7030A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2BEE78-04D8-49BC-BA25-C268E78A9731}"/>
              </a:ext>
            </a:extLst>
          </p:cNvPr>
          <p:cNvSpPr/>
          <p:nvPr/>
        </p:nvSpPr>
        <p:spPr bwMode="auto">
          <a:xfrm>
            <a:off x="4358640" y="2860812"/>
            <a:ext cx="1722120" cy="488178"/>
          </a:xfrm>
          <a:prstGeom prst="rect">
            <a:avLst/>
          </a:prstGeom>
          <a:solidFill>
            <a:srgbClr val="DDDDDD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altLang="zh-TW" sz="2000" dirty="0"/>
              <a:t>Reserved</a:t>
            </a:r>
            <a:endParaRPr lang="zh-TW" altLang="en-US" sz="2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70F6DA-02EF-4ADE-885C-5EA74638E48A}"/>
              </a:ext>
            </a:extLst>
          </p:cNvPr>
          <p:cNvSpPr/>
          <p:nvPr/>
        </p:nvSpPr>
        <p:spPr bwMode="auto">
          <a:xfrm>
            <a:off x="6156959" y="2856906"/>
            <a:ext cx="1729740" cy="48817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altLang="zh-TW" sz="2000" dirty="0"/>
              <a:t>Test Item</a:t>
            </a:r>
            <a:endParaRPr lang="zh-TW" altLang="en-US" sz="2000" dirty="0"/>
          </a:p>
        </p:txBody>
      </p:sp>
      <p:sp>
        <p:nvSpPr>
          <p:cNvPr id="9" name="右大括弧 8">
            <a:extLst>
              <a:ext uri="{FF2B5EF4-FFF2-40B4-BE49-F238E27FC236}">
                <a16:creationId xmlns:a16="http://schemas.microsoft.com/office/drawing/2014/main" id="{6178B284-1DB1-40E5-B498-83A6CD8DDDC9}"/>
              </a:ext>
            </a:extLst>
          </p:cNvPr>
          <p:cNvSpPr/>
          <p:nvPr/>
        </p:nvSpPr>
        <p:spPr bwMode="auto">
          <a:xfrm rot="16200000">
            <a:off x="5985137" y="-922395"/>
            <a:ext cx="231986" cy="7076341"/>
          </a:xfrm>
          <a:prstGeom prst="rightBrace">
            <a:avLst>
              <a:gd name="adj1" fmla="val 28862"/>
              <a:gd name="adj2" fmla="val 50000"/>
            </a:avLst>
          </a:prstGeom>
          <a:noFill/>
          <a:ln w="127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87A9300-CB1D-4878-9A61-928B45B56BC0}"/>
              </a:ext>
            </a:extLst>
          </p:cNvPr>
          <p:cNvSpPr txBox="1"/>
          <p:nvPr/>
        </p:nvSpPr>
        <p:spPr>
          <a:xfrm>
            <a:off x="5720736" y="2192264"/>
            <a:ext cx="750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32 bits</a:t>
            </a:r>
            <a:endParaRPr lang="zh-TW" altLang="en-US" sz="1400" dirty="0"/>
          </a:p>
        </p:txBody>
      </p:sp>
      <p:sp>
        <p:nvSpPr>
          <p:cNvPr id="11" name="右大括弧 10">
            <a:extLst>
              <a:ext uri="{FF2B5EF4-FFF2-40B4-BE49-F238E27FC236}">
                <a16:creationId xmlns:a16="http://schemas.microsoft.com/office/drawing/2014/main" id="{8808307E-7104-406F-B7E5-5638AD05BCAB}"/>
              </a:ext>
            </a:extLst>
          </p:cNvPr>
          <p:cNvSpPr/>
          <p:nvPr/>
        </p:nvSpPr>
        <p:spPr bwMode="auto">
          <a:xfrm rot="5400000">
            <a:off x="6962369" y="2651265"/>
            <a:ext cx="118918" cy="1729738"/>
          </a:xfrm>
          <a:prstGeom prst="rightBrace">
            <a:avLst>
              <a:gd name="adj1" fmla="val 28862"/>
              <a:gd name="adj2" fmla="val 50000"/>
            </a:avLst>
          </a:prstGeom>
          <a:noFill/>
          <a:ln w="127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4E6A2D4-2DAF-4918-A0A0-18930690A194}"/>
              </a:ext>
            </a:extLst>
          </p:cNvPr>
          <p:cNvSpPr txBox="1"/>
          <p:nvPr/>
        </p:nvSpPr>
        <p:spPr>
          <a:xfrm>
            <a:off x="6627328" y="3575195"/>
            <a:ext cx="788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8 bits</a:t>
            </a:r>
            <a:endParaRPr lang="zh-TW" altLang="en-US" sz="1400" dirty="0"/>
          </a:p>
        </p:txBody>
      </p:sp>
      <p:sp>
        <p:nvSpPr>
          <p:cNvPr id="13" name="箭號: 向下 12">
            <a:extLst>
              <a:ext uri="{FF2B5EF4-FFF2-40B4-BE49-F238E27FC236}">
                <a16:creationId xmlns:a16="http://schemas.microsoft.com/office/drawing/2014/main" id="{DC04612D-8F0C-445F-A36E-82C53EFA7B58}"/>
              </a:ext>
            </a:extLst>
          </p:cNvPr>
          <p:cNvSpPr/>
          <p:nvPr/>
        </p:nvSpPr>
        <p:spPr bwMode="auto">
          <a:xfrm>
            <a:off x="3967151" y="3869328"/>
            <a:ext cx="731849" cy="364550"/>
          </a:xfrm>
          <a:prstGeom prst="downArrow">
            <a:avLst/>
          </a:prstGeom>
          <a:solidFill>
            <a:srgbClr val="DDDDDD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9EE84A3F-43CE-419A-9A1F-E0687A8562E3}"/>
              </a:ext>
            </a:extLst>
          </p:cNvPr>
          <p:cNvCxnSpPr/>
          <p:nvPr/>
        </p:nvCxnSpPr>
        <p:spPr bwMode="auto">
          <a:xfrm>
            <a:off x="6134100" y="3807964"/>
            <a:ext cx="0" cy="243612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3F482221-3976-4229-8D4A-3313634D8837}"/>
              </a:ext>
            </a:extLst>
          </p:cNvPr>
          <p:cNvSpPr/>
          <p:nvPr/>
        </p:nvSpPr>
        <p:spPr bwMode="auto">
          <a:xfrm>
            <a:off x="2575560" y="2855915"/>
            <a:ext cx="1699260" cy="4881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altLang="zh-TW" sz="2000" dirty="0"/>
              <a:t>Command</a:t>
            </a:r>
            <a:endParaRPr lang="zh-TW" altLang="en-US" sz="20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070E0B-58BB-4172-800C-FBBCC570192D}"/>
              </a:ext>
            </a:extLst>
          </p:cNvPr>
          <p:cNvSpPr/>
          <p:nvPr/>
        </p:nvSpPr>
        <p:spPr bwMode="auto">
          <a:xfrm>
            <a:off x="7932419" y="2852009"/>
            <a:ext cx="1729740" cy="488178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altLang="zh-TW" sz="2000" dirty="0"/>
              <a:t>Checksum</a:t>
            </a:r>
            <a:endParaRPr lang="zh-TW" altLang="en-US" sz="2000" dirty="0"/>
          </a:p>
        </p:txBody>
      </p:sp>
      <p:sp>
        <p:nvSpPr>
          <p:cNvPr id="17" name="右大括弧 16">
            <a:extLst>
              <a:ext uri="{FF2B5EF4-FFF2-40B4-BE49-F238E27FC236}">
                <a16:creationId xmlns:a16="http://schemas.microsoft.com/office/drawing/2014/main" id="{84721D80-BA95-41D7-AA61-724481823B3B}"/>
              </a:ext>
            </a:extLst>
          </p:cNvPr>
          <p:cNvSpPr/>
          <p:nvPr/>
        </p:nvSpPr>
        <p:spPr bwMode="auto">
          <a:xfrm rot="5400000">
            <a:off x="8753067" y="2656984"/>
            <a:ext cx="118918" cy="1729738"/>
          </a:xfrm>
          <a:prstGeom prst="rightBrace">
            <a:avLst>
              <a:gd name="adj1" fmla="val 28862"/>
              <a:gd name="adj2" fmla="val 50000"/>
            </a:avLst>
          </a:prstGeom>
          <a:noFill/>
          <a:ln w="127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7F787F2-6ED7-42B1-A409-34683C70F45D}"/>
              </a:ext>
            </a:extLst>
          </p:cNvPr>
          <p:cNvSpPr txBox="1"/>
          <p:nvPr/>
        </p:nvSpPr>
        <p:spPr>
          <a:xfrm>
            <a:off x="8418026" y="3580914"/>
            <a:ext cx="788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8 bits</a:t>
            </a:r>
            <a:endParaRPr lang="zh-TW" altLang="en-US" sz="1400" dirty="0"/>
          </a:p>
        </p:txBody>
      </p:sp>
      <p:sp>
        <p:nvSpPr>
          <p:cNvPr id="19" name="右大括弧 18">
            <a:extLst>
              <a:ext uri="{FF2B5EF4-FFF2-40B4-BE49-F238E27FC236}">
                <a16:creationId xmlns:a16="http://schemas.microsoft.com/office/drawing/2014/main" id="{BEBB5977-AFF2-4EC1-B6F4-EC52486CA004}"/>
              </a:ext>
            </a:extLst>
          </p:cNvPr>
          <p:cNvSpPr/>
          <p:nvPr/>
        </p:nvSpPr>
        <p:spPr bwMode="auto">
          <a:xfrm rot="5400000">
            <a:off x="3368369" y="2664977"/>
            <a:ext cx="118918" cy="1729738"/>
          </a:xfrm>
          <a:prstGeom prst="rightBrace">
            <a:avLst>
              <a:gd name="adj1" fmla="val 28862"/>
              <a:gd name="adj2" fmla="val 50000"/>
            </a:avLst>
          </a:prstGeom>
          <a:noFill/>
          <a:ln w="127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784312D-FB5F-4321-8E2D-402687A95C0D}"/>
              </a:ext>
            </a:extLst>
          </p:cNvPr>
          <p:cNvSpPr txBox="1"/>
          <p:nvPr/>
        </p:nvSpPr>
        <p:spPr>
          <a:xfrm>
            <a:off x="3033328" y="3588907"/>
            <a:ext cx="788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8 bits</a:t>
            </a:r>
            <a:endParaRPr lang="zh-TW" altLang="en-US" sz="1400" dirty="0"/>
          </a:p>
        </p:txBody>
      </p:sp>
      <p:sp>
        <p:nvSpPr>
          <p:cNvPr id="21" name="右大括弧 20">
            <a:extLst>
              <a:ext uri="{FF2B5EF4-FFF2-40B4-BE49-F238E27FC236}">
                <a16:creationId xmlns:a16="http://schemas.microsoft.com/office/drawing/2014/main" id="{F4554C5A-A160-4D26-AD3C-E66A19735790}"/>
              </a:ext>
            </a:extLst>
          </p:cNvPr>
          <p:cNvSpPr/>
          <p:nvPr/>
        </p:nvSpPr>
        <p:spPr bwMode="auto">
          <a:xfrm rot="5400000">
            <a:off x="5159067" y="2670696"/>
            <a:ext cx="118918" cy="1729738"/>
          </a:xfrm>
          <a:prstGeom prst="rightBrace">
            <a:avLst>
              <a:gd name="adj1" fmla="val 28862"/>
              <a:gd name="adj2" fmla="val 50000"/>
            </a:avLst>
          </a:prstGeom>
          <a:noFill/>
          <a:ln w="127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2D63188-D5FD-4B00-ABF7-E2C8E7F02791}"/>
              </a:ext>
            </a:extLst>
          </p:cNvPr>
          <p:cNvSpPr txBox="1"/>
          <p:nvPr/>
        </p:nvSpPr>
        <p:spPr>
          <a:xfrm>
            <a:off x="4824026" y="3594626"/>
            <a:ext cx="788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8 bits</a:t>
            </a:r>
            <a:endParaRPr lang="zh-TW" altLang="en-US" sz="14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D2BABD-D060-488F-9580-CE95890ABD1E}"/>
              </a:ext>
            </a:extLst>
          </p:cNvPr>
          <p:cNvSpPr/>
          <p:nvPr/>
        </p:nvSpPr>
        <p:spPr bwMode="auto">
          <a:xfrm>
            <a:off x="2478009" y="5535463"/>
            <a:ext cx="3400734" cy="752303"/>
          </a:xfrm>
          <a:prstGeom prst="rect">
            <a:avLst/>
          </a:prstGeom>
          <a:solidFill>
            <a:srgbClr val="DDDDDD"/>
          </a:solidFill>
          <a:ln w="381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200" dirty="0">
                <a:solidFill>
                  <a:srgbClr val="292929"/>
                </a:solidFill>
                <a:cs typeface="Arial" charset="0"/>
              </a:rPr>
              <a:t>Example</a:t>
            </a:r>
            <a:r>
              <a:rPr lang="en-US" altLang="zh-TW" sz="1200" b="0" dirty="0">
                <a:solidFill>
                  <a:srgbClr val="292929"/>
                </a:solidFill>
                <a:cs typeface="Arial" charset="0"/>
              </a:rPr>
              <a:t>: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200" b="0" dirty="0">
                <a:solidFill>
                  <a:srgbClr val="292929"/>
                </a:solidFill>
                <a:cs typeface="Arial" charset="0"/>
              </a:rPr>
              <a:t>1. Do 3 test:                </a:t>
            </a:r>
            <a:r>
              <a:rPr kumimoji="0" lang="en-US" altLang="zh-TW" sz="1200" b="0" i="0" u="none" strike="noStrike" cap="none" normalizeH="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charset="0"/>
                <a:ea typeface="Arial Unicode MS" pitchFamily="34" charset="-120"/>
                <a:cs typeface="Arial" charset="0"/>
              </a:rPr>
              <a:t>W 0x5A00_0B9B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200" b="0" dirty="0">
                <a:solidFill>
                  <a:srgbClr val="292929"/>
                </a:solidFill>
                <a:cs typeface="Arial" charset="0"/>
              </a:rPr>
              <a:t>2. Only do open test:  W 0x5A00_02A4</a:t>
            </a:r>
            <a:endParaRPr kumimoji="0" lang="zh-TW" altLang="en-US" sz="1200" b="0" i="0" u="none" strike="noStrike" cap="none" normalizeH="0" baseline="0" dirty="0">
              <a:ln>
                <a:noFill/>
              </a:ln>
              <a:solidFill>
                <a:srgbClr val="292929"/>
              </a:solidFill>
              <a:effectLst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475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189345-72D7-41A1-893E-64FE94FF5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 Data Format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F3231D-38B7-45B6-BE95-CE312E7B6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338263"/>
            <a:ext cx="11040533" cy="871537"/>
          </a:xfrm>
        </p:spPr>
        <p:txBody>
          <a:bodyPr/>
          <a:lstStyle/>
          <a:p>
            <a:r>
              <a:rPr lang="en-US" altLang="zh-TW" sz="1600" dirty="0"/>
              <a:t>Definition of Result Data Format -1 </a:t>
            </a:r>
            <a:endParaRPr lang="zh-TW" altLang="en-US" sz="1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DD36AA-E253-49C8-8CA5-B3942EBB6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19</a:t>
            </a:fld>
            <a:endParaRPr lang="en-US" altLang="zh-TW"/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362FCFD6-A160-4C0E-8288-5F046FB3D18F}"/>
              </a:ext>
            </a:extLst>
          </p:cNvPr>
          <p:cNvCxnSpPr>
            <a:cxnSpLocks/>
            <a:stCxn id="44" idx="2"/>
            <a:endCxn id="24" idx="0"/>
          </p:cNvCxnSpPr>
          <p:nvPr/>
        </p:nvCxnSpPr>
        <p:spPr bwMode="auto">
          <a:xfrm>
            <a:off x="3746098" y="3211144"/>
            <a:ext cx="865251" cy="143296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3366"/>
            </a:solidFill>
            <a:prstDash val="sysDash"/>
            <a:round/>
            <a:headEnd type="none" w="med" len="med"/>
            <a:tailEnd type="triangle"/>
          </a:ln>
          <a:effectLst/>
        </p:spPr>
      </p:cxn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0ECEAE32-D865-44BB-9613-E776FFB90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790040"/>
              </p:ext>
            </p:extLst>
          </p:nvPr>
        </p:nvGraphicFramePr>
        <p:xfrm>
          <a:off x="2470491" y="4644104"/>
          <a:ext cx="4281717" cy="140383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80290">
                  <a:extLst>
                    <a:ext uri="{9D8B030D-6E8A-4147-A177-3AD203B41FA5}">
                      <a16:colId xmlns:a16="http://schemas.microsoft.com/office/drawing/2014/main" val="1012023406"/>
                    </a:ext>
                  </a:extLst>
                </a:gridCol>
                <a:gridCol w="2601427">
                  <a:extLst>
                    <a:ext uri="{9D8B030D-6E8A-4147-A177-3AD203B41FA5}">
                      <a16:colId xmlns:a16="http://schemas.microsoft.com/office/drawing/2014/main" val="650173205"/>
                    </a:ext>
                  </a:extLst>
                </a:gridCol>
              </a:tblGrid>
              <a:tr h="3509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292929"/>
                          </a:solidFill>
                        </a:rPr>
                        <a:t>Data</a:t>
                      </a:r>
                      <a:endParaRPr lang="zh-TW" altLang="en-US" sz="1400" dirty="0">
                        <a:solidFill>
                          <a:srgbClr val="29292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rgbClr val="292929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209739"/>
                  </a:ext>
                </a:extLst>
              </a:tr>
              <a:tr h="350959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0x2019 0001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Self Test is done.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2600"/>
                  </a:ext>
                </a:extLst>
              </a:tr>
              <a:tr h="350959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0x2019 0010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Self Test command error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452584"/>
                  </a:ext>
                </a:extLst>
              </a:tr>
              <a:tr h="350959"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0x2019 0020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Self Test command CRC error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69230"/>
                  </a:ext>
                </a:extLst>
              </a:tr>
            </a:tbl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377BC152-8A5D-42C5-9121-C18ED1BAA775}"/>
              </a:ext>
            </a:extLst>
          </p:cNvPr>
          <p:cNvSpPr/>
          <p:nvPr/>
        </p:nvSpPr>
        <p:spPr bwMode="auto">
          <a:xfrm>
            <a:off x="3253400" y="2091530"/>
            <a:ext cx="985398" cy="3003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rPr>
              <a:t> Data 1</a:t>
            </a:r>
            <a:endParaRPr kumimoji="0" lang="zh-TW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226F790-8A6B-4154-8E79-7208A5F973A5}"/>
              </a:ext>
            </a:extLst>
          </p:cNvPr>
          <p:cNvSpPr/>
          <p:nvPr/>
        </p:nvSpPr>
        <p:spPr bwMode="auto">
          <a:xfrm>
            <a:off x="4335758" y="2091529"/>
            <a:ext cx="973203" cy="3003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rPr>
              <a:t> Data 2</a:t>
            </a:r>
            <a:endParaRPr kumimoji="0" lang="zh-TW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EB1CC5-B2B6-4D8A-9021-AAD33F5F0B3D}"/>
              </a:ext>
            </a:extLst>
          </p:cNvPr>
          <p:cNvSpPr/>
          <p:nvPr/>
        </p:nvSpPr>
        <p:spPr bwMode="auto">
          <a:xfrm>
            <a:off x="5388445" y="2091640"/>
            <a:ext cx="972952" cy="3003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rPr>
              <a:t>Data 3</a:t>
            </a:r>
            <a:endParaRPr kumimoji="0" lang="zh-TW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BB782EB-1607-47C0-A429-599310DAC1B7}"/>
              </a:ext>
            </a:extLst>
          </p:cNvPr>
          <p:cNvSpPr/>
          <p:nvPr/>
        </p:nvSpPr>
        <p:spPr bwMode="auto">
          <a:xfrm>
            <a:off x="7084680" y="2085062"/>
            <a:ext cx="985398" cy="3003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rPr>
              <a:t>Data 9</a:t>
            </a:r>
            <a:endParaRPr kumimoji="0" lang="zh-TW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69941A51-52DC-4C6A-A2A2-BE662C2823AA}"/>
              </a:ext>
            </a:extLst>
          </p:cNvPr>
          <p:cNvCxnSpPr>
            <a:cxnSpLocks/>
          </p:cNvCxnSpPr>
          <p:nvPr/>
        </p:nvCxnSpPr>
        <p:spPr bwMode="auto">
          <a:xfrm>
            <a:off x="6451551" y="2244318"/>
            <a:ext cx="537891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C7CAAB03-50B3-416F-8D6A-4C5FB0AF4EBD}"/>
              </a:ext>
            </a:extLst>
          </p:cNvPr>
          <p:cNvSpPr/>
          <p:nvPr/>
        </p:nvSpPr>
        <p:spPr bwMode="auto">
          <a:xfrm>
            <a:off x="8157386" y="2085062"/>
            <a:ext cx="872313" cy="300392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>
                <a:latin typeface="Arial" pitchFamily="34" charset="0"/>
                <a:cs typeface="Arial" pitchFamily="34" charset="0"/>
              </a:rPr>
              <a:t>Checksum</a:t>
            </a:r>
            <a:endParaRPr kumimoji="0" lang="zh-TW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D6A4040A-1178-460D-AB37-AE7229CA89DC}"/>
              </a:ext>
            </a:extLst>
          </p:cNvPr>
          <p:cNvSpPr txBox="1"/>
          <p:nvPr/>
        </p:nvSpPr>
        <p:spPr>
          <a:xfrm>
            <a:off x="8320681" y="2385454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8bit</a:t>
            </a:r>
            <a:endParaRPr lang="zh-TW" altLang="en-US" sz="14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3E08FBAA-1E45-418F-9515-F950479D7337}"/>
              </a:ext>
            </a:extLst>
          </p:cNvPr>
          <p:cNvSpPr txBox="1"/>
          <p:nvPr/>
        </p:nvSpPr>
        <p:spPr>
          <a:xfrm>
            <a:off x="3371616" y="2391921"/>
            <a:ext cx="6559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32bit</a:t>
            </a:r>
            <a:endParaRPr lang="zh-TW" altLang="en-US" sz="1400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6923D94-D53A-442B-B79A-40FBFE96AEBB}"/>
              </a:ext>
            </a:extLst>
          </p:cNvPr>
          <p:cNvSpPr/>
          <p:nvPr/>
        </p:nvSpPr>
        <p:spPr bwMode="auto">
          <a:xfrm>
            <a:off x="3262671" y="2709430"/>
            <a:ext cx="966853" cy="5017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TW" sz="1400" dirty="0">
                <a:latin typeface="Arial" pitchFamily="34" charset="0"/>
                <a:cs typeface="Arial" pitchFamily="34" charset="0"/>
              </a:rPr>
              <a:t>Command</a:t>
            </a:r>
            <a:endParaRPr lang="zh-TW" alt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2B1F619-5F6A-4891-8C07-A83ACB4DB586}"/>
              </a:ext>
            </a:extLst>
          </p:cNvPr>
          <p:cNvSpPr/>
          <p:nvPr/>
        </p:nvSpPr>
        <p:spPr bwMode="auto">
          <a:xfrm>
            <a:off x="4342108" y="2709855"/>
            <a:ext cx="966853" cy="5006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dirty="0">
                <a:latin typeface="Arial" pitchFamily="34" charset="0"/>
                <a:cs typeface="Arial" pitchFamily="34" charset="0"/>
              </a:rPr>
              <a:t>Test</a:t>
            </a:r>
          </a:p>
          <a:p>
            <a:pPr algn="ctr"/>
            <a:r>
              <a:rPr lang="en-US" altLang="zh-TW" sz="1400" dirty="0">
                <a:latin typeface="Arial" pitchFamily="34" charset="0"/>
                <a:cs typeface="Arial" pitchFamily="34" charset="0"/>
              </a:rPr>
              <a:t>Result</a:t>
            </a:r>
            <a:endParaRPr lang="zh-TW" alt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C9CE9B4-AD02-4D12-8F25-2E017E2E00EC}"/>
              </a:ext>
            </a:extLst>
          </p:cNvPr>
          <p:cNvSpPr/>
          <p:nvPr/>
        </p:nvSpPr>
        <p:spPr bwMode="auto">
          <a:xfrm>
            <a:off x="5388445" y="2709855"/>
            <a:ext cx="966853" cy="5017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dirty="0">
                <a:latin typeface="Arial" pitchFamily="34" charset="0"/>
                <a:cs typeface="Arial" pitchFamily="34" charset="0"/>
              </a:rPr>
              <a:t>Result  </a:t>
            </a:r>
          </a:p>
          <a:p>
            <a:pPr algn="ctr"/>
            <a:r>
              <a:rPr lang="en-US" altLang="zh-TW" sz="1400" dirty="0">
                <a:latin typeface="Arial" pitchFamily="34" charset="0"/>
                <a:cs typeface="Arial" pitchFamily="34" charset="0"/>
              </a:rPr>
              <a:t>Information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8E4889B-9CC2-46D8-87C7-587E323A8DA7}"/>
              </a:ext>
            </a:extLst>
          </p:cNvPr>
          <p:cNvSpPr/>
          <p:nvPr/>
        </p:nvSpPr>
        <p:spPr bwMode="auto">
          <a:xfrm>
            <a:off x="7093064" y="2706165"/>
            <a:ext cx="966853" cy="499925"/>
          </a:xfrm>
          <a:prstGeom prst="rect">
            <a:avLst/>
          </a:prstGeom>
          <a:solidFill>
            <a:srgbClr val="DDDDDD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TW" sz="1400" dirty="0">
                <a:latin typeface="Arial" pitchFamily="34" charset="0"/>
                <a:cs typeface="Arial" pitchFamily="34" charset="0"/>
              </a:rPr>
              <a:t>Reserved</a:t>
            </a:r>
            <a:endParaRPr lang="zh-TW" alt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9DE3F89-AE6A-4121-B420-7644A3520140}"/>
              </a:ext>
            </a:extLst>
          </p:cNvPr>
          <p:cNvSpPr/>
          <p:nvPr/>
        </p:nvSpPr>
        <p:spPr bwMode="auto">
          <a:xfrm>
            <a:off x="8165337" y="2706165"/>
            <a:ext cx="864362" cy="495511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>
                <a:latin typeface="Arial" pitchFamily="34" charset="0"/>
                <a:cs typeface="Arial" pitchFamily="34" charset="0"/>
              </a:rPr>
              <a:t>Checksum</a:t>
            </a:r>
            <a:endParaRPr kumimoji="0" lang="zh-TW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8BDE5951-C8EC-4298-ABFE-34CBF7F383E1}"/>
              </a:ext>
            </a:extLst>
          </p:cNvPr>
          <p:cNvSpPr txBox="1"/>
          <p:nvPr/>
        </p:nvSpPr>
        <p:spPr>
          <a:xfrm>
            <a:off x="2143454" y="2106276"/>
            <a:ext cx="1119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Data format</a:t>
            </a:r>
            <a:endParaRPr lang="zh-TW" altLang="en-US" sz="1400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182616CF-B0FA-4697-9895-B4BAE0F49BCD}"/>
              </a:ext>
            </a:extLst>
          </p:cNvPr>
          <p:cNvSpPr txBox="1"/>
          <p:nvPr/>
        </p:nvSpPr>
        <p:spPr>
          <a:xfrm>
            <a:off x="2451230" y="2924434"/>
            <a:ext cx="811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Content</a:t>
            </a:r>
            <a:endParaRPr lang="zh-TW" altLang="en-US" sz="1400" dirty="0"/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086117C9-1E38-42F0-8E6F-86882B09C7D5}"/>
              </a:ext>
            </a:extLst>
          </p:cNvPr>
          <p:cNvCxnSpPr>
            <a:cxnSpLocks/>
          </p:cNvCxnSpPr>
          <p:nvPr/>
        </p:nvCxnSpPr>
        <p:spPr bwMode="auto">
          <a:xfrm>
            <a:off x="6438394" y="3067771"/>
            <a:ext cx="537891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26F978D4-4FA5-41FF-BDD6-C2178C4FBA60}"/>
              </a:ext>
            </a:extLst>
          </p:cNvPr>
          <p:cNvSpPr txBox="1"/>
          <p:nvPr/>
        </p:nvSpPr>
        <p:spPr>
          <a:xfrm>
            <a:off x="4494366" y="2397888"/>
            <a:ext cx="6559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32bit</a:t>
            </a:r>
            <a:endParaRPr lang="zh-TW" altLang="en-US" sz="1400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B396C825-CD25-4250-8F75-51A4B322261A}"/>
              </a:ext>
            </a:extLst>
          </p:cNvPr>
          <p:cNvSpPr txBox="1"/>
          <p:nvPr/>
        </p:nvSpPr>
        <p:spPr>
          <a:xfrm>
            <a:off x="5543878" y="2402971"/>
            <a:ext cx="6559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32bit</a:t>
            </a:r>
            <a:endParaRPr lang="zh-TW" altLang="en-US" sz="1400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F80FAF67-5DAD-416F-A156-ADB65C3AAAF1}"/>
              </a:ext>
            </a:extLst>
          </p:cNvPr>
          <p:cNvSpPr txBox="1"/>
          <p:nvPr/>
        </p:nvSpPr>
        <p:spPr>
          <a:xfrm>
            <a:off x="7255057" y="2391921"/>
            <a:ext cx="6559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32bit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93361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B4C071-556B-4D15-A1E6-3CB979672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 Data Format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4D324F-1A8B-4F19-9C8F-01E6037D16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20</a:t>
            </a:fld>
            <a:endParaRPr lang="en-US" altLang="zh-TW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2D0EADC-9926-417D-BDFB-E3F09BA4B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67390"/>
              </p:ext>
            </p:extLst>
          </p:nvPr>
        </p:nvGraphicFramePr>
        <p:xfrm>
          <a:off x="1464146" y="4136910"/>
          <a:ext cx="3924299" cy="2105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221">
                  <a:extLst>
                    <a:ext uri="{9D8B030D-6E8A-4147-A177-3AD203B41FA5}">
                      <a16:colId xmlns:a16="http://schemas.microsoft.com/office/drawing/2014/main" val="2796999310"/>
                    </a:ext>
                  </a:extLst>
                </a:gridCol>
                <a:gridCol w="1599539">
                  <a:extLst>
                    <a:ext uri="{9D8B030D-6E8A-4147-A177-3AD203B41FA5}">
                      <a16:colId xmlns:a16="http://schemas.microsoft.com/office/drawing/2014/main" val="1012023406"/>
                    </a:ext>
                  </a:extLst>
                </a:gridCol>
                <a:gridCol w="1599539">
                  <a:extLst>
                    <a:ext uri="{9D8B030D-6E8A-4147-A177-3AD203B41FA5}">
                      <a16:colId xmlns:a16="http://schemas.microsoft.com/office/drawing/2014/main" val="650173205"/>
                    </a:ext>
                  </a:extLst>
                </a:gridCol>
              </a:tblGrid>
              <a:tr h="3509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Bit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Description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Test Result 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209739"/>
                  </a:ext>
                </a:extLst>
              </a:tr>
              <a:tr h="3509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[0]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Short Test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0: Pass 1:Fail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2600"/>
                  </a:ext>
                </a:extLst>
              </a:tr>
              <a:tr h="3509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[1]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Open Test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0: Pass 1:Fail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452584"/>
                  </a:ext>
                </a:extLst>
              </a:tr>
              <a:tr h="3509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[2]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Reserved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69230"/>
                  </a:ext>
                </a:extLst>
              </a:tr>
              <a:tr h="3509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[3]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Noise Test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/>
                        <a:t>0: Pass 1:Fail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368994"/>
                  </a:ext>
                </a:extLst>
              </a:tr>
              <a:tr h="3509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[4~31]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Reserved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051979"/>
                  </a:ext>
                </a:extLst>
              </a:tr>
            </a:tbl>
          </a:graphicData>
        </a:graphic>
      </p:graphicFrame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07FFB735-43DF-4C70-B00F-D53F5673BBAA}"/>
              </a:ext>
            </a:extLst>
          </p:cNvPr>
          <p:cNvCxnSpPr>
            <a:cxnSpLocks/>
            <a:stCxn id="18" idx="2"/>
            <a:endCxn id="5" idx="0"/>
          </p:cNvCxnSpPr>
          <p:nvPr/>
        </p:nvCxnSpPr>
        <p:spPr bwMode="auto">
          <a:xfrm flipH="1">
            <a:off x="3426295" y="3210550"/>
            <a:ext cx="1399240" cy="92636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3366"/>
            </a:solidFill>
            <a:prstDash val="sysDash"/>
            <a:round/>
            <a:headEnd type="none" w="med" len="med"/>
            <a:tailEnd type="triangle"/>
          </a:ln>
          <a:effectLst/>
        </p:spPr>
      </p:cxn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189EF1B-FA18-4F5E-A721-D4B024060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488260"/>
              </p:ext>
            </p:extLst>
          </p:nvPr>
        </p:nvGraphicFramePr>
        <p:xfrm>
          <a:off x="6269471" y="3714882"/>
          <a:ext cx="5312929" cy="258341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981843">
                  <a:extLst>
                    <a:ext uri="{9D8B030D-6E8A-4147-A177-3AD203B41FA5}">
                      <a16:colId xmlns:a16="http://schemas.microsoft.com/office/drawing/2014/main" val="2796999310"/>
                    </a:ext>
                  </a:extLst>
                </a:gridCol>
                <a:gridCol w="1886083">
                  <a:extLst>
                    <a:ext uri="{9D8B030D-6E8A-4147-A177-3AD203B41FA5}">
                      <a16:colId xmlns:a16="http://schemas.microsoft.com/office/drawing/2014/main" val="1012023406"/>
                    </a:ext>
                  </a:extLst>
                </a:gridCol>
                <a:gridCol w="2445003">
                  <a:extLst>
                    <a:ext uri="{9D8B030D-6E8A-4147-A177-3AD203B41FA5}">
                      <a16:colId xmlns:a16="http://schemas.microsoft.com/office/drawing/2014/main" val="650173205"/>
                    </a:ext>
                  </a:extLst>
                </a:gridCol>
              </a:tblGrid>
              <a:tr h="3349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Bit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Result  Information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209739"/>
                  </a:ext>
                </a:extLst>
              </a:tr>
              <a:tr h="3589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/>
                        <a:t>[0]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0" dirty="0"/>
                        <a:t>Short Test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0: lower than low boundary </a:t>
                      </a:r>
                    </a:p>
                    <a:p>
                      <a:r>
                        <a:rPr lang="en-US" altLang="zh-TW" sz="1400" dirty="0"/>
                        <a:t>1: higher than high boundary</a:t>
                      </a:r>
                      <a:endParaRPr lang="zh-TW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722600"/>
                  </a:ext>
                </a:extLst>
              </a:tr>
              <a:tr h="3589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/>
                        <a:t>[1]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0" dirty="0"/>
                        <a:t>Open Test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0: lower than low boundary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1: higher than high boundary</a:t>
                      </a:r>
                      <a:endParaRPr kumimoji="0" lang="zh-TW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452584"/>
                  </a:ext>
                </a:extLst>
              </a:tr>
              <a:tr h="3589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/>
                        <a:t>[2]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0" dirty="0"/>
                        <a:t>Reserved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69230"/>
                  </a:ext>
                </a:extLst>
              </a:tr>
              <a:tr h="3589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/>
                        <a:t>[3]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0" dirty="0"/>
                        <a:t>Noise Test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0: lower than low boundary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1: higher than high boundary</a:t>
                      </a:r>
                      <a:endParaRPr kumimoji="0" lang="zh-TW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368994"/>
                  </a:ext>
                </a:extLst>
              </a:tr>
              <a:tr h="3349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dirty="0"/>
                        <a:t>[4~31]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b="0" dirty="0"/>
                        <a:t>Reserved</a:t>
                      </a:r>
                      <a:endParaRPr lang="zh-TW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0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051979"/>
                  </a:ext>
                </a:extLst>
              </a:tr>
            </a:tbl>
          </a:graphicData>
        </a:graphic>
      </p:graphicFrame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9A4C9316-BC9A-4F8C-98BF-B9F073384E3C}"/>
              </a:ext>
            </a:extLst>
          </p:cNvPr>
          <p:cNvCxnSpPr>
            <a:cxnSpLocks/>
            <a:stCxn id="19" idx="2"/>
            <a:endCxn id="7" idx="0"/>
          </p:cNvCxnSpPr>
          <p:nvPr/>
        </p:nvCxnSpPr>
        <p:spPr bwMode="auto">
          <a:xfrm>
            <a:off x="5871872" y="3211569"/>
            <a:ext cx="3054063" cy="50331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3366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4907EB72-EF79-4AFC-A333-300D09DCB043}"/>
              </a:ext>
            </a:extLst>
          </p:cNvPr>
          <p:cNvSpPr/>
          <p:nvPr/>
        </p:nvSpPr>
        <p:spPr bwMode="auto">
          <a:xfrm>
            <a:off x="3253400" y="2091530"/>
            <a:ext cx="985398" cy="3003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rPr>
              <a:t> Data 1</a:t>
            </a:r>
            <a:endParaRPr kumimoji="0" lang="zh-TW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C21C2B-B5ED-42CB-96E0-A7378B037121}"/>
              </a:ext>
            </a:extLst>
          </p:cNvPr>
          <p:cNvSpPr/>
          <p:nvPr/>
        </p:nvSpPr>
        <p:spPr bwMode="auto">
          <a:xfrm>
            <a:off x="4335758" y="2091529"/>
            <a:ext cx="973203" cy="3003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rPr>
              <a:t> Data 2</a:t>
            </a:r>
            <a:endParaRPr kumimoji="0" lang="zh-TW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5EAF6E-DBE7-4663-B60C-A35FD6A31E2D}"/>
              </a:ext>
            </a:extLst>
          </p:cNvPr>
          <p:cNvSpPr/>
          <p:nvPr/>
        </p:nvSpPr>
        <p:spPr bwMode="auto">
          <a:xfrm>
            <a:off x="5388445" y="2091640"/>
            <a:ext cx="972952" cy="3003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rPr>
              <a:t>Data 3</a:t>
            </a:r>
            <a:endParaRPr kumimoji="0" lang="zh-TW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482341-D0A1-40E2-A570-E8BD4617851E}"/>
              </a:ext>
            </a:extLst>
          </p:cNvPr>
          <p:cNvSpPr/>
          <p:nvPr/>
        </p:nvSpPr>
        <p:spPr bwMode="auto">
          <a:xfrm>
            <a:off x="7084680" y="2085062"/>
            <a:ext cx="985398" cy="3003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rPr>
              <a:t>Data 9</a:t>
            </a:r>
            <a:endParaRPr kumimoji="0" lang="zh-TW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27817148-471D-446F-AB80-6821CFDFD909}"/>
              </a:ext>
            </a:extLst>
          </p:cNvPr>
          <p:cNvCxnSpPr>
            <a:cxnSpLocks/>
          </p:cNvCxnSpPr>
          <p:nvPr/>
        </p:nvCxnSpPr>
        <p:spPr bwMode="auto">
          <a:xfrm>
            <a:off x="6451551" y="2244318"/>
            <a:ext cx="537891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A0A55499-DF83-44A3-8B10-0509F5343797}"/>
              </a:ext>
            </a:extLst>
          </p:cNvPr>
          <p:cNvSpPr/>
          <p:nvPr/>
        </p:nvSpPr>
        <p:spPr bwMode="auto">
          <a:xfrm>
            <a:off x="8157386" y="2085062"/>
            <a:ext cx="872313" cy="300392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>
                <a:latin typeface="Arial" pitchFamily="34" charset="0"/>
                <a:cs typeface="Arial" pitchFamily="34" charset="0"/>
              </a:rPr>
              <a:t>Checksum</a:t>
            </a:r>
            <a:endParaRPr kumimoji="0" lang="zh-TW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C84C33F-EFD9-4973-866C-834BCF0ECF80}"/>
              </a:ext>
            </a:extLst>
          </p:cNvPr>
          <p:cNvSpPr txBox="1"/>
          <p:nvPr/>
        </p:nvSpPr>
        <p:spPr>
          <a:xfrm>
            <a:off x="8320681" y="2385454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8bit</a:t>
            </a:r>
            <a:endParaRPr lang="zh-TW" altLang="en-US" sz="14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41F2728-4A1D-4B2A-936A-6167CEEAB776}"/>
              </a:ext>
            </a:extLst>
          </p:cNvPr>
          <p:cNvSpPr txBox="1"/>
          <p:nvPr/>
        </p:nvSpPr>
        <p:spPr>
          <a:xfrm>
            <a:off x="3371616" y="2391921"/>
            <a:ext cx="6559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32bit</a:t>
            </a:r>
            <a:endParaRPr lang="zh-TW" altLang="en-US" sz="14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05CA53-ACAE-4A57-8749-D3BC0D50B8B3}"/>
              </a:ext>
            </a:extLst>
          </p:cNvPr>
          <p:cNvSpPr/>
          <p:nvPr/>
        </p:nvSpPr>
        <p:spPr bwMode="auto">
          <a:xfrm>
            <a:off x="3262671" y="2709430"/>
            <a:ext cx="966853" cy="5017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TW" sz="1400" dirty="0">
                <a:latin typeface="Arial" pitchFamily="34" charset="0"/>
                <a:cs typeface="Arial" pitchFamily="34" charset="0"/>
              </a:rPr>
              <a:t>Command</a:t>
            </a:r>
            <a:endParaRPr lang="zh-TW" alt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7E9DF9F-5839-41CC-B2F8-349F23CE7AF5}"/>
              </a:ext>
            </a:extLst>
          </p:cNvPr>
          <p:cNvSpPr/>
          <p:nvPr/>
        </p:nvSpPr>
        <p:spPr bwMode="auto">
          <a:xfrm>
            <a:off x="4342108" y="2709855"/>
            <a:ext cx="966853" cy="5006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dirty="0">
                <a:latin typeface="Arial" pitchFamily="34" charset="0"/>
                <a:cs typeface="Arial" pitchFamily="34" charset="0"/>
              </a:rPr>
              <a:t>Test</a:t>
            </a:r>
          </a:p>
          <a:p>
            <a:pPr algn="ctr"/>
            <a:r>
              <a:rPr lang="en-US" altLang="zh-TW" sz="1400" dirty="0">
                <a:latin typeface="Arial" pitchFamily="34" charset="0"/>
                <a:cs typeface="Arial" pitchFamily="34" charset="0"/>
              </a:rPr>
              <a:t>Result</a:t>
            </a:r>
            <a:endParaRPr lang="zh-TW" alt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10CE9CD-E14A-4CB3-A488-A8307AD585FB}"/>
              </a:ext>
            </a:extLst>
          </p:cNvPr>
          <p:cNvSpPr/>
          <p:nvPr/>
        </p:nvSpPr>
        <p:spPr bwMode="auto">
          <a:xfrm>
            <a:off x="5388445" y="2709855"/>
            <a:ext cx="966853" cy="5017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dirty="0">
                <a:latin typeface="Arial" pitchFamily="34" charset="0"/>
                <a:cs typeface="Arial" pitchFamily="34" charset="0"/>
              </a:rPr>
              <a:t>Result  </a:t>
            </a:r>
          </a:p>
          <a:p>
            <a:pPr algn="ctr"/>
            <a:r>
              <a:rPr lang="en-US" altLang="zh-TW" sz="1400" dirty="0">
                <a:latin typeface="Arial" pitchFamily="34" charset="0"/>
                <a:cs typeface="Arial" pitchFamily="34" charset="0"/>
              </a:rPr>
              <a:t>Information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1816F0D-8166-4B41-A958-BF1F4F7F85A8}"/>
              </a:ext>
            </a:extLst>
          </p:cNvPr>
          <p:cNvSpPr/>
          <p:nvPr/>
        </p:nvSpPr>
        <p:spPr bwMode="auto">
          <a:xfrm>
            <a:off x="7093064" y="2706165"/>
            <a:ext cx="966853" cy="499925"/>
          </a:xfrm>
          <a:prstGeom prst="rect">
            <a:avLst/>
          </a:prstGeom>
          <a:solidFill>
            <a:srgbClr val="DDDDDD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TW" sz="1400" dirty="0">
                <a:latin typeface="Arial" pitchFamily="34" charset="0"/>
                <a:cs typeface="Arial" pitchFamily="34" charset="0"/>
              </a:rPr>
              <a:t>Reserved</a:t>
            </a:r>
            <a:endParaRPr lang="zh-TW" alt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FCEADF1-77E2-486C-8980-BCEEBDCD78BF}"/>
              </a:ext>
            </a:extLst>
          </p:cNvPr>
          <p:cNvSpPr/>
          <p:nvPr/>
        </p:nvSpPr>
        <p:spPr bwMode="auto">
          <a:xfrm>
            <a:off x="8165337" y="2706165"/>
            <a:ext cx="864362" cy="495511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>
                <a:latin typeface="Arial" pitchFamily="34" charset="0"/>
                <a:cs typeface="Arial" pitchFamily="34" charset="0"/>
              </a:rPr>
              <a:t>Checksum</a:t>
            </a:r>
            <a:endParaRPr kumimoji="0" lang="zh-TW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580D116-DFE3-43D3-A1D3-7697EF3CB54F}"/>
              </a:ext>
            </a:extLst>
          </p:cNvPr>
          <p:cNvSpPr txBox="1"/>
          <p:nvPr/>
        </p:nvSpPr>
        <p:spPr>
          <a:xfrm>
            <a:off x="2143454" y="2106276"/>
            <a:ext cx="1119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Data format</a:t>
            </a:r>
            <a:endParaRPr lang="zh-TW" altLang="en-US" sz="14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819868F-A304-4778-A5CD-BBDEBFB27C86}"/>
              </a:ext>
            </a:extLst>
          </p:cNvPr>
          <p:cNvSpPr txBox="1"/>
          <p:nvPr/>
        </p:nvSpPr>
        <p:spPr>
          <a:xfrm>
            <a:off x="2451230" y="2924434"/>
            <a:ext cx="811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Content</a:t>
            </a:r>
            <a:endParaRPr lang="zh-TW" altLang="en-US" sz="1400" dirty="0"/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65CFEAA8-06E7-492B-95FC-03F831354AC0}"/>
              </a:ext>
            </a:extLst>
          </p:cNvPr>
          <p:cNvCxnSpPr>
            <a:cxnSpLocks/>
          </p:cNvCxnSpPr>
          <p:nvPr/>
        </p:nvCxnSpPr>
        <p:spPr bwMode="auto">
          <a:xfrm>
            <a:off x="6438394" y="3067771"/>
            <a:ext cx="537891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588599F-CE71-47E2-B699-57A290D260EF}"/>
              </a:ext>
            </a:extLst>
          </p:cNvPr>
          <p:cNvSpPr txBox="1"/>
          <p:nvPr/>
        </p:nvSpPr>
        <p:spPr>
          <a:xfrm>
            <a:off x="4494366" y="2397888"/>
            <a:ext cx="6559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32bit</a:t>
            </a:r>
            <a:endParaRPr lang="zh-TW" altLang="en-US" sz="1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C93B1CB-7374-404C-8434-D3C2D0F3D115}"/>
              </a:ext>
            </a:extLst>
          </p:cNvPr>
          <p:cNvSpPr txBox="1"/>
          <p:nvPr/>
        </p:nvSpPr>
        <p:spPr>
          <a:xfrm>
            <a:off x="5543878" y="2402971"/>
            <a:ext cx="6559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32bit</a:t>
            </a:r>
            <a:endParaRPr lang="zh-TW" altLang="en-US" sz="14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C643A2C-27B5-4A2F-B9AE-07104D757303}"/>
              </a:ext>
            </a:extLst>
          </p:cNvPr>
          <p:cNvSpPr txBox="1"/>
          <p:nvPr/>
        </p:nvSpPr>
        <p:spPr>
          <a:xfrm>
            <a:off x="7255057" y="2391921"/>
            <a:ext cx="6559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32bit</a:t>
            </a:r>
            <a:endParaRPr lang="zh-TW" altLang="en-US" sz="1400" dirty="0"/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D74B057B-68B2-4B3F-977E-C1B87B297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338264"/>
            <a:ext cx="11040533" cy="500696"/>
          </a:xfrm>
        </p:spPr>
        <p:txBody>
          <a:bodyPr/>
          <a:lstStyle/>
          <a:p>
            <a:r>
              <a:rPr lang="en-US" altLang="zh-TW" sz="1600" dirty="0"/>
              <a:t>Definition of Result Data Format -2 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2794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B4C071-556B-4D15-A1E6-3CB979672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 Data Format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4D324F-1A8B-4F19-9C8F-01E6037D16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21</a:t>
            </a:fld>
            <a:endParaRPr lang="en-US" altLang="zh-TW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07EB72-EF79-4AFC-A333-300D09DCB043}"/>
              </a:ext>
            </a:extLst>
          </p:cNvPr>
          <p:cNvSpPr/>
          <p:nvPr/>
        </p:nvSpPr>
        <p:spPr bwMode="auto">
          <a:xfrm>
            <a:off x="3253400" y="2091530"/>
            <a:ext cx="985398" cy="3003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rPr>
              <a:t> Data 1</a:t>
            </a:r>
            <a:endParaRPr kumimoji="0" lang="zh-TW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C21C2B-B5ED-42CB-96E0-A7378B037121}"/>
              </a:ext>
            </a:extLst>
          </p:cNvPr>
          <p:cNvSpPr/>
          <p:nvPr/>
        </p:nvSpPr>
        <p:spPr bwMode="auto">
          <a:xfrm>
            <a:off x="4335758" y="2091529"/>
            <a:ext cx="973203" cy="3003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rPr>
              <a:t> Data 2</a:t>
            </a:r>
            <a:endParaRPr kumimoji="0" lang="zh-TW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5EAF6E-DBE7-4663-B60C-A35FD6A31E2D}"/>
              </a:ext>
            </a:extLst>
          </p:cNvPr>
          <p:cNvSpPr/>
          <p:nvPr/>
        </p:nvSpPr>
        <p:spPr bwMode="auto">
          <a:xfrm>
            <a:off x="5388445" y="2091640"/>
            <a:ext cx="972952" cy="3003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rPr>
              <a:t>Data 3</a:t>
            </a:r>
            <a:endParaRPr kumimoji="0" lang="zh-TW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482341-D0A1-40E2-A570-E8BD4617851E}"/>
              </a:ext>
            </a:extLst>
          </p:cNvPr>
          <p:cNvSpPr/>
          <p:nvPr/>
        </p:nvSpPr>
        <p:spPr bwMode="auto">
          <a:xfrm>
            <a:off x="7084680" y="2085062"/>
            <a:ext cx="985398" cy="3003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Arial Unicode MS" pitchFamily="34" charset="-120"/>
                <a:cs typeface="Arial" pitchFamily="34" charset="0"/>
              </a:rPr>
              <a:t>Data 9</a:t>
            </a:r>
            <a:endParaRPr kumimoji="0" lang="zh-TW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27817148-471D-446F-AB80-6821CFDFD909}"/>
              </a:ext>
            </a:extLst>
          </p:cNvPr>
          <p:cNvCxnSpPr>
            <a:cxnSpLocks/>
          </p:cNvCxnSpPr>
          <p:nvPr/>
        </p:nvCxnSpPr>
        <p:spPr bwMode="auto">
          <a:xfrm>
            <a:off x="6451551" y="2244318"/>
            <a:ext cx="537891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A0A55499-DF83-44A3-8B10-0509F5343797}"/>
              </a:ext>
            </a:extLst>
          </p:cNvPr>
          <p:cNvSpPr/>
          <p:nvPr/>
        </p:nvSpPr>
        <p:spPr bwMode="auto">
          <a:xfrm>
            <a:off x="8157386" y="2085062"/>
            <a:ext cx="872313" cy="300392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>
                <a:latin typeface="Arial" pitchFamily="34" charset="0"/>
                <a:cs typeface="Arial" pitchFamily="34" charset="0"/>
              </a:rPr>
              <a:t>Checksum</a:t>
            </a:r>
            <a:endParaRPr kumimoji="0" lang="zh-TW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C84C33F-EFD9-4973-866C-834BCF0ECF80}"/>
              </a:ext>
            </a:extLst>
          </p:cNvPr>
          <p:cNvSpPr txBox="1"/>
          <p:nvPr/>
        </p:nvSpPr>
        <p:spPr>
          <a:xfrm>
            <a:off x="8320681" y="2385454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8bit</a:t>
            </a:r>
            <a:endParaRPr lang="zh-TW" altLang="en-US" sz="14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41F2728-4A1D-4B2A-936A-6167CEEAB776}"/>
              </a:ext>
            </a:extLst>
          </p:cNvPr>
          <p:cNvSpPr txBox="1"/>
          <p:nvPr/>
        </p:nvSpPr>
        <p:spPr>
          <a:xfrm>
            <a:off x="3371616" y="2391921"/>
            <a:ext cx="6559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32bit</a:t>
            </a:r>
            <a:endParaRPr lang="zh-TW" altLang="en-US" sz="14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05CA53-ACAE-4A57-8749-D3BC0D50B8B3}"/>
              </a:ext>
            </a:extLst>
          </p:cNvPr>
          <p:cNvSpPr/>
          <p:nvPr/>
        </p:nvSpPr>
        <p:spPr bwMode="auto">
          <a:xfrm>
            <a:off x="3262671" y="2709430"/>
            <a:ext cx="966853" cy="5017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TW" sz="1400" dirty="0">
                <a:latin typeface="Arial" pitchFamily="34" charset="0"/>
                <a:cs typeface="Arial" pitchFamily="34" charset="0"/>
              </a:rPr>
              <a:t>Command</a:t>
            </a:r>
            <a:endParaRPr lang="zh-TW" alt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7E9DF9F-5839-41CC-B2F8-349F23CE7AF5}"/>
              </a:ext>
            </a:extLst>
          </p:cNvPr>
          <p:cNvSpPr/>
          <p:nvPr/>
        </p:nvSpPr>
        <p:spPr bwMode="auto">
          <a:xfrm>
            <a:off x="4342108" y="2709855"/>
            <a:ext cx="966853" cy="5006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dirty="0">
                <a:latin typeface="Arial" pitchFamily="34" charset="0"/>
                <a:cs typeface="Arial" pitchFamily="34" charset="0"/>
              </a:rPr>
              <a:t>Test</a:t>
            </a:r>
          </a:p>
          <a:p>
            <a:pPr algn="ctr"/>
            <a:r>
              <a:rPr lang="en-US" altLang="zh-TW" sz="1400" dirty="0">
                <a:latin typeface="Arial" pitchFamily="34" charset="0"/>
                <a:cs typeface="Arial" pitchFamily="34" charset="0"/>
              </a:rPr>
              <a:t>Result</a:t>
            </a:r>
            <a:endParaRPr lang="zh-TW" alt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10CE9CD-E14A-4CB3-A488-A8307AD585FB}"/>
              </a:ext>
            </a:extLst>
          </p:cNvPr>
          <p:cNvSpPr/>
          <p:nvPr/>
        </p:nvSpPr>
        <p:spPr bwMode="auto">
          <a:xfrm>
            <a:off x="5388445" y="2709855"/>
            <a:ext cx="966853" cy="5017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dirty="0">
                <a:latin typeface="Arial" pitchFamily="34" charset="0"/>
                <a:cs typeface="Arial" pitchFamily="34" charset="0"/>
              </a:rPr>
              <a:t>Result  </a:t>
            </a:r>
          </a:p>
          <a:p>
            <a:pPr algn="ctr"/>
            <a:r>
              <a:rPr lang="en-US" altLang="zh-TW" sz="1400" dirty="0">
                <a:latin typeface="Arial" pitchFamily="34" charset="0"/>
                <a:cs typeface="Arial" pitchFamily="34" charset="0"/>
              </a:rPr>
              <a:t>Information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1816F0D-8166-4B41-A958-BF1F4F7F85A8}"/>
              </a:ext>
            </a:extLst>
          </p:cNvPr>
          <p:cNvSpPr/>
          <p:nvPr/>
        </p:nvSpPr>
        <p:spPr bwMode="auto">
          <a:xfrm>
            <a:off x="7093064" y="2706165"/>
            <a:ext cx="966853" cy="499925"/>
          </a:xfrm>
          <a:prstGeom prst="rect">
            <a:avLst/>
          </a:prstGeom>
          <a:solidFill>
            <a:srgbClr val="DDDDDD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TW" sz="1400" dirty="0">
                <a:latin typeface="Arial" pitchFamily="34" charset="0"/>
                <a:cs typeface="Arial" pitchFamily="34" charset="0"/>
              </a:rPr>
              <a:t>Reserved</a:t>
            </a:r>
            <a:endParaRPr lang="zh-TW" alt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FCEADF1-77E2-486C-8980-BCEEBDCD78BF}"/>
              </a:ext>
            </a:extLst>
          </p:cNvPr>
          <p:cNvSpPr/>
          <p:nvPr/>
        </p:nvSpPr>
        <p:spPr bwMode="auto">
          <a:xfrm>
            <a:off x="8165337" y="2706165"/>
            <a:ext cx="864362" cy="495511"/>
          </a:xfrm>
          <a:prstGeom prst="rect">
            <a:avLst/>
          </a:prstGeom>
          <a:solidFill>
            <a:srgbClr val="92D050"/>
          </a:solidFill>
          <a:ln w="127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>
                <a:latin typeface="Arial" pitchFamily="34" charset="0"/>
                <a:cs typeface="Arial" pitchFamily="34" charset="0"/>
              </a:rPr>
              <a:t>Checksum</a:t>
            </a:r>
            <a:endParaRPr kumimoji="0" lang="zh-TW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Arial Unicode MS" pitchFamily="34" charset="-120"/>
              <a:cs typeface="Arial" pitchFamily="34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580D116-DFE3-43D3-A1D3-7697EF3CB54F}"/>
              </a:ext>
            </a:extLst>
          </p:cNvPr>
          <p:cNvSpPr txBox="1"/>
          <p:nvPr/>
        </p:nvSpPr>
        <p:spPr>
          <a:xfrm>
            <a:off x="2143454" y="2106276"/>
            <a:ext cx="1119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Data format</a:t>
            </a:r>
            <a:endParaRPr lang="zh-TW" altLang="en-US" sz="14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819868F-A304-4778-A5CD-BBDEBFB27C86}"/>
              </a:ext>
            </a:extLst>
          </p:cNvPr>
          <p:cNvSpPr txBox="1"/>
          <p:nvPr/>
        </p:nvSpPr>
        <p:spPr>
          <a:xfrm>
            <a:off x="2451230" y="2924434"/>
            <a:ext cx="811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Content</a:t>
            </a:r>
            <a:endParaRPr lang="zh-TW" altLang="en-US" sz="1400" dirty="0"/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65CFEAA8-06E7-492B-95FC-03F831354AC0}"/>
              </a:ext>
            </a:extLst>
          </p:cNvPr>
          <p:cNvCxnSpPr>
            <a:cxnSpLocks/>
          </p:cNvCxnSpPr>
          <p:nvPr/>
        </p:nvCxnSpPr>
        <p:spPr bwMode="auto">
          <a:xfrm>
            <a:off x="6438394" y="3067771"/>
            <a:ext cx="537891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3366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588599F-CE71-47E2-B699-57A290D260EF}"/>
              </a:ext>
            </a:extLst>
          </p:cNvPr>
          <p:cNvSpPr txBox="1"/>
          <p:nvPr/>
        </p:nvSpPr>
        <p:spPr>
          <a:xfrm>
            <a:off x="4494366" y="2397888"/>
            <a:ext cx="6559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32bit</a:t>
            </a:r>
            <a:endParaRPr lang="zh-TW" altLang="en-US" sz="1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C93B1CB-7374-404C-8434-D3C2D0F3D115}"/>
              </a:ext>
            </a:extLst>
          </p:cNvPr>
          <p:cNvSpPr txBox="1"/>
          <p:nvPr/>
        </p:nvSpPr>
        <p:spPr>
          <a:xfrm>
            <a:off x="5543878" y="2402971"/>
            <a:ext cx="6559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32bit</a:t>
            </a:r>
            <a:endParaRPr lang="zh-TW" altLang="en-US" sz="14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C643A2C-27B5-4A2F-B9AE-07104D757303}"/>
              </a:ext>
            </a:extLst>
          </p:cNvPr>
          <p:cNvSpPr txBox="1"/>
          <p:nvPr/>
        </p:nvSpPr>
        <p:spPr>
          <a:xfrm>
            <a:off x="7255057" y="2391921"/>
            <a:ext cx="6559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32bit</a:t>
            </a:r>
            <a:endParaRPr lang="zh-TW" altLang="en-US" sz="1400" dirty="0"/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D74B057B-68B2-4B3F-977E-C1B87B297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338264"/>
            <a:ext cx="11040533" cy="500696"/>
          </a:xfrm>
        </p:spPr>
        <p:txBody>
          <a:bodyPr/>
          <a:lstStyle/>
          <a:p>
            <a:r>
              <a:rPr lang="en-US" altLang="zh-TW" sz="1600" dirty="0"/>
              <a:t>Definition of Result Data Format -3 </a:t>
            </a:r>
            <a:endParaRPr lang="zh-TW" altLang="en-US" sz="1600" dirty="0"/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AB5E1494-3455-4A9F-97B9-AF6C47E9EE23}"/>
              </a:ext>
            </a:extLst>
          </p:cNvPr>
          <p:cNvCxnSpPr>
            <a:cxnSpLocks/>
          </p:cNvCxnSpPr>
          <p:nvPr/>
        </p:nvCxnSpPr>
        <p:spPr bwMode="auto">
          <a:xfrm flipH="1">
            <a:off x="5930213" y="3067771"/>
            <a:ext cx="748883" cy="83581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3366"/>
            </a:solidFill>
            <a:prstDash val="sysDash"/>
            <a:round/>
            <a:headEnd type="none" w="med" len="med"/>
            <a:tailEnd type="triangle"/>
          </a:ln>
          <a:effectLst/>
        </p:spPr>
      </p:cxnSp>
      <p:graphicFrame>
        <p:nvGraphicFramePr>
          <p:cNvPr id="30" name="Table 8">
            <a:extLst>
              <a:ext uri="{FF2B5EF4-FFF2-40B4-BE49-F238E27FC236}">
                <a16:creationId xmlns:a16="http://schemas.microsoft.com/office/drawing/2014/main" id="{3CFABF88-7DAB-4238-A26E-0884A9408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225746"/>
              </p:ext>
            </p:extLst>
          </p:nvPr>
        </p:nvGraphicFramePr>
        <p:xfrm>
          <a:off x="2451230" y="4205356"/>
          <a:ext cx="6503574" cy="19654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64427">
                  <a:extLst>
                    <a:ext uri="{9D8B030D-6E8A-4147-A177-3AD203B41FA5}">
                      <a16:colId xmlns:a16="http://schemas.microsoft.com/office/drawing/2014/main" val="983693293"/>
                    </a:ext>
                  </a:extLst>
                </a:gridCol>
                <a:gridCol w="2087361">
                  <a:extLst>
                    <a:ext uri="{9D8B030D-6E8A-4147-A177-3AD203B41FA5}">
                      <a16:colId xmlns:a16="http://schemas.microsoft.com/office/drawing/2014/main" val="2739583686"/>
                    </a:ext>
                  </a:extLst>
                </a:gridCol>
                <a:gridCol w="1625893">
                  <a:extLst>
                    <a:ext uri="{9D8B030D-6E8A-4147-A177-3AD203B41FA5}">
                      <a16:colId xmlns:a16="http://schemas.microsoft.com/office/drawing/2014/main" val="3986082077"/>
                    </a:ext>
                  </a:extLst>
                </a:gridCol>
                <a:gridCol w="1625893">
                  <a:extLst>
                    <a:ext uri="{9D8B030D-6E8A-4147-A177-3AD203B41FA5}">
                      <a16:colId xmlns:a16="http://schemas.microsoft.com/office/drawing/2014/main" val="716458813"/>
                    </a:ext>
                  </a:extLst>
                </a:gridCol>
              </a:tblGrid>
              <a:tr h="327570">
                <a:tc>
                  <a:txBody>
                    <a:bodyPr/>
                    <a:lstStyle/>
                    <a:p>
                      <a:r>
                        <a:rPr lang="de-DE" sz="1400" dirty="0"/>
                        <a:t>Data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[31:16]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[15:0]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974173"/>
                  </a:ext>
                </a:extLst>
              </a:tr>
              <a:tr h="327570">
                <a:tc>
                  <a:txBody>
                    <a:bodyPr/>
                    <a:lstStyle/>
                    <a:p>
                      <a:r>
                        <a:rPr lang="de-DE" altLang="zh-TW" sz="1400" dirty="0"/>
                        <a:t>Data </a:t>
                      </a:r>
                      <a:r>
                        <a:rPr lang="de-DE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Short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Max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Min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808513"/>
                  </a:ext>
                </a:extLst>
              </a:tr>
              <a:tr h="3275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TW" sz="1400" dirty="0"/>
                        <a:t>Data</a:t>
                      </a:r>
                      <a:r>
                        <a:rPr lang="de-DE" sz="1400" dirty="0"/>
                        <a:t>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dirty="0"/>
                        <a:t>Open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Max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Min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38679"/>
                  </a:ext>
                </a:extLst>
              </a:tr>
              <a:tr h="3275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TW" sz="1400" dirty="0"/>
                        <a:t>Data</a:t>
                      </a:r>
                      <a:r>
                        <a:rPr lang="de-DE" sz="1400" dirty="0"/>
                        <a:t>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Reserved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008921"/>
                  </a:ext>
                </a:extLst>
              </a:tr>
              <a:tr h="3275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TW" sz="1400" dirty="0"/>
                        <a:t>Data</a:t>
                      </a:r>
                      <a:r>
                        <a:rPr lang="de-DE" sz="1400" dirty="0"/>
                        <a:t>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Noise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Max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Min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80883"/>
                  </a:ext>
                </a:extLst>
              </a:tr>
              <a:tr h="3275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TW" sz="1400" dirty="0"/>
                        <a:t>Data</a:t>
                      </a:r>
                      <a:r>
                        <a:rPr lang="de-DE" sz="1400" dirty="0"/>
                        <a:t>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Reserved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439126"/>
                  </a:ext>
                </a:extLst>
              </a:tr>
            </a:tbl>
          </a:graphicData>
        </a:graphic>
      </p:graphicFrame>
      <p:sp>
        <p:nvSpPr>
          <p:cNvPr id="31" name="文字方塊 30">
            <a:extLst>
              <a:ext uri="{FF2B5EF4-FFF2-40B4-BE49-F238E27FC236}">
                <a16:creationId xmlns:a16="http://schemas.microsoft.com/office/drawing/2014/main" id="{54003B5E-70EB-4A2B-947B-EB32DAA5FA49}"/>
              </a:ext>
            </a:extLst>
          </p:cNvPr>
          <p:cNvSpPr txBox="1"/>
          <p:nvPr/>
        </p:nvSpPr>
        <p:spPr>
          <a:xfrm>
            <a:off x="2393025" y="3920186"/>
            <a:ext cx="6883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TW" altLang="en-US" sz="1400" dirty="0"/>
              <a:t>● </a:t>
            </a:r>
            <a:r>
              <a:rPr lang="de-DE" altLang="zh-TW" sz="1400" dirty="0"/>
              <a:t>Calculate the min and max value from each sensor of  the TP chs (MxN).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04169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76C3B2-87DE-44DF-A980-82A15478D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Inspect Mode -</a:t>
            </a:r>
            <a:r>
              <a:rPr lang="zh-TW" altLang="en-US" dirty="0"/>
              <a:t> </a:t>
            </a:r>
            <a:r>
              <a:rPr lang="en-US" altLang="zh-TW" dirty="0"/>
              <a:t>Example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FECBFC-EB01-42D6-8423-AB428F988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5134" y="1347871"/>
            <a:ext cx="8280400" cy="5008562"/>
          </a:xfrm>
        </p:spPr>
        <p:txBody>
          <a:bodyPr/>
          <a:lstStyle/>
          <a:p>
            <a:r>
              <a:rPr lang="en-US" altLang="zh-TW" sz="1600" b="1" dirty="0"/>
              <a:t>Ex1: Normal case</a:t>
            </a:r>
          </a:p>
          <a:p>
            <a:pPr lvl="1"/>
            <a:r>
              <a:rPr lang="en-US" altLang="zh-TW" sz="1400" b="1" dirty="0"/>
              <a:t>Step1: </a:t>
            </a:r>
            <a:r>
              <a:rPr lang="en-US" altLang="zh-TW" sz="1400" b="1" dirty="0" err="1">
                <a:solidFill>
                  <a:srgbClr val="FF6600"/>
                </a:solidFill>
              </a:rPr>
              <a:t>Addr</a:t>
            </a:r>
            <a:r>
              <a:rPr lang="en-US" altLang="zh-TW" sz="1400" b="1" dirty="0">
                <a:solidFill>
                  <a:srgbClr val="FF6600"/>
                </a:solidFill>
              </a:rPr>
              <a:t>.</a:t>
            </a:r>
            <a:r>
              <a:rPr lang="en-US" altLang="zh-TW" sz="1400" dirty="0"/>
              <a:t> 0x10007454 </a:t>
            </a:r>
            <a:r>
              <a:rPr lang="en-US" altLang="zh-TW" sz="1400" b="1" dirty="0">
                <a:solidFill>
                  <a:srgbClr val="008000"/>
                </a:solidFill>
              </a:rPr>
              <a:t>Write</a:t>
            </a:r>
            <a:r>
              <a:rPr lang="en-US" altLang="zh-TW" sz="1400" b="1" dirty="0"/>
              <a:t> </a:t>
            </a:r>
            <a:r>
              <a:rPr lang="en-US" altLang="zh-TW" sz="1400" dirty="0"/>
              <a:t>0x5A00_0B9B</a:t>
            </a:r>
          </a:p>
          <a:p>
            <a:pPr lvl="1"/>
            <a:r>
              <a:rPr lang="en-US" altLang="zh-TW" sz="1400" b="1" dirty="0"/>
              <a:t>Step2: </a:t>
            </a:r>
            <a:r>
              <a:rPr lang="en-US" altLang="zh-TW" sz="1400" dirty="0"/>
              <a:t>Read data from </a:t>
            </a:r>
            <a:r>
              <a:rPr lang="en-US" altLang="zh-TW" sz="1400" dirty="0" err="1"/>
              <a:t>event_stack</a:t>
            </a:r>
            <a:endParaRPr lang="en-US" altLang="zh-TW" sz="1400" dirty="0"/>
          </a:p>
          <a:p>
            <a:endParaRPr lang="en-US" altLang="zh-TW" sz="1600" dirty="0"/>
          </a:p>
          <a:p>
            <a:endParaRPr lang="en-US" altLang="zh-TW" sz="1600" dirty="0"/>
          </a:p>
          <a:p>
            <a:endParaRPr lang="en-US" altLang="zh-TW" sz="1600" dirty="0"/>
          </a:p>
          <a:p>
            <a:endParaRPr lang="en-US" altLang="zh-TW" sz="1600" dirty="0"/>
          </a:p>
          <a:p>
            <a:endParaRPr lang="en-US" altLang="zh-TW" sz="1600" dirty="0"/>
          </a:p>
          <a:p>
            <a:pPr marL="0" indent="0">
              <a:buNone/>
            </a:pPr>
            <a:endParaRPr lang="en-US" altLang="zh-TW" sz="1600" dirty="0"/>
          </a:p>
          <a:p>
            <a:r>
              <a:rPr lang="en-US" altLang="zh-TW" sz="1600" b="1" dirty="0"/>
              <a:t>Ex2: Noise happened case</a:t>
            </a:r>
          </a:p>
          <a:p>
            <a:pPr lvl="1"/>
            <a:r>
              <a:rPr lang="en-US" altLang="zh-TW" sz="1400" b="1" dirty="0"/>
              <a:t>Step1: </a:t>
            </a:r>
            <a:r>
              <a:rPr lang="en-US" altLang="zh-TW" sz="1400" b="1" dirty="0" err="1">
                <a:solidFill>
                  <a:srgbClr val="FF6600"/>
                </a:solidFill>
              </a:rPr>
              <a:t>Addr</a:t>
            </a:r>
            <a:r>
              <a:rPr lang="en-US" altLang="zh-TW" sz="1400" b="1" dirty="0">
                <a:solidFill>
                  <a:srgbClr val="FF6600"/>
                </a:solidFill>
              </a:rPr>
              <a:t>.</a:t>
            </a:r>
            <a:r>
              <a:rPr lang="en-US" altLang="zh-TW" sz="1400" dirty="0"/>
              <a:t> 0x10007454 </a:t>
            </a:r>
            <a:r>
              <a:rPr lang="en-US" altLang="zh-TW" sz="1400" b="1" dirty="0">
                <a:solidFill>
                  <a:srgbClr val="008000"/>
                </a:solidFill>
              </a:rPr>
              <a:t>Write</a:t>
            </a:r>
            <a:r>
              <a:rPr lang="en-US" altLang="zh-TW" sz="1400" b="1" dirty="0"/>
              <a:t> </a:t>
            </a:r>
            <a:r>
              <a:rPr lang="en-US" altLang="zh-TW" sz="1400" dirty="0"/>
              <a:t>0x5A00_0B9B</a:t>
            </a:r>
          </a:p>
          <a:p>
            <a:pPr lvl="1"/>
            <a:r>
              <a:rPr lang="en-US" altLang="zh-TW" sz="1400" b="1" dirty="0"/>
              <a:t>Step2: </a:t>
            </a:r>
            <a:r>
              <a:rPr lang="en-US" altLang="zh-TW" sz="1400" dirty="0"/>
              <a:t>Read data from </a:t>
            </a:r>
            <a:r>
              <a:rPr lang="en-US" altLang="zh-TW" sz="1400" dirty="0" err="1"/>
              <a:t>event_stack</a:t>
            </a:r>
            <a:endParaRPr lang="en-US" altLang="zh-TW" sz="1400" dirty="0"/>
          </a:p>
          <a:p>
            <a:pPr lvl="1"/>
            <a:endParaRPr lang="zh-TW" altLang="en-US" sz="1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6EB174-69D4-48A3-B599-D227A53F60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694BAF-810A-42BF-987C-10A09A6A0819}" type="slidenum">
              <a:rPr lang="en-US" altLang="zh-TW" smtClean="0"/>
              <a:pPr/>
              <a:t>22</a:t>
            </a:fld>
            <a:endParaRPr lang="en-US" altLang="zh-TW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B1D4BCD6-DDBE-4AD3-A9B4-6AD5449C709C}"/>
              </a:ext>
            </a:extLst>
          </p:cNvPr>
          <p:cNvGrpSpPr/>
          <p:nvPr/>
        </p:nvGrpSpPr>
        <p:grpSpPr>
          <a:xfrm>
            <a:off x="2695576" y="2369915"/>
            <a:ext cx="6982691" cy="1466681"/>
            <a:chOff x="900482" y="2205017"/>
            <a:chExt cx="7396659" cy="1705257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F4DE2909-DA33-4526-9002-7CBB8DF15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7430" y="2560994"/>
              <a:ext cx="7192640" cy="923825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434939F-D922-43DE-A6AD-E0CBDE8914BC}"/>
                </a:ext>
              </a:extLst>
            </p:cNvPr>
            <p:cNvSpPr/>
            <p:nvPr/>
          </p:nvSpPr>
          <p:spPr>
            <a:xfrm>
              <a:off x="1007430" y="2210354"/>
              <a:ext cx="1636500" cy="3578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400" dirty="0">
                  <a:solidFill>
                    <a:srgbClr val="FF3399"/>
                  </a:solidFill>
                </a:rPr>
                <a:t>Self Test is done.</a:t>
              </a:r>
              <a:endParaRPr lang="zh-TW" altLang="en-US" sz="1400" dirty="0">
                <a:solidFill>
                  <a:srgbClr val="FF3399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A8A8C84-7830-46C8-8256-F27119D340C4}"/>
                </a:ext>
              </a:extLst>
            </p:cNvPr>
            <p:cNvSpPr/>
            <p:nvPr/>
          </p:nvSpPr>
          <p:spPr bwMode="auto">
            <a:xfrm>
              <a:off x="1007430" y="2555658"/>
              <a:ext cx="1641282" cy="249087"/>
            </a:xfrm>
            <a:prstGeom prst="rect">
              <a:avLst/>
            </a:prstGeom>
            <a:noFill/>
            <a:ln w="19050" cap="flat" cmpd="sng" algn="ctr">
              <a:solidFill>
                <a:srgbClr val="D60093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800" b="1">
                <a:latin typeface="Arial" charset="0"/>
                <a:ea typeface="Arial Unicode MS" pitchFamily="34" charset="-120"/>
                <a:cs typeface="Arial" charset="0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0E36D93-FC3D-4FBA-B82C-9C0B3BF8C0A5}"/>
                </a:ext>
              </a:extLst>
            </p:cNvPr>
            <p:cNvSpPr/>
            <p:nvPr/>
          </p:nvSpPr>
          <p:spPr>
            <a:xfrm>
              <a:off x="3192592" y="2210352"/>
              <a:ext cx="1133950" cy="3578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400" dirty="0">
                  <a:solidFill>
                    <a:srgbClr val="FF3399"/>
                  </a:solidFill>
                </a:rPr>
                <a:t>Test Result</a:t>
              </a:r>
              <a:endParaRPr lang="zh-TW" altLang="en-US" sz="1400" dirty="0">
                <a:solidFill>
                  <a:srgbClr val="FF3399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28E6BA3-3F66-474D-B73C-734AC6FB7E58}"/>
                </a:ext>
              </a:extLst>
            </p:cNvPr>
            <p:cNvSpPr/>
            <p:nvPr/>
          </p:nvSpPr>
          <p:spPr bwMode="auto">
            <a:xfrm>
              <a:off x="2897064" y="2555657"/>
              <a:ext cx="1641282" cy="249087"/>
            </a:xfrm>
            <a:prstGeom prst="rect">
              <a:avLst/>
            </a:prstGeom>
            <a:noFill/>
            <a:ln w="19050" cap="flat" cmpd="sng" algn="ctr">
              <a:solidFill>
                <a:srgbClr val="D60093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800" b="1">
                <a:latin typeface="Arial" charset="0"/>
                <a:ea typeface="Arial Unicode MS" pitchFamily="34" charset="-120"/>
                <a:cs typeface="Arial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A840482-7200-4E2A-B691-3BD95CD2622D}"/>
                </a:ext>
              </a:extLst>
            </p:cNvPr>
            <p:cNvSpPr/>
            <p:nvPr/>
          </p:nvSpPr>
          <p:spPr bwMode="auto">
            <a:xfrm>
              <a:off x="4722988" y="2555657"/>
              <a:ext cx="1641282" cy="249087"/>
            </a:xfrm>
            <a:prstGeom prst="rect">
              <a:avLst/>
            </a:prstGeom>
            <a:noFill/>
            <a:ln w="19050" cap="flat" cmpd="sng" algn="ctr">
              <a:solidFill>
                <a:srgbClr val="D60093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800" b="1">
                <a:latin typeface="Arial" charset="0"/>
                <a:ea typeface="Arial Unicode MS" pitchFamily="34" charset="-120"/>
                <a:cs typeface="Arial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FAB9089-46E4-434F-BE2C-3711A27B3027}"/>
                </a:ext>
              </a:extLst>
            </p:cNvPr>
            <p:cNvSpPr/>
            <p:nvPr/>
          </p:nvSpPr>
          <p:spPr>
            <a:xfrm>
              <a:off x="4621333" y="2205017"/>
              <a:ext cx="1855178" cy="3578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1400" dirty="0">
                  <a:solidFill>
                    <a:srgbClr val="FF3399"/>
                  </a:solidFill>
                </a:rPr>
                <a:t>Result Information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92A9272-83BE-4423-B2FC-5314644BD5CF}"/>
                </a:ext>
              </a:extLst>
            </p:cNvPr>
            <p:cNvSpPr/>
            <p:nvPr/>
          </p:nvSpPr>
          <p:spPr bwMode="auto">
            <a:xfrm>
              <a:off x="1007430" y="2814369"/>
              <a:ext cx="1641282" cy="249087"/>
            </a:xfrm>
            <a:prstGeom prst="rect">
              <a:avLst/>
            </a:prstGeom>
            <a:noFill/>
            <a:ln w="19050" cap="flat" cmpd="sng" algn="ctr">
              <a:solidFill>
                <a:srgbClr val="D60093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800" b="1">
                <a:latin typeface="Arial" charset="0"/>
                <a:ea typeface="Arial Unicode MS" pitchFamily="34" charset="-120"/>
                <a:cs typeface="Arial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918922A-AFC2-4029-876B-3BA58A866399}"/>
                </a:ext>
              </a:extLst>
            </p:cNvPr>
            <p:cNvSpPr/>
            <p:nvPr/>
          </p:nvSpPr>
          <p:spPr bwMode="auto">
            <a:xfrm>
              <a:off x="4722988" y="2814368"/>
              <a:ext cx="1641282" cy="249087"/>
            </a:xfrm>
            <a:prstGeom prst="rect">
              <a:avLst/>
            </a:prstGeom>
            <a:noFill/>
            <a:ln w="19050" cap="flat" cmpd="sng" algn="ctr">
              <a:solidFill>
                <a:srgbClr val="D60093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800" b="1">
                <a:latin typeface="Arial" charset="0"/>
                <a:ea typeface="Arial Unicode MS" pitchFamily="34" charset="-120"/>
                <a:cs typeface="Arial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EE458EF-AD43-47E7-87FF-536FB44E1070}"/>
                </a:ext>
              </a:extLst>
            </p:cNvPr>
            <p:cNvSpPr/>
            <p:nvPr/>
          </p:nvSpPr>
          <p:spPr bwMode="auto">
            <a:xfrm>
              <a:off x="6548912" y="2565281"/>
              <a:ext cx="1641282" cy="249087"/>
            </a:xfrm>
            <a:prstGeom prst="rect">
              <a:avLst/>
            </a:prstGeom>
            <a:noFill/>
            <a:ln w="19050" cap="flat" cmpd="sng" algn="ctr">
              <a:solidFill>
                <a:srgbClr val="D60093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800" b="1">
                <a:latin typeface="Arial" charset="0"/>
                <a:ea typeface="Arial Unicode MS" pitchFamily="34" charset="-120"/>
                <a:cs typeface="Arial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19B8430-758C-4DCA-A6CF-ED88FE3DA61F}"/>
                </a:ext>
              </a:extLst>
            </p:cNvPr>
            <p:cNvSpPr/>
            <p:nvPr/>
          </p:nvSpPr>
          <p:spPr bwMode="auto">
            <a:xfrm>
              <a:off x="2865209" y="3020238"/>
              <a:ext cx="431906" cy="249087"/>
            </a:xfrm>
            <a:prstGeom prst="rect">
              <a:avLst/>
            </a:prstGeom>
            <a:noFill/>
            <a:ln w="19050" cap="flat" cmpd="sng" algn="ctr">
              <a:solidFill>
                <a:srgbClr val="D60093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800" b="1">
                <a:latin typeface="Arial" charset="0"/>
                <a:ea typeface="Arial Unicode MS" pitchFamily="34" charset="-120"/>
                <a:cs typeface="Arial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23B282BC-BCE3-423E-82C5-5958AA71F642}"/>
                </a:ext>
              </a:extLst>
            </p:cNvPr>
            <p:cNvSpPr/>
            <p:nvPr/>
          </p:nvSpPr>
          <p:spPr>
            <a:xfrm>
              <a:off x="2627343" y="3544375"/>
              <a:ext cx="1092177" cy="3578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400" dirty="0">
                  <a:solidFill>
                    <a:srgbClr val="FF3399"/>
                  </a:solidFill>
                </a:rPr>
                <a:t>Checksum</a:t>
              </a:r>
              <a:endParaRPr lang="zh-TW" altLang="en-US" sz="1400" dirty="0">
                <a:solidFill>
                  <a:srgbClr val="FF3399"/>
                </a:solidFill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A311366-DC57-4409-BD34-1EDC90864959}"/>
                </a:ext>
              </a:extLst>
            </p:cNvPr>
            <p:cNvSpPr/>
            <p:nvPr/>
          </p:nvSpPr>
          <p:spPr>
            <a:xfrm>
              <a:off x="6441963" y="2226130"/>
              <a:ext cx="1855178" cy="3578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1400" dirty="0">
                  <a:solidFill>
                    <a:srgbClr val="FF3399"/>
                  </a:solidFill>
                </a:rPr>
                <a:t>Short Max. &amp; Min.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C517C58-58FA-4D67-80CB-706A78702F8C}"/>
                </a:ext>
              </a:extLst>
            </p:cNvPr>
            <p:cNvSpPr/>
            <p:nvPr/>
          </p:nvSpPr>
          <p:spPr>
            <a:xfrm>
              <a:off x="900482" y="3552433"/>
              <a:ext cx="1855178" cy="3578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1400" dirty="0">
                  <a:solidFill>
                    <a:srgbClr val="FF3399"/>
                  </a:solidFill>
                </a:rPr>
                <a:t>Open Max. &amp; Min.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59BFE81-FCED-45D3-8CC8-D5F2A29E3972}"/>
                </a:ext>
              </a:extLst>
            </p:cNvPr>
            <p:cNvSpPr/>
            <p:nvPr/>
          </p:nvSpPr>
          <p:spPr>
            <a:xfrm>
              <a:off x="4625001" y="3544376"/>
              <a:ext cx="1855178" cy="3578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1400" dirty="0">
                  <a:solidFill>
                    <a:srgbClr val="FF3399"/>
                  </a:solidFill>
                </a:rPr>
                <a:t>Noise Max. &amp; Min.</a:t>
              </a:r>
            </a:p>
          </p:txBody>
        </p:sp>
        <p:cxnSp>
          <p:nvCxnSpPr>
            <p:cNvPr id="23" name="直線單箭頭接點 22">
              <a:extLst>
                <a:ext uri="{FF2B5EF4-FFF2-40B4-BE49-F238E27FC236}">
                  <a16:creationId xmlns:a16="http://schemas.microsoft.com/office/drawing/2014/main" id="{F7EA7F4E-3FE9-44C0-92A8-07779829E125}"/>
                </a:ext>
              </a:extLst>
            </p:cNvPr>
            <p:cNvCxnSpPr>
              <a:stCxn id="13" idx="2"/>
              <a:endCxn id="20" idx="0"/>
            </p:cNvCxnSpPr>
            <p:nvPr/>
          </p:nvCxnSpPr>
          <p:spPr bwMode="auto">
            <a:xfrm>
              <a:off x="1828071" y="3063456"/>
              <a:ext cx="0" cy="488977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3399"/>
              </a:solidFill>
              <a:prstDash val="sysDot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71E24A54-235A-4FB8-959C-ADA872DB0337}"/>
                </a:ext>
              </a:extLst>
            </p:cNvPr>
            <p:cNvCxnSpPr>
              <a:cxnSpLocks/>
              <a:stCxn id="17" idx="2"/>
              <a:endCxn id="18" idx="0"/>
            </p:cNvCxnSpPr>
            <p:nvPr/>
          </p:nvCxnSpPr>
          <p:spPr bwMode="auto">
            <a:xfrm>
              <a:off x="3081162" y="3269324"/>
              <a:ext cx="92270" cy="27505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3399"/>
              </a:solidFill>
              <a:prstDash val="sysDot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AB11E493-FFAE-43C3-9630-F983A26C1B40}"/>
                </a:ext>
              </a:extLst>
            </p:cNvPr>
            <p:cNvCxnSpPr>
              <a:cxnSpLocks/>
              <a:stCxn id="14" idx="2"/>
              <a:endCxn id="21" idx="0"/>
            </p:cNvCxnSpPr>
            <p:nvPr/>
          </p:nvCxnSpPr>
          <p:spPr bwMode="auto">
            <a:xfrm>
              <a:off x="5543630" y="3063455"/>
              <a:ext cx="8960" cy="48092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3399"/>
              </a:solidFill>
              <a:prstDash val="sysDot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32" name="矩形 31">
            <a:extLst>
              <a:ext uri="{FF2B5EF4-FFF2-40B4-BE49-F238E27FC236}">
                <a16:creationId xmlns:a16="http://schemas.microsoft.com/office/drawing/2014/main" id="{A1A8B34B-8A43-49A3-BE4D-28A63BEE48DA}"/>
              </a:ext>
            </a:extLst>
          </p:cNvPr>
          <p:cNvSpPr/>
          <p:nvPr/>
        </p:nvSpPr>
        <p:spPr bwMode="auto">
          <a:xfrm>
            <a:off x="5587667" y="1652588"/>
            <a:ext cx="271765" cy="249087"/>
          </a:xfrm>
          <a:prstGeom prst="rect">
            <a:avLst/>
          </a:prstGeom>
          <a:noFill/>
          <a:ln w="19050" cap="flat" cmpd="sng" algn="ctr">
            <a:solidFill>
              <a:srgbClr val="D60093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TW" altLang="en-US" sz="2800" b="1">
              <a:latin typeface="Arial" charset="0"/>
              <a:ea typeface="Arial Unicode MS" pitchFamily="34" charset="-120"/>
              <a:cs typeface="Arial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7A36C37-9A20-4EF1-9A79-449F4E9E26F9}"/>
              </a:ext>
            </a:extLst>
          </p:cNvPr>
          <p:cNvSpPr/>
          <p:nvPr/>
        </p:nvSpPr>
        <p:spPr bwMode="auto">
          <a:xfrm>
            <a:off x="6090637" y="1674458"/>
            <a:ext cx="271765" cy="249087"/>
          </a:xfrm>
          <a:prstGeom prst="rect">
            <a:avLst/>
          </a:prstGeom>
          <a:noFill/>
          <a:ln w="19050" cap="flat" cmpd="sng" algn="ctr">
            <a:solidFill>
              <a:srgbClr val="D60093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zh-TW" altLang="en-US">
              <a:cs typeface="Arial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55CC845-A5EC-4E48-B839-3E82694B0CDB}"/>
              </a:ext>
            </a:extLst>
          </p:cNvPr>
          <p:cNvSpPr/>
          <p:nvPr/>
        </p:nvSpPr>
        <p:spPr bwMode="auto">
          <a:xfrm>
            <a:off x="6363411" y="1676400"/>
            <a:ext cx="271765" cy="249087"/>
          </a:xfrm>
          <a:prstGeom prst="rect">
            <a:avLst/>
          </a:prstGeom>
          <a:noFill/>
          <a:ln w="19050" cap="flat" cmpd="sng" algn="ctr">
            <a:solidFill>
              <a:srgbClr val="D60093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zh-TW" altLang="en-US">
              <a:cs typeface="Arial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0D5136C-A09B-4261-904D-456F7AE9FD4C}"/>
              </a:ext>
            </a:extLst>
          </p:cNvPr>
          <p:cNvSpPr/>
          <p:nvPr/>
        </p:nvSpPr>
        <p:spPr>
          <a:xfrm>
            <a:off x="4543722" y="1200249"/>
            <a:ext cx="188545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50" dirty="0">
                <a:solidFill>
                  <a:srgbClr val="FF3399"/>
                </a:solidFill>
              </a:rPr>
              <a:t>Command Trigger Self-Test </a:t>
            </a:r>
            <a:endParaRPr lang="zh-TW" altLang="en-US" sz="1050" dirty="0">
              <a:solidFill>
                <a:srgbClr val="FF3399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3FF7923-E148-4DC2-8A4C-D58CC8DF30AB}"/>
              </a:ext>
            </a:extLst>
          </p:cNvPr>
          <p:cNvSpPr/>
          <p:nvPr/>
        </p:nvSpPr>
        <p:spPr>
          <a:xfrm>
            <a:off x="6289248" y="1207864"/>
            <a:ext cx="189987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50" dirty="0">
                <a:solidFill>
                  <a:srgbClr val="FF3399"/>
                </a:solidFill>
              </a:rPr>
              <a:t>Do short &amp; open &amp; noise test</a:t>
            </a:r>
            <a:endParaRPr lang="zh-TW" altLang="en-US" sz="1050" dirty="0">
              <a:solidFill>
                <a:srgbClr val="FF3399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8C9E323-BD73-40F8-9A3F-F9D797348F12}"/>
              </a:ext>
            </a:extLst>
          </p:cNvPr>
          <p:cNvSpPr/>
          <p:nvPr/>
        </p:nvSpPr>
        <p:spPr>
          <a:xfrm>
            <a:off x="6835877" y="1636195"/>
            <a:ext cx="82266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50" dirty="0">
                <a:solidFill>
                  <a:srgbClr val="FF3399"/>
                </a:solidFill>
              </a:rPr>
              <a:t>Checksum</a:t>
            </a:r>
            <a:endParaRPr lang="zh-TW" altLang="en-US" sz="1050" dirty="0">
              <a:solidFill>
                <a:srgbClr val="FF3399"/>
              </a:solidFill>
            </a:endParaRPr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B8BFAAD9-F493-44F2-B514-9C781C36AFCA}"/>
              </a:ext>
            </a:extLst>
          </p:cNvPr>
          <p:cNvCxnSpPr>
            <a:cxnSpLocks/>
            <a:stCxn id="32" idx="0"/>
            <a:endCxn id="35" idx="2"/>
          </p:cNvCxnSpPr>
          <p:nvPr/>
        </p:nvCxnSpPr>
        <p:spPr bwMode="auto">
          <a:xfrm flipH="1" flipV="1">
            <a:off x="5486449" y="1454165"/>
            <a:ext cx="237101" cy="19842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3399"/>
            </a:solidFill>
            <a:prstDash val="sysDot"/>
            <a:round/>
            <a:headEnd type="none" w="med" len="med"/>
            <a:tailEnd type="triangle"/>
          </a:ln>
          <a:effectLst/>
        </p:spPr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9144F155-0DA2-4A35-B4EF-1F260BA240A5}"/>
              </a:ext>
            </a:extLst>
          </p:cNvPr>
          <p:cNvCxnSpPr>
            <a:cxnSpLocks/>
            <a:stCxn id="33" idx="0"/>
            <a:endCxn id="36" idx="2"/>
          </p:cNvCxnSpPr>
          <p:nvPr/>
        </p:nvCxnSpPr>
        <p:spPr bwMode="auto">
          <a:xfrm flipV="1">
            <a:off x="6226519" y="1461781"/>
            <a:ext cx="1012668" cy="21267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3399"/>
            </a:solidFill>
            <a:prstDash val="sysDot"/>
            <a:round/>
            <a:headEnd type="none" w="med" len="med"/>
            <a:tailEnd type="triangle"/>
          </a:ln>
          <a:effectLst/>
        </p:spPr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8D6B4869-A81C-4147-BDFB-42819B61106B}"/>
              </a:ext>
            </a:extLst>
          </p:cNvPr>
          <p:cNvCxnSpPr>
            <a:cxnSpLocks/>
            <a:stCxn id="34" idx="3"/>
            <a:endCxn id="37" idx="1"/>
          </p:cNvCxnSpPr>
          <p:nvPr/>
        </p:nvCxnSpPr>
        <p:spPr bwMode="auto">
          <a:xfrm flipV="1">
            <a:off x="6635176" y="1763153"/>
            <a:ext cx="200701" cy="3779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3399"/>
            </a:solidFill>
            <a:prstDash val="sysDot"/>
            <a:round/>
            <a:headEnd type="none" w="med" len="med"/>
            <a:tailEnd type="triangle"/>
          </a:ln>
          <a:effectLst/>
        </p:spPr>
      </p:cxn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2DC0AA91-B36A-4289-B5F5-4643B72D7D53}"/>
              </a:ext>
            </a:extLst>
          </p:cNvPr>
          <p:cNvGrpSpPr/>
          <p:nvPr/>
        </p:nvGrpSpPr>
        <p:grpSpPr>
          <a:xfrm>
            <a:off x="2817078" y="4833737"/>
            <a:ext cx="7279422" cy="1465532"/>
            <a:chOff x="1007430" y="4619900"/>
            <a:chExt cx="7742188" cy="1897380"/>
          </a:xfrm>
        </p:grpSpPr>
        <p:pic>
          <p:nvPicPr>
            <p:cNvPr id="50" name="圖片 49" descr="畫面剪輯">
              <a:extLst>
                <a:ext uri="{FF2B5EF4-FFF2-40B4-BE49-F238E27FC236}">
                  <a16:creationId xmlns:a16="http://schemas.microsoft.com/office/drawing/2014/main" id="{389B7BF1-F43D-4DC1-A96F-10B2F178B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430" y="4968681"/>
              <a:ext cx="7214768" cy="949714"/>
            </a:xfrm>
            <a:prstGeom prst="rect">
              <a:avLst/>
            </a:prstGeom>
          </p:spPr>
        </p:pic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E633AF55-D76B-4CB5-ABAE-AE2F81043371}"/>
                </a:ext>
              </a:extLst>
            </p:cNvPr>
            <p:cNvSpPr/>
            <p:nvPr/>
          </p:nvSpPr>
          <p:spPr bwMode="auto">
            <a:xfrm>
              <a:off x="4113229" y="4968681"/>
              <a:ext cx="431906" cy="249087"/>
            </a:xfrm>
            <a:prstGeom prst="rect">
              <a:avLst/>
            </a:prstGeom>
            <a:noFill/>
            <a:ln w="19050" cap="flat" cmpd="sng" algn="ctr">
              <a:solidFill>
                <a:srgbClr val="D60093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800" b="1">
                <a:latin typeface="Arial" charset="0"/>
                <a:ea typeface="Arial Unicode MS" pitchFamily="34" charset="-120"/>
                <a:cs typeface="Arial" charset="0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B8702608-981B-4AAC-947F-23AA4E521F05}"/>
                </a:ext>
              </a:extLst>
            </p:cNvPr>
            <p:cNvSpPr/>
            <p:nvPr/>
          </p:nvSpPr>
          <p:spPr bwMode="auto">
            <a:xfrm>
              <a:off x="5996420" y="4978474"/>
              <a:ext cx="431906" cy="249087"/>
            </a:xfrm>
            <a:prstGeom prst="rect">
              <a:avLst/>
            </a:prstGeom>
            <a:noFill/>
            <a:ln w="19050" cap="flat" cmpd="sng" algn="ctr">
              <a:solidFill>
                <a:srgbClr val="D60093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800" b="1">
                <a:latin typeface="Arial" charset="0"/>
                <a:ea typeface="Arial Unicode MS" pitchFamily="34" charset="-120"/>
                <a:cs typeface="Arial" charset="0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E4202F67-2AD1-4922-9075-FFA26709FE20}"/>
                </a:ext>
              </a:extLst>
            </p:cNvPr>
            <p:cNvSpPr/>
            <p:nvPr/>
          </p:nvSpPr>
          <p:spPr bwMode="auto">
            <a:xfrm>
              <a:off x="4722987" y="5194451"/>
              <a:ext cx="820641" cy="249087"/>
            </a:xfrm>
            <a:prstGeom prst="rect">
              <a:avLst/>
            </a:prstGeom>
            <a:noFill/>
            <a:ln w="19050" cap="flat" cmpd="sng" algn="ctr">
              <a:solidFill>
                <a:srgbClr val="D60093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TW" altLang="en-US" sz="2800" b="1">
                <a:latin typeface="Arial" charset="0"/>
                <a:ea typeface="Arial Unicode MS" pitchFamily="34" charset="-120"/>
                <a:cs typeface="Arial" charset="0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585D5789-AFF7-438C-8267-64CD76C172DE}"/>
                </a:ext>
              </a:extLst>
            </p:cNvPr>
            <p:cNvSpPr/>
            <p:nvPr/>
          </p:nvSpPr>
          <p:spPr>
            <a:xfrm>
              <a:off x="3580756" y="4619901"/>
              <a:ext cx="1340399" cy="3984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400" dirty="0">
                  <a:solidFill>
                    <a:srgbClr val="FF3399"/>
                  </a:solidFill>
                </a:rPr>
                <a:t>Noise test fail</a:t>
              </a:r>
              <a:endParaRPr lang="zh-TW" altLang="en-US" sz="1400" dirty="0">
                <a:solidFill>
                  <a:srgbClr val="FF3399"/>
                </a:solidFill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A3D72E8-E747-42E3-8E5F-804225FD7C3A}"/>
                </a:ext>
              </a:extLst>
            </p:cNvPr>
            <p:cNvSpPr/>
            <p:nvPr/>
          </p:nvSpPr>
          <p:spPr>
            <a:xfrm>
              <a:off x="4321685" y="6118810"/>
              <a:ext cx="1675721" cy="3984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400" dirty="0">
                  <a:solidFill>
                    <a:srgbClr val="FF3399"/>
                  </a:solidFill>
                </a:rPr>
                <a:t>Noise Max. Value</a:t>
              </a:r>
              <a:endParaRPr lang="zh-TW" altLang="en-US" sz="1400" dirty="0">
                <a:solidFill>
                  <a:srgbClr val="FF3399"/>
                </a:solidFill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0B782BB6-AEB5-41B8-BA3E-A5CF5B62D9EA}"/>
                </a:ext>
              </a:extLst>
            </p:cNvPr>
            <p:cNvSpPr/>
            <p:nvPr/>
          </p:nvSpPr>
          <p:spPr>
            <a:xfrm>
              <a:off x="5552589" y="4619900"/>
              <a:ext cx="3197029" cy="3984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1400" dirty="0">
                  <a:solidFill>
                    <a:srgbClr val="FF3399"/>
                  </a:solidFill>
                </a:rPr>
                <a:t>Noise higher than high boundary</a:t>
              </a:r>
              <a:endParaRPr lang="zh-TW" altLang="en-US" sz="1400" dirty="0">
                <a:solidFill>
                  <a:srgbClr val="FF3399"/>
                </a:solidFill>
              </a:endParaRPr>
            </a:p>
          </p:txBody>
        </p:sp>
        <p:cxnSp>
          <p:nvCxnSpPr>
            <p:cNvPr id="58" name="直線單箭頭接點 57">
              <a:extLst>
                <a:ext uri="{FF2B5EF4-FFF2-40B4-BE49-F238E27FC236}">
                  <a16:creationId xmlns:a16="http://schemas.microsoft.com/office/drawing/2014/main" id="{B68D5E95-142D-4BDB-AEF9-016C3D9A5E0C}"/>
                </a:ext>
              </a:extLst>
            </p:cNvPr>
            <p:cNvCxnSpPr>
              <a:cxnSpLocks/>
              <a:stCxn id="54" idx="2"/>
              <a:endCxn id="56" idx="0"/>
            </p:cNvCxnSpPr>
            <p:nvPr/>
          </p:nvCxnSpPr>
          <p:spPr bwMode="auto">
            <a:xfrm>
              <a:off x="5133308" y="5443538"/>
              <a:ext cx="26237" cy="675273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3399"/>
              </a:solidFill>
              <a:prstDash val="sysDot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964771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8AE646-F8B4-4D91-B6B8-C9266A45E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Inspect Mode -</a:t>
            </a:r>
            <a:r>
              <a:rPr lang="zh-TW" altLang="en-US" dirty="0"/>
              <a:t> </a:t>
            </a:r>
            <a:r>
              <a:rPr lang="en-US" altLang="zh-TW" dirty="0"/>
              <a:t>Example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FD643D-1A40-469F-B9BF-E546A42CCD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23</a:t>
            </a:fld>
            <a:endParaRPr lang="en-US" altLang="zh-TW"/>
          </a:p>
        </p:txBody>
      </p:sp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9D48BEF6-C196-480D-99FC-A8E5AB58D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937" y="1195088"/>
            <a:ext cx="9313333" cy="513587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C792F8A-C4B7-4ED9-ABD2-B71AAADBAE69}"/>
              </a:ext>
            </a:extLst>
          </p:cNvPr>
          <p:cNvSpPr/>
          <p:nvPr/>
        </p:nvSpPr>
        <p:spPr bwMode="auto">
          <a:xfrm>
            <a:off x="4083217" y="6032499"/>
            <a:ext cx="1379621" cy="265204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8229A6-3DC8-44B3-AF25-F4599F0304EB}"/>
              </a:ext>
            </a:extLst>
          </p:cNvPr>
          <p:cNvSpPr/>
          <p:nvPr/>
        </p:nvSpPr>
        <p:spPr bwMode="auto">
          <a:xfrm>
            <a:off x="6732893" y="6032499"/>
            <a:ext cx="1379621" cy="265203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566026-E3BD-454D-AA0B-FD32BA3C1ABB}"/>
              </a:ext>
            </a:extLst>
          </p:cNvPr>
          <p:cNvSpPr/>
          <p:nvPr/>
        </p:nvSpPr>
        <p:spPr bwMode="auto">
          <a:xfrm>
            <a:off x="8387068" y="6031578"/>
            <a:ext cx="3620782" cy="265203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7FB6FF-48C9-40E6-A8C2-994746707F65}"/>
              </a:ext>
            </a:extLst>
          </p:cNvPr>
          <p:cNvSpPr/>
          <p:nvPr/>
        </p:nvSpPr>
        <p:spPr bwMode="auto">
          <a:xfrm>
            <a:off x="5637212" y="4787900"/>
            <a:ext cx="3021013" cy="406400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35122EEF-4AB3-49BE-B4C9-CA10DE171A8D}"/>
              </a:ext>
            </a:extLst>
          </p:cNvPr>
          <p:cNvSpPr/>
          <p:nvPr/>
        </p:nvSpPr>
        <p:spPr bwMode="auto">
          <a:xfrm>
            <a:off x="6967718" y="5655663"/>
            <a:ext cx="360000" cy="360000"/>
          </a:xfrm>
          <a:prstGeom prst="ellipse">
            <a:avLst/>
          </a:prstGeom>
          <a:solidFill>
            <a:srgbClr val="FFC000"/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1</a:t>
            </a:r>
            <a:endParaRPr kumimoji="0" lang="zh-TW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EC501DA8-C7CB-4075-9DC2-EBCF7B06631C}"/>
              </a:ext>
            </a:extLst>
          </p:cNvPr>
          <p:cNvSpPr/>
          <p:nvPr/>
        </p:nvSpPr>
        <p:spPr bwMode="auto">
          <a:xfrm>
            <a:off x="4413027" y="5655663"/>
            <a:ext cx="360000" cy="360000"/>
          </a:xfrm>
          <a:prstGeom prst="ellipse">
            <a:avLst/>
          </a:prstGeom>
          <a:solidFill>
            <a:srgbClr val="FFC000"/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2</a:t>
            </a:r>
            <a:endParaRPr kumimoji="0" lang="zh-TW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F63C42DD-9ACC-45EC-B8A4-69D593D90ADD}"/>
              </a:ext>
            </a:extLst>
          </p:cNvPr>
          <p:cNvSpPr/>
          <p:nvPr/>
        </p:nvSpPr>
        <p:spPr bwMode="auto">
          <a:xfrm>
            <a:off x="11479575" y="5669496"/>
            <a:ext cx="360000" cy="360000"/>
          </a:xfrm>
          <a:prstGeom prst="ellipse">
            <a:avLst/>
          </a:prstGeom>
          <a:solidFill>
            <a:srgbClr val="FFC000"/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3</a:t>
            </a:r>
            <a:endParaRPr kumimoji="0" lang="zh-TW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6DE91F8E-895D-434F-AA3B-6B1717ECB393}"/>
              </a:ext>
            </a:extLst>
          </p:cNvPr>
          <p:cNvSpPr/>
          <p:nvPr/>
        </p:nvSpPr>
        <p:spPr bwMode="auto">
          <a:xfrm>
            <a:off x="8207068" y="4402168"/>
            <a:ext cx="360000" cy="360000"/>
          </a:xfrm>
          <a:prstGeom prst="ellipse">
            <a:avLst/>
          </a:prstGeom>
          <a:solidFill>
            <a:srgbClr val="FFC000"/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b="1" dirty="0">
                <a:latin typeface="Arial" panose="020B0604020202020204" pitchFamily="34" charset="0"/>
                <a:ea typeface="Arial Unicode MS" pitchFamily="34" charset="-120"/>
                <a:cs typeface="Arial" panose="020B0604020202020204" pitchFamily="34" charset="0"/>
              </a:rPr>
              <a:t>4</a:t>
            </a:r>
            <a:endParaRPr kumimoji="0" lang="zh-TW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Arial Unicode MS" pitchFamily="34" charset="-120"/>
              <a:cs typeface="Arial" panose="020B0604020202020204" pitchFamily="34" charset="0"/>
            </a:endParaRPr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51EF308A-0470-4272-B3DB-549A54773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5" y="1338263"/>
            <a:ext cx="2571862" cy="3567111"/>
          </a:xfrm>
        </p:spPr>
        <p:txBody>
          <a:bodyPr/>
          <a:lstStyle/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altLang="zh-TW" sz="1600" dirty="0"/>
              <a:t>Use Show Scope</a:t>
            </a:r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endParaRPr lang="en-US" altLang="zh-TW" sz="1600" dirty="0"/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altLang="zh-TW" sz="1600" dirty="0"/>
              <a:t>Start</a:t>
            </a:r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endParaRPr lang="en-US" altLang="zh-TW" sz="1600" dirty="0"/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altLang="zh-TW" sz="1600" dirty="0"/>
              <a:t>Set 0x10007454 = 0x5A000B9B</a:t>
            </a:r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endParaRPr lang="en-US" altLang="zh-TW" sz="1600" dirty="0"/>
          </a:p>
          <a:p>
            <a:pPr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en-US" altLang="zh-TW" sz="1600" dirty="0"/>
              <a:t>Wait </a:t>
            </a:r>
            <a:r>
              <a:rPr lang="en-US" altLang="zh-TW" sz="1600" dirty="0">
                <a:solidFill>
                  <a:schemeClr val="dk1"/>
                </a:solidFill>
              </a:rPr>
              <a:t>Event Stack</a:t>
            </a:r>
            <a:br>
              <a:rPr lang="en-US" altLang="zh-TW" sz="1600" dirty="0">
                <a:solidFill>
                  <a:schemeClr val="dk1"/>
                </a:solidFill>
              </a:rPr>
            </a:br>
            <a:r>
              <a:rPr lang="en-US" altLang="zh-TW" sz="1600" dirty="0">
                <a:solidFill>
                  <a:schemeClr val="dk1"/>
                </a:solidFill>
              </a:rPr>
              <a:t>(</a:t>
            </a:r>
            <a:r>
              <a:rPr lang="en-US" altLang="zh-TW" sz="1600" dirty="0"/>
              <a:t>About 10 seconds)</a:t>
            </a:r>
            <a:endParaRPr lang="en-US" altLang="zh-TW" sz="1600" dirty="0">
              <a:solidFill>
                <a:schemeClr val="dk1"/>
              </a:solidFill>
            </a:endParaRPr>
          </a:p>
          <a:p>
            <a:pPr>
              <a:buClr>
                <a:schemeClr val="tx1"/>
              </a:buClr>
              <a:buFont typeface="+mj-lt"/>
              <a:buAutoNum type="arabicPeriod"/>
            </a:pPr>
            <a:endParaRPr lang="en-US" altLang="zh-TW" sz="1600" dirty="0"/>
          </a:p>
        </p:txBody>
      </p:sp>
    </p:spTree>
    <p:extLst>
      <p:ext uri="{BB962C8B-B14F-4D97-AF65-F5344CB8AC3E}">
        <p14:creationId xmlns:p14="http://schemas.microsoft.com/office/powerpoint/2010/main" val="1183551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1DFADD-CF48-4DD8-8EA7-DD303E069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Parameter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A3A2CB-EB5F-4B72-84B1-10521A7C4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7" y="1026695"/>
            <a:ext cx="11040533" cy="3264568"/>
          </a:xfrm>
        </p:spPr>
        <p:txBody>
          <a:bodyPr/>
          <a:lstStyle/>
          <a:p>
            <a:r>
              <a:rPr lang="en-US" altLang="zh-TW" sz="1600" dirty="0"/>
              <a:t>Short &amp; Open test: use short &amp;</a:t>
            </a:r>
            <a:r>
              <a:rPr lang="zh-TW" altLang="en-US" sz="1600" dirty="0"/>
              <a:t> </a:t>
            </a:r>
            <a:r>
              <a:rPr lang="en-US" altLang="zh-TW" sz="1600" dirty="0"/>
              <a:t>open test mode to detect(=</a:t>
            </a:r>
            <a:r>
              <a:rPr lang="zh-TW" altLang="en-US" sz="1600" dirty="0"/>
              <a:t> </a:t>
            </a:r>
            <a:r>
              <a:rPr lang="en-US" altLang="zh-TW" sz="1600" dirty="0"/>
              <a:t>MPAP)</a:t>
            </a:r>
          </a:p>
          <a:p>
            <a:pPr lvl="1"/>
            <a:r>
              <a:rPr lang="en-US" altLang="zh-TW" sz="1400" dirty="0"/>
              <a:t>High boundary:</a:t>
            </a:r>
            <a:r>
              <a:rPr lang="zh-TW" altLang="en-US" sz="1400" dirty="0"/>
              <a:t> </a:t>
            </a:r>
            <a:r>
              <a:rPr lang="en-US" altLang="zh-TW" sz="1400" dirty="0"/>
              <a:t>equivalent to MPAP Upper</a:t>
            </a:r>
          </a:p>
          <a:p>
            <a:pPr lvl="1"/>
            <a:r>
              <a:rPr lang="en-US" altLang="zh-TW" sz="1400" dirty="0"/>
              <a:t>Low boundary:</a:t>
            </a:r>
            <a:r>
              <a:rPr lang="zh-TW" altLang="en-US" sz="1400" dirty="0"/>
              <a:t> </a:t>
            </a:r>
            <a:r>
              <a:rPr lang="en-US" altLang="zh-TW" sz="1400" dirty="0"/>
              <a:t>equivalent to MPAP Lower</a:t>
            </a:r>
          </a:p>
          <a:p>
            <a:pPr lvl="1"/>
            <a:endParaRPr lang="en-US" altLang="zh-TW" sz="1600" dirty="0"/>
          </a:p>
          <a:p>
            <a:r>
              <a:rPr lang="en-US" altLang="zh-TW" sz="1600" dirty="0"/>
              <a:t>Noise test: use noise test mode to detect(=</a:t>
            </a:r>
            <a:r>
              <a:rPr lang="zh-TW" altLang="en-US" sz="1600" dirty="0"/>
              <a:t> </a:t>
            </a:r>
            <a:r>
              <a:rPr lang="en-US" altLang="zh-TW" sz="1600" dirty="0"/>
              <a:t>MPAP)</a:t>
            </a:r>
          </a:p>
          <a:p>
            <a:pPr lvl="1"/>
            <a:r>
              <a:rPr lang="en-US" altLang="zh-TW" sz="1400" dirty="0"/>
              <a:t>High boundary:</a:t>
            </a:r>
            <a:r>
              <a:rPr lang="zh-TW" altLang="en-US" sz="1400" dirty="0"/>
              <a:t> </a:t>
            </a:r>
            <a:r>
              <a:rPr lang="en-US" altLang="zh-TW" sz="1400" dirty="0"/>
              <a:t>percentage of signal threshold. (Positive value)</a:t>
            </a:r>
          </a:p>
          <a:p>
            <a:pPr lvl="1"/>
            <a:r>
              <a:rPr lang="en-US" altLang="zh-TW" sz="1400" dirty="0"/>
              <a:t>Low boundary:</a:t>
            </a:r>
            <a:r>
              <a:rPr lang="zh-TW" altLang="en-US" sz="1400" dirty="0"/>
              <a:t> </a:t>
            </a:r>
            <a:r>
              <a:rPr lang="en-US" altLang="zh-TW" sz="1400" dirty="0"/>
              <a:t>percentage of recalibration threshold.</a:t>
            </a:r>
            <a:r>
              <a:rPr lang="zh-TW" altLang="en-US" sz="1400" dirty="0"/>
              <a:t> </a:t>
            </a:r>
            <a:r>
              <a:rPr lang="en-US" altLang="zh-TW" sz="1400" dirty="0"/>
              <a:t>(Negative value)</a:t>
            </a:r>
          </a:p>
          <a:p>
            <a:pPr lvl="1"/>
            <a:endParaRPr lang="en-US" altLang="zh-TW" sz="1400" dirty="0"/>
          </a:p>
          <a:p>
            <a:r>
              <a:rPr lang="x-none" altLang="zh-TW" sz="1600" dirty="0">
                <a:solidFill>
                  <a:schemeClr val="dk1"/>
                </a:solidFill>
              </a:rPr>
              <a:t>Fail point boundary</a:t>
            </a:r>
            <a:r>
              <a:rPr lang="en-US" altLang="zh-TW" sz="1600" dirty="0">
                <a:solidFill>
                  <a:schemeClr val="dk1"/>
                </a:solidFill>
              </a:rPr>
              <a:t>: The amount of NG blocks must exceed this value, FW will raise the fail bit.</a:t>
            </a:r>
          </a:p>
          <a:p>
            <a:pPr lvl="1"/>
            <a:r>
              <a:rPr lang="en-US" altLang="zh-TW" sz="1400" dirty="0">
                <a:solidFill>
                  <a:schemeClr val="dk1"/>
                </a:solidFill>
              </a:rPr>
              <a:t>If this </a:t>
            </a:r>
            <a:r>
              <a:rPr lang="en-US" altLang="zh-TW" sz="1400" dirty="0"/>
              <a:t>parameter is set to 0x05, open NG blocks </a:t>
            </a:r>
            <a:r>
              <a:rPr lang="en-US" altLang="zh-TW" sz="1400" dirty="0">
                <a:solidFill>
                  <a:schemeClr val="dk1"/>
                </a:solidFill>
              </a:rPr>
              <a:t>must</a:t>
            </a:r>
            <a:r>
              <a:rPr lang="en-US" altLang="zh-TW" sz="1400" dirty="0"/>
              <a:t> </a:t>
            </a:r>
            <a:r>
              <a:rPr lang="en-US" altLang="zh-TW" sz="1400" dirty="0">
                <a:solidFill>
                  <a:schemeClr val="dk1"/>
                </a:solidFill>
              </a:rPr>
              <a:t>exceed 5 blocks.</a:t>
            </a:r>
            <a:endParaRPr lang="zh-TW" altLang="en-US" sz="1400" dirty="0">
              <a:solidFill>
                <a:schemeClr val="dk1"/>
              </a:solidFill>
            </a:endParaRPr>
          </a:p>
          <a:p>
            <a:endParaRPr lang="en-US" altLang="zh-TW" sz="1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5AE5559-9F35-4428-97F0-90C49292CD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84C18F-EB8D-4FF5-AC15-34A2924EEA8A}" type="slidenum">
              <a:rPr lang="en-US" altLang="zh-TW" smtClean="0"/>
              <a:pPr>
                <a:defRPr/>
              </a:pPr>
              <a:t>24</a:t>
            </a:fld>
            <a:endParaRPr lang="en-US" altLang="zh-TW"/>
          </a:p>
        </p:txBody>
      </p:sp>
      <p:graphicFrame>
        <p:nvGraphicFramePr>
          <p:cNvPr id="5" name="表格 7">
            <a:extLst>
              <a:ext uri="{FF2B5EF4-FFF2-40B4-BE49-F238E27FC236}">
                <a16:creationId xmlns:a16="http://schemas.microsoft.com/office/drawing/2014/main" id="{435DBAFC-0478-420D-9CC4-C0F50AAFD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129302"/>
              </p:ext>
            </p:extLst>
          </p:nvPr>
        </p:nvGraphicFramePr>
        <p:xfrm>
          <a:off x="1842052" y="4503282"/>
          <a:ext cx="890104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721">
                  <a:extLst>
                    <a:ext uri="{9D8B030D-6E8A-4147-A177-3AD203B41FA5}">
                      <a16:colId xmlns:a16="http://schemas.microsoft.com/office/drawing/2014/main" val="896289094"/>
                    </a:ext>
                  </a:extLst>
                </a:gridCol>
                <a:gridCol w="3098801">
                  <a:extLst>
                    <a:ext uri="{9D8B030D-6E8A-4147-A177-3AD203B41FA5}">
                      <a16:colId xmlns:a16="http://schemas.microsoft.com/office/drawing/2014/main" val="230170289"/>
                    </a:ext>
                  </a:extLst>
                </a:gridCol>
                <a:gridCol w="2225261">
                  <a:extLst>
                    <a:ext uri="{9D8B030D-6E8A-4147-A177-3AD203B41FA5}">
                      <a16:colId xmlns:a16="http://schemas.microsoft.com/office/drawing/2014/main" val="2882473984"/>
                    </a:ext>
                  </a:extLst>
                </a:gridCol>
                <a:gridCol w="2225261">
                  <a:extLst>
                    <a:ext uri="{9D8B030D-6E8A-4147-A177-3AD203B41FA5}">
                      <a16:colId xmlns:a16="http://schemas.microsoft.com/office/drawing/2014/main" val="33875828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Address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Threshold Item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[31:16]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[15:0]</a:t>
                      </a:r>
                      <a:endParaRPr lang="zh-TW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775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0x100074A0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04800" algn="ctr">
                        <a:spcAft>
                          <a:spcPts val="0"/>
                        </a:spcAft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 test</a:t>
                      </a:r>
                      <a:endParaRPr lang="zh-TW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04800" algn="ctr">
                        <a:spcAft>
                          <a:spcPts val="0"/>
                        </a:spcAft>
                      </a:pPr>
                      <a:r>
                        <a:rPr lang="x-none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 Boundary</a:t>
                      </a:r>
                      <a:endParaRPr lang="zh-TW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04800" algn="ctr">
                        <a:spcAft>
                          <a:spcPts val="0"/>
                        </a:spcAft>
                      </a:pPr>
                      <a:r>
                        <a:rPr lang="x-none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 Boundary</a:t>
                      </a:r>
                      <a:endParaRPr lang="zh-TW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7648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0x100074A4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04800" algn="ctr">
                        <a:spcAft>
                          <a:spcPts val="0"/>
                        </a:spcAft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Open test</a:t>
                      </a:r>
                      <a:endParaRPr lang="zh-TW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04800" algn="ctr">
                        <a:spcAft>
                          <a:spcPts val="0"/>
                        </a:spcAft>
                      </a:pPr>
                      <a:r>
                        <a:rPr lang="x-none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 Boundary</a:t>
                      </a:r>
                      <a:endParaRPr lang="zh-TW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04800" algn="ctr">
                        <a:spcAft>
                          <a:spcPts val="0"/>
                        </a:spcAft>
                      </a:pPr>
                      <a:r>
                        <a:rPr lang="x-none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 Boundary</a:t>
                      </a:r>
                      <a:endParaRPr lang="zh-TW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21330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0x100074AC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04800" algn="ctr">
                        <a:spcAft>
                          <a:spcPts val="0"/>
                        </a:spcAft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Noise test</a:t>
                      </a:r>
                      <a:endParaRPr lang="zh-TW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04800" algn="ctr">
                        <a:spcAft>
                          <a:spcPts val="0"/>
                        </a:spcAft>
                      </a:pPr>
                      <a:r>
                        <a:rPr lang="x-none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 Boundary</a:t>
                      </a:r>
                      <a:endParaRPr lang="zh-TW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04800" algn="ctr">
                        <a:spcAft>
                          <a:spcPts val="0"/>
                        </a:spcAft>
                      </a:pPr>
                      <a:r>
                        <a:rPr lang="x-none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 Boundary</a:t>
                      </a:r>
                      <a:endParaRPr lang="zh-TW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8036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0x100074B0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04800" algn="ctr">
                        <a:spcAft>
                          <a:spcPts val="0"/>
                        </a:spcAft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Fail point boundary</a:t>
                      </a:r>
                      <a:endParaRPr lang="zh-TW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304800" algn="ctr">
                        <a:spcAft>
                          <a:spcPts val="0"/>
                        </a:spcAft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TW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304800" algn="ctr">
                        <a:spcAft>
                          <a:spcPts val="0"/>
                        </a:spcAft>
                      </a:pPr>
                      <a:endParaRPr lang="zh-TW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32694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5282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master9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33577" y="2142566"/>
            <a:ext cx="4763475" cy="1510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3302000" y="3727450"/>
            <a:ext cx="5588000" cy="64633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3600" dirty="0">
                <a:cs typeface="Arial" pitchFamily="34" charset="0"/>
              </a:rPr>
              <a:t>Drive for better vision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CATEGORY" val="Primary Field Layouts"/>
  <p:tag name="LAYOUTDISPLAYNAME" val="Two Columns"/>
  <p:tag name="ALLOWMORETHANONE" val="Yes"/>
  <p:tag name="ALLOWINCLUDEINTOC" val="Yes"/>
  <p:tag name="PAGETYPE" val="BodyPage"/>
  <p:tag name="LAYOUTNAME" val="Two Columns"/>
  <p:tag name="ALLOWPAGETITLE" val="Yes"/>
  <p:tag name="ALLOWPAGESUBTITLE" val="Yes"/>
</p:tagLst>
</file>

<file path=ppt/theme/theme1.xml><?xml version="1.0" encoding="utf-8"?>
<a:theme xmlns:a="http://schemas.openxmlformats.org/drawingml/2006/main" name="~1086908">
  <a:themeElements>
    <a:clrScheme name="">
      <a:dk1>
        <a:srgbClr val="003366"/>
      </a:dk1>
      <a:lt1>
        <a:srgbClr val="FFFFF0"/>
      </a:lt1>
      <a:dk2>
        <a:srgbClr val="C4D7EC"/>
      </a:dk2>
      <a:lt2>
        <a:srgbClr val="B6B468"/>
      </a:lt2>
      <a:accent1>
        <a:srgbClr val="1B65B7"/>
      </a:accent1>
      <a:accent2>
        <a:srgbClr val="F5C30B"/>
      </a:accent2>
      <a:accent3>
        <a:srgbClr val="FFFFF6"/>
      </a:accent3>
      <a:accent4>
        <a:srgbClr val="002A56"/>
      </a:accent4>
      <a:accent5>
        <a:srgbClr val="ABB8D8"/>
      </a:accent5>
      <a:accent6>
        <a:srgbClr val="DEB009"/>
      </a:accent6>
      <a:hlink>
        <a:srgbClr val="37994E"/>
      </a:hlink>
      <a:folHlink>
        <a:srgbClr val="E50919"/>
      </a:folHlink>
    </a:clrScheme>
    <a:fontScheme name="~1086908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rgbClr val="003366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Arial Unicode MS" pitchFamily="34" charset="-120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rgbClr val="003366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~1086908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1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79A9B9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ED1D9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2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ACD7E4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D2E8EF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3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5DB1CB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6D5E2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4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5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6">
        <a:dk1>
          <a:srgbClr val="003366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2A56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~1086908">
  <a:themeElements>
    <a:clrScheme name="">
      <a:dk1>
        <a:srgbClr val="003366"/>
      </a:dk1>
      <a:lt1>
        <a:srgbClr val="FFFFF0"/>
      </a:lt1>
      <a:dk2>
        <a:srgbClr val="C4D7EC"/>
      </a:dk2>
      <a:lt2>
        <a:srgbClr val="B6B468"/>
      </a:lt2>
      <a:accent1>
        <a:srgbClr val="1B65B7"/>
      </a:accent1>
      <a:accent2>
        <a:srgbClr val="F5C30B"/>
      </a:accent2>
      <a:accent3>
        <a:srgbClr val="FFFFF6"/>
      </a:accent3>
      <a:accent4>
        <a:srgbClr val="002A56"/>
      </a:accent4>
      <a:accent5>
        <a:srgbClr val="ABB8D8"/>
      </a:accent5>
      <a:accent6>
        <a:srgbClr val="DEB009"/>
      </a:accent6>
      <a:hlink>
        <a:srgbClr val="37994E"/>
      </a:hlink>
      <a:folHlink>
        <a:srgbClr val="E50919"/>
      </a:folHlink>
    </a:clrScheme>
    <a:fontScheme name="~1086908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rgbClr val="003366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Arial Unicode MS" pitchFamily="34" charset="-120"/>
            <a:cs typeface="Arial" panose="020B0604020202020204" pitchFamily="34" charset="0"/>
          </a:defRPr>
        </a:defPPr>
      </a:lstStyle>
    </a:spDef>
    <a:lnDef>
      <a:spPr bwMode="auto">
        <a:solidFill>
          <a:schemeClr val="accent1"/>
        </a:solidFill>
        <a:ln w="25400" cap="flat" cmpd="sng" algn="ctr">
          <a:solidFill>
            <a:srgbClr val="CC33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~1086908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~1086908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1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79A9B9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ED1D9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2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ACD7E4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D2E8EF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3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5DB1CB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B6D5E2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4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BB07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5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0000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~1086908 16">
        <a:dk1>
          <a:srgbClr val="003366"/>
        </a:dk1>
        <a:lt1>
          <a:srgbClr val="FFFFE1"/>
        </a:lt1>
        <a:dk2>
          <a:srgbClr val="330033"/>
        </a:dk2>
        <a:lt2>
          <a:srgbClr val="330033"/>
        </a:lt2>
        <a:accent1>
          <a:srgbClr val="86D3E2"/>
        </a:accent1>
        <a:accent2>
          <a:srgbClr val="FFCB6D"/>
        </a:accent2>
        <a:accent3>
          <a:srgbClr val="FFFFEE"/>
        </a:accent3>
        <a:accent4>
          <a:srgbClr val="002A56"/>
        </a:accent4>
        <a:accent5>
          <a:srgbClr val="C3E6EE"/>
        </a:accent5>
        <a:accent6>
          <a:srgbClr val="E7B862"/>
        </a:accent6>
        <a:hlink>
          <a:srgbClr val="CCCC99"/>
        </a:hlink>
        <a:folHlink>
          <a:srgbClr val="E909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9005</TotalTime>
  <Words>1539</Words>
  <Application>Microsoft Office PowerPoint</Application>
  <PresentationFormat>寬螢幕</PresentationFormat>
  <Paragraphs>473</Paragraphs>
  <Slides>25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25</vt:i4>
      </vt:variant>
    </vt:vector>
  </HeadingPairs>
  <TitlesOfParts>
    <vt:vector size="32" baseType="lpstr">
      <vt:lpstr>Arial</vt:lpstr>
      <vt:lpstr>Calibri</vt:lpstr>
      <vt:lpstr>Tahoma</vt:lpstr>
      <vt:lpstr>Times New Roman</vt:lpstr>
      <vt:lpstr>Wingdings</vt:lpstr>
      <vt:lpstr>~1086908</vt:lpstr>
      <vt:lpstr>1_~1086908</vt:lpstr>
      <vt:lpstr>PowerPoint 簡報</vt:lpstr>
      <vt:lpstr>Outline</vt:lpstr>
      <vt:lpstr>Self Test Two Modes Compare</vt:lpstr>
      <vt:lpstr>PowerPoint 簡報</vt:lpstr>
      <vt:lpstr>Listen Mode</vt:lpstr>
      <vt:lpstr>Short Diagram</vt:lpstr>
      <vt:lpstr>Open Diagram</vt:lpstr>
      <vt:lpstr>Detect Short and Open at The Same Time</vt:lpstr>
      <vt:lpstr>Self Test Sensing Timing</vt:lpstr>
      <vt:lpstr>Partition Detection</vt:lpstr>
      <vt:lpstr>Parameter</vt:lpstr>
      <vt:lpstr>Output Value</vt:lpstr>
      <vt:lpstr>Unable to Detect Short NG Case(1/2)</vt:lpstr>
      <vt:lpstr>Unable to Detect Short NG Case(2/2)</vt:lpstr>
      <vt:lpstr>Detect Open NG Case</vt:lpstr>
      <vt:lpstr>PowerPoint 簡報</vt:lpstr>
      <vt:lpstr>System Diagram</vt:lpstr>
      <vt:lpstr>Command Description</vt:lpstr>
      <vt:lpstr>Result Data Format</vt:lpstr>
      <vt:lpstr>Result Data Format</vt:lpstr>
      <vt:lpstr>Result Data Format</vt:lpstr>
      <vt:lpstr>Inspect Mode - Example</vt:lpstr>
      <vt:lpstr>Inspect Mode - Example</vt:lpstr>
      <vt:lpstr>Parameter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Hugo Lin(林昱享)</dc:creator>
  <cp:lastModifiedBy>Yuming Liao(廖裕銘)</cp:lastModifiedBy>
  <cp:revision>368</cp:revision>
  <dcterms:created xsi:type="dcterms:W3CDTF">2020-02-27T02:27:42Z</dcterms:created>
  <dcterms:modified xsi:type="dcterms:W3CDTF">2021-07-15T05:33:10Z</dcterms:modified>
</cp:coreProperties>
</file>