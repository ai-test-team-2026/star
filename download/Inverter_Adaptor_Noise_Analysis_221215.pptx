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</p:sldMasterIdLst>
  <p:notesMasterIdLst>
    <p:notesMasterId r:id="rId16"/>
  </p:notesMasterIdLst>
  <p:sldIdLst>
    <p:sldId id="269" r:id="rId3"/>
    <p:sldId id="3087" r:id="rId4"/>
    <p:sldId id="3089" r:id="rId5"/>
    <p:sldId id="3093" r:id="rId6"/>
    <p:sldId id="3090" r:id="rId7"/>
    <p:sldId id="3099" r:id="rId8"/>
    <p:sldId id="3095" r:id="rId9"/>
    <p:sldId id="3096" r:id="rId10"/>
    <p:sldId id="3097" r:id="rId11"/>
    <p:sldId id="3098" r:id="rId12"/>
    <p:sldId id="3092" r:id="rId13"/>
    <p:sldId id="3094" r:id="rId14"/>
    <p:sldId id="234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C2"/>
    <a:srgbClr val="DDDDDD"/>
    <a:srgbClr val="3333FF"/>
    <a:srgbClr val="000000"/>
    <a:srgbClr val="FF6600"/>
    <a:srgbClr val="333333"/>
    <a:srgbClr val="009900"/>
    <a:srgbClr val="FF9933"/>
    <a:srgbClr val="F26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4238" autoAdjust="0"/>
  </p:normalViewPr>
  <p:slideViewPr>
    <p:cSldViewPr snapToGrid="0">
      <p:cViewPr>
        <p:scale>
          <a:sx n="100" d="100"/>
          <a:sy n="100" d="100"/>
        </p:scale>
        <p:origin x="1398" y="678"/>
      </p:cViewPr>
      <p:guideLst>
        <p:guide pos="3840"/>
        <p:guide pos="39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AF9CA-E989-4981-A9F4-76016C93C15C}" type="datetimeFigureOut">
              <a:rPr lang="zh-TW" altLang="en-US" smtClean="0"/>
              <a:t>2022/12/15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5E237-882D-43E1-ABE9-26BF3B28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78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C0A83C-1154-49FE-9E38-94873B4CFCE0}" type="slidenum">
              <a:rPr kumimoji="1" lang="en-US" altLang="zh-TW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Arial Unicode MS" pitchFamily="34" charset="-120"/>
                <a:cs typeface="Arial Unicode MS" panose="020B0604020202020204" pitchFamily="34" charset="-120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Arial Unicode MS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33425"/>
            <a:ext cx="6629400" cy="3729038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08525"/>
            <a:ext cx="5043488" cy="2635250"/>
          </a:xfrm>
          <a:noFill/>
        </p:spPr>
        <p:txBody>
          <a:bodyPr/>
          <a:lstStyle/>
          <a:p>
            <a:pPr eaLnBrk="1" hangingPunct="1"/>
            <a:endParaRPr lang="en-US" altLang="zh-CN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17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en-GB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1B43B23C-4960-435F-AC1D-D5E816E68B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8D349F1E-C2D9-40CB-839F-B4481F6D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BC8B5AB0-27BD-406D-AF39-56F468641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17AE937D-07F0-4970-A4FF-307031DA5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pic>
        <p:nvPicPr>
          <p:cNvPr id="19" name="Picture 24" descr="LOGO-8">
            <a:extLst>
              <a:ext uri="{FF2B5EF4-FFF2-40B4-BE49-F238E27FC236}">
                <a16:creationId xmlns:a16="http://schemas.microsoft.com/office/drawing/2014/main" id="{3973CFE5-7F9C-4E67-8EF1-0AE3C3EF1A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068F1748-776A-4735-9696-0DBFD53060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33A320B-D17D-4392-A3CF-0F8162B540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4FEE363-884E-45BB-A8F4-4AB4A89B2B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79450377-474C-41F1-92FC-394B8C30B4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A27C58CA-90DA-4123-9C85-00526CCC0C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B6ED69F-80F2-4059-85A3-79BD17FCA1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892883B-0B90-456B-BF45-02349D8980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5066DBDB-1ADC-4A1B-AE26-6EB2BA1701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16902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FB44C-6645-4E61-8457-F2B80FEA1E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343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33CBA-1247-4C14-B683-643FC3A8E4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279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D2E18-42C3-4680-BC63-70782EBD82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7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8AB4-08CD-4E56-BF17-3F09C5C15F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771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37D90-326A-4058-A0E4-7898849E073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5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8174E-B202-471B-A104-19933BDF4F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842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5901-37B1-4700-8873-6719E1ED2D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324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6995-629D-4A27-9A6E-FAE707FB6B5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710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94B4F-C2C0-4AA7-987C-424ED860A6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729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58BE-7149-4333-815A-701C09F391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085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18067" y="1338263"/>
            <a:ext cx="11040533" cy="5008562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0830C9-2416-42AC-A916-AAD9879F56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974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239933" y="1338264"/>
            <a:ext cx="5418667" cy="24272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239933" y="3917951"/>
            <a:ext cx="5418667" cy="24288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CCE99-CD70-4802-9ADA-03F0C1A0A8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01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D31ABC-30A3-4172-9530-BFCE7331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en-GB" altLang="zh-TW" sz="2400" b="0"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3818EDFF-6235-4D70-B856-0FC39DC8F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DC85CE9-87F2-435C-84DE-95281E701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E74AB7F8-D1B7-40CA-A00C-C1532098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67E8365-D19F-4A8C-B166-84E6DF1D19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 dirty="0">
                <a:solidFill>
                  <a:srgbClr val="F0F0E1"/>
                </a:solidFill>
              </a:rPr>
              <a:t>Himax Confidential</a:t>
            </a:r>
          </a:p>
        </p:txBody>
      </p:sp>
      <p:pic>
        <p:nvPicPr>
          <p:cNvPr id="20" name="Picture 24" descr="LOGO-8">
            <a:extLst>
              <a:ext uri="{FF2B5EF4-FFF2-40B4-BE49-F238E27FC236}">
                <a16:creationId xmlns:a16="http://schemas.microsoft.com/office/drawing/2014/main" id="{F29F4CEA-AB0C-4383-AAC5-7DBA237D8C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36">
            <a:extLst>
              <a:ext uri="{FF2B5EF4-FFF2-40B4-BE49-F238E27FC236}">
                <a16:creationId xmlns:a16="http://schemas.microsoft.com/office/drawing/2014/main" id="{CB22E013-C416-434B-9ED1-226D2027645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1B4A2336-B6F7-4907-BAC1-DA847157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D4700176-FBB1-4026-BC12-E53CB209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2E2D0BE6-8CB0-40CA-903F-4E08AB3EF4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BC4AF9EE-B66E-4F0B-993C-4AB995FE28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6667CBCF-EF8B-42DF-AB65-907945824C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6BFBAE3-4A2B-4415-9185-CC6383D56B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B48D83A1-741A-43A3-B225-0EB50DB8A5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A6F35C7-F66C-4176-A755-B4A16CC6C3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DA94314-E4F6-47FA-BF73-2F66E520FA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2722231-D913-4653-B64C-F241D31B9C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379223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DB19E79B-A342-4C75-A0CE-D0927915B2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827E88-67B4-437A-B8CF-DFCB100CC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4C18F-EB8D-4FF5-AC15-34A2924EEA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52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74A72C37-4A2E-4240-B1A6-FAA6C2B36C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BB3E01-2800-481C-BB00-D3A41E3906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C2A30-D97C-463A-AAB1-9BA3C57695E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956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927F82D-0B20-4721-A463-AB8FD5EDA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33F1A8-2795-45A1-B452-48F919D9D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07C2C-9E6A-4AE7-B0C4-656FCE4355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7440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7">
            <a:extLst>
              <a:ext uri="{FF2B5EF4-FFF2-40B4-BE49-F238E27FC236}">
                <a16:creationId xmlns:a16="http://schemas.microsoft.com/office/drawing/2014/main" id="{52572AB9-A733-4860-A633-FB4A228129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0A6661-3553-4759-9991-061CBCFCA8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F2BD8-6C18-463D-85DD-A5131B18CD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8824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7">
            <a:extLst>
              <a:ext uri="{FF2B5EF4-FFF2-40B4-BE49-F238E27FC236}">
                <a16:creationId xmlns:a16="http://schemas.microsoft.com/office/drawing/2014/main" id="{B704A404-7A84-40FB-A200-E913884B4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D3900-A677-45C9-AF15-0F0944C32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B9F21-FCB5-4EF6-81C7-8758436C5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5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7">
            <a:extLst>
              <a:ext uri="{FF2B5EF4-FFF2-40B4-BE49-F238E27FC236}">
                <a16:creationId xmlns:a16="http://schemas.microsoft.com/office/drawing/2014/main" id="{97A8FAA0-EB43-4874-87C4-FCF8D0EC59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E216D2B-B638-4D89-8634-25E6C0E3AA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ED4AC-7C60-46B4-A4F0-53A9BB6B91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8652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F1CBD21-6AE8-4D40-BC43-A357504CD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41663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6" name="文字方塊 8">
            <a:extLst>
              <a:ext uri="{FF2B5EF4-FFF2-40B4-BE49-F238E27FC236}">
                <a16:creationId xmlns:a16="http://schemas.microsoft.com/office/drawing/2014/main" id="{A9B9FCD2-BA44-4FFC-BD54-8EAEE5E9CF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4BA4C8-DD91-468A-850A-326A7C98C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01DC-48D3-477C-A850-3D9186A5AF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0326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3116988E-1899-4A94-84A1-1466478130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195D35-E060-43E7-95C9-6C9B60E181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AB1D0-D725-4C0B-9CC4-2D55666E07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966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A36FC8E0-A3A7-47D5-B958-32D8183128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C9B73C-61FA-4939-AA3D-E687665853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6B909-AE4A-43D0-97B0-8E31CC0D4D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30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EBE4B-EFE3-486F-B0BA-AB8AC4DC44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C06E-449B-4B51-B024-8ED03807C8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31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CE0040-9D3B-4D8F-8561-0C2047A4E1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zh-TW" altLang="en-US" sz="28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b="1" i="1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F5074E04-4B2A-4B82-BD18-0C5D715087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46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09516A-D344-46C8-8F5E-D437FD5D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>
            <a:extLst>
              <a:ext uri="{FF2B5EF4-FFF2-40B4-BE49-F238E27FC236}">
                <a16:creationId xmlns:a16="http://schemas.microsoft.com/office/drawing/2014/main" id="{06432C2C-B665-42CB-B1A8-277F868F1D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EC8629A-511B-4F54-A193-6631F41A8D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D4901F-F1FA-4FC3-B56B-94ACCC3E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zh-TW" altLang="en-US" sz="2800"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F7F2E51-2D65-4A1A-BB8A-ABEE02AE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CC76B179-7BF9-4C65-AAD2-FD02C18F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i="1" dirty="0">
                <a:solidFill>
                  <a:schemeClr val="folHlink"/>
                </a:solidFill>
                <a:ea typeface="新細明體" panose="02020500000000000000" pitchFamily="18" charset="-120"/>
                <a:cs typeface="+mn-cs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93C9668F-FD6A-4681-8BFB-F0597CDDB9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63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9"/>
          <p:cNvSpPr txBox="1">
            <a:spLocks noChangeArrowheads="1"/>
          </p:cNvSpPr>
          <p:nvPr/>
        </p:nvSpPr>
        <p:spPr bwMode="auto">
          <a:xfrm>
            <a:off x="3181353" y="5116756"/>
            <a:ext cx="61436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2022 </a:t>
            </a:r>
            <a:r>
              <a:rPr lang="en-US" altLang="zh-TW" b="1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/ 12</a:t>
            </a:r>
            <a:endParaRPr lang="en-US" altLang="zh-TW" b="1" dirty="0">
              <a:solidFill>
                <a:srgbClr val="003366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6147" name="文字方塊 2"/>
          <p:cNvSpPr txBox="1">
            <a:spLocks noChangeArrowheads="1"/>
          </p:cNvSpPr>
          <p:nvPr/>
        </p:nvSpPr>
        <p:spPr bwMode="auto">
          <a:xfrm>
            <a:off x="3181353" y="2935943"/>
            <a:ext cx="736167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2400" b="1" dirty="0">
              <a:latin typeface="Arial" panose="020B0604020202020204" pitchFamily="34" charset="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solidFill>
                  <a:srgbClr val="0080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Inverter &amp; Adaptor</a:t>
            </a:r>
            <a:r>
              <a:rPr lang="zh-TW" altLang="en-US" sz="2400" b="1" dirty="0">
                <a:solidFill>
                  <a:srgbClr val="0080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2400" b="1" dirty="0">
                <a:solidFill>
                  <a:srgbClr val="00800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Noise Analysis</a:t>
            </a:r>
            <a:endParaRPr lang="en-US" altLang="zh-TW" sz="2400" b="1" dirty="0">
              <a:latin typeface="Arial" panose="020B0604020202020204" pitchFamily="34" charset="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37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D586E-8847-4471-8F0F-4A38654A0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47" y="1338263"/>
            <a:ext cx="11040533" cy="5008562"/>
          </a:xfrm>
        </p:spPr>
        <p:txBody>
          <a:bodyPr/>
          <a:lstStyle/>
          <a:p>
            <a:r>
              <a:rPr lang="zh-TW" altLang="en-US" sz="1600" dirty="0">
                <a:latin typeface="+mn-ea"/>
              </a:rPr>
              <a:t>在整車上，</a:t>
            </a:r>
            <a:r>
              <a:rPr lang="zh-TW" altLang="en-US" sz="1600" dirty="0">
                <a:solidFill>
                  <a:srgbClr val="FF0000"/>
                </a:solidFill>
                <a:latin typeface="+mn-ea"/>
              </a:rPr>
              <a:t>使用逆變器連接車用</a:t>
            </a:r>
            <a:r>
              <a:rPr lang="en-US" altLang="zh-TW" sz="1600" dirty="0">
                <a:solidFill>
                  <a:srgbClr val="FF0000"/>
                </a:solidFill>
                <a:latin typeface="+mn-ea"/>
              </a:rPr>
              <a:t>12V</a:t>
            </a:r>
            <a:r>
              <a:rPr lang="zh-TW" altLang="en-US" sz="1600" dirty="0">
                <a:solidFill>
                  <a:srgbClr val="FF0000"/>
                </a:solidFill>
                <a:latin typeface="+mn-ea"/>
              </a:rPr>
              <a:t>電源後，再把充電器連接逆變器來對筆電充電</a:t>
            </a:r>
            <a:r>
              <a:rPr lang="zh-TW" altLang="en-US" sz="1600" dirty="0">
                <a:latin typeface="+mn-ea"/>
              </a:rPr>
              <a:t>。</a:t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此時一手拿著筆電，一手觸摸面板操作時，畫面出現觸控不靈敏的情況 </a:t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(Ex:</a:t>
            </a:r>
            <a:r>
              <a:rPr lang="zh-TW" altLang="en-US" sz="1600" dirty="0">
                <a:latin typeface="+mn-ea"/>
              </a:rPr>
              <a:t>點擊變畫線 </a:t>
            </a:r>
            <a:r>
              <a:rPr lang="en-US" altLang="zh-TW" sz="1600" dirty="0">
                <a:latin typeface="+mn-ea"/>
              </a:rPr>
              <a:t>or </a:t>
            </a:r>
            <a:r>
              <a:rPr lang="zh-TW" altLang="en-US" sz="1600" dirty="0">
                <a:latin typeface="+mn-ea"/>
              </a:rPr>
              <a:t>畫線出現斷線</a:t>
            </a:r>
            <a:r>
              <a:rPr lang="en-US" altLang="zh-TW" sz="1600" dirty="0">
                <a:latin typeface="+mn-ea"/>
              </a:rPr>
              <a:t>)</a:t>
            </a:r>
          </a:p>
          <a:p>
            <a:endParaRPr lang="en-US" altLang="zh-CN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廠內可以透過這以下手法複現</a:t>
            </a:r>
            <a:endParaRPr lang="en-US" altLang="zh-CN" sz="16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2000" dirty="0">
              <a:latin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2000" dirty="0">
              <a:latin typeface="宋体" panose="02010600030101010101" pitchFamily="2" charset="-122"/>
            </a:endParaRPr>
          </a:p>
          <a:p>
            <a:pPr lvl="8"/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問題描述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E4B9DE-3ACE-4168-B124-DE4C2691B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7324C83-8212-463F-A525-B2E0C4302800}"/>
              </a:ext>
            </a:extLst>
          </p:cNvPr>
          <p:cNvGrpSpPr/>
          <p:nvPr/>
        </p:nvGrpSpPr>
        <p:grpSpPr>
          <a:xfrm>
            <a:off x="6096000" y="2826530"/>
            <a:ext cx="5825453" cy="3800207"/>
            <a:chOff x="441424" y="2416721"/>
            <a:chExt cx="6222928" cy="4018493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596E1717-D5E3-4381-9EEF-D5EA90228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424" y="2416721"/>
              <a:ext cx="6222928" cy="3776767"/>
            </a:xfrm>
            <a:prstGeom prst="rect">
              <a:avLst/>
            </a:prstGeom>
          </p:spPr>
        </p:pic>
        <p:sp>
          <p:nvSpPr>
            <p:cNvPr id="16" name="流程圖: 接點 15">
              <a:extLst>
                <a:ext uri="{FF2B5EF4-FFF2-40B4-BE49-F238E27FC236}">
                  <a16:creationId xmlns:a16="http://schemas.microsoft.com/office/drawing/2014/main" id="{F33DF64B-E058-4E70-B5E3-8C5BF4375989}"/>
                </a:ext>
              </a:extLst>
            </p:cNvPr>
            <p:cNvSpPr/>
            <p:nvPr/>
          </p:nvSpPr>
          <p:spPr bwMode="auto">
            <a:xfrm>
              <a:off x="2518783" y="3707314"/>
              <a:ext cx="285750" cy="319903"/>
            </a:xfrm>
            <a:prstGeom prst="flowChartConnector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9E477F55-2C20-4BEE-9B1F-D6BA278E9BA0}"/>
                </a:ext>
              </a:extLst>
            </p:cNvPr>
            <p:cNvSpPr txBox="1"/>
            <p:nvPr/>
          </p:nvSpPr>
          <p:spPr>
            <a:xfrm>
              <a:off x="1236496" y="4294245"/>
              <a:ext cx="4775479" cy="32545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dirty="0"/>
                <a:t>使用者原本要點擊，但卻變成畫線，造成</a:t>
              </a:r>
              <a:r>
                <a:rPr lang="zh-TW" altLang="en-US" sz="1400" dirty="0">
                  <a:latin typeface="+mn-ea"/>
                </a:rPr>
                <a:t>觸控不靈敏</a:t>
              </a:r>
              <a:endParaRPr lang="en-US" altLang="zh-TW" sz="1400" dirty="0"/>
            </a:p>
          </p:txBody>
        </p:sp>
        <p:grpSp>
          <p:nvGrpSpPr>
            <p:cNvPr id="76" name="群組 75">
              <a:extLst>
                <a:ext uri="{FF2B5EF4-FFF2-40B4-BE49-F238E27FC236}">
                  <a16:creationId xmlns:a16="http://schemas.microsoft.com/office/drawing/2014/main" id="{DF75B00F-9ED2-41D0-ACDC-802F4B3F26CA}"/>
                </a:ext>
              </a:extLst>
            </p:cNvPr>
            <p:cNvGrpSpPr/>
            <p:nvPr/>
          </p:nvGrpSpPr>
          <p:grpSpPr>
            <a:xfrm rot="10800000">
              <a:off x="2427025" y="2897383"/>
              <a:ext cx="490366" cy="838088"/>
              <a:chOff x="4333306" y="4506726"/>
              <a:chExt cx="490366" cy="838088"/>
            </a:xfrm>
            <a:solidFill>
              <a:schemeClr val="bg1"/>
            </a:solidFill>
          </p:grpSpPr>
          <p:sp>
            <p:nvSpPr>
              <p:cNvPr id="77" name="手繪多邊形: 圖案 76">
                <a:extLst>
                  <a:ext uri="{FF2B5EF4-FFF2-40B4-BE49-F238E27FC236}">
                    <a16:creationId xmlns:a16="http://schemas.microsoft.com/office/drawing/2014/main" id="{75BF4092-DE2C-4559-A27B-12A60A9825E3}"/>
                  </a:ext>
                </a:extLst>
              </p:cNvPr>
              <p:cNvSpPr/>
              <p:nvPr/>
            </p:nvSpPr>
            <p:spPr bwMode="auto">
              <a:xfrm>
                <a:off x="4333306" y="4506726"/>
                <a:ext cx="490366" cy="838088"/>
              </a:xfrm>
              <a:custGeom>
                <a:avLst/>
                <a:gdLst>
                  <a:gd name="connsiteX0" fmla="*/ 7026 w 443254"/>
                  <a:gd name="connsiteY0" fmla="*/ 1480506 h 1497284"/>
                  <a:gd name="connsiteX1" fmla="*/ 40582 w 443254"/>
                  <a:gd name="connsiteY1" fmla="*/ 272492 h 1497284"/>
                  <a:gd name="connsiteX2" fmla="*/ 317419 w 443254"/>
                  <a:gd name="connsiteY2" fmla="*/ 96323 h 1497284"/>
                  <a:gd name="connsiteX3" fmla="*/ 443254 w 443254"/>
                  <a:gd name="connsiteY3" fmla="*/ 1497284 h 1497284"/>
                  <a:gd name="connsiteX0" fmla="*/ 7026 w 443254"/>
                  <a:gd name="connsiteY0" fmla="*/ 1480506 h 1497284"/>
                  <a:gd name="connsiteX1" fmla="*/ 40582 w 443254"/>
                  <a:gd name="connsiteY1" fmla="*/ 272492 h 1497284"/>
                  <a:gd name="connsiteX2" fmla="*/ 317419 w 443254"/>
                  <a:gd name="connsiteY2" fmla="*/ 96323 h 1497284"/>
                  <a:gd name="connsiteX3" fmla="*/ 443254 w 443254"/>
                  <a:gd name="connsiteY3" fmla="*/ 1497284 h 1497284"/>
                  <a:gd name="connsiteX0" fmla="*/ 3826 w 440054"/>
                  <a:gd name="connsiteY0" fmla="*/ 1549999 h 1566777"/>
                  <a:gd name="connsiteX1" fmla="*/ 37382 w 440054"/>
                  <a:gd name="connsiteY1" fmla="*/ 341985 h 1566777"/>
                  <a:gd name="connsiteX2" fmla="*/ 226339 w 440054"/>
                  <a:gd name="connsiteY2" fmla="*/ 80329 h 1566777"/>
                  <a:gd name="connsiteX3" fmla="*/ 440054 w 440054"/>
                  <a:gd name="connsiteY3" fmla="*/ 1566777 h 1566777"/>
                  <a:gd name="connsiteX0" fmla="*/ 3826 w 440054"/>
                  <a:gd name="connsiteY0" fmla="*/ 1475857 h 1492635"/>
                  <a:gd name="connsiteX1" fmla="*/ 37382 w 440054"/>
                  <a:gd name="connsiteY1" fmla="*/ 267843 h 1492635"/>
                  <a:gd name="connsiteX2" fmla="*/ 226339 w 440054"/>
                  <a:gd name="connsiteY2" fmla="*/ 6187 h 1492635"/>
                  <a:gd name="connsiteX3" fmla="*/ 440054 w 440054"/>
                  <a:gd name="connsiteY3" fmla="*/ 1492635 h 1492635"/>
                  <a:gd name="connsiteX0" fmla="*/ 3826 w 440054"/>
                  <a:gd name="connsiteY0" fmla="*/ 1475855 h 1492633"/>
                  <a:gd name="connsiteX1" fmla="*/ 37382 w 440054"/>
                  <a:gd name="connsiteY1" fmla="*/ 267841 h 1492633"/>
                  <a:gd name="connsiteX2" fmla="*/ 226339 w 440054"/>
                  <a:gd name="connsiteY2" fmla="*/ 6185 h 1492633"/>
                  <a:gd name="connsiteX3" fmla="*/ 440054 w 440054"/>
                  <a:gd name="connsiteY3" fmla="*/ 1492633 h 1492633"/>
                  <a:gd name="connsiteX0" fmla="*/ 3443 w 439671"/>
                  <a:gd name="connsiteY0" fmla="*/ 1467833 h 1484611"/>
                  <a:gd name="connsiteX1" fmla="*/ 36999 w 439671"/>
                  <a:gd name="connsiteY1" fmla="*/ 259819 h 1484611"/>
                  <a:gd name="connsiteX2" fmla="*/ 210448 w 439671"/>
                  <a:gd name="connsiteY2" fmla="*/ 6713 h 1484611"/>
                  <a:gd name="connsiteX3" fmla="*/ 439671 w 439671"/>
                  <a:gd name="connsiteY3" fmla="*/ 1484611 h 1484611"/>
                  <a:gd name="connsiteX0" fmla="*/ 3443 w 439671"/>
                  <a:gd name="connsiteY0" fmla="*/ 1461120 h 1477898"/>
                  <a:gd name="connsiteX1" fmla="*/ 36999 w 439671"/>
                  <a:gd name="connsiteY1" fmla="*/ 253106 h 1477898"/>
                  <a:gd name="connsiteX2" fmla="*/ 210448 w 439671"/>
                  <a:gd name="connsiteY2" fmla="*/ 0 h 1477898"/>
                  <a:gd name="connsiteX3" fmla="*/ 439671 w 439671"/>
                  <a:gd name="connsiteY3" fmla="*/ 1477898 h 1477898"/>
                  <a:gd name="connsiteX0" fmla="*/ 3443 w 439671"/>
                  <a:gd name="connsiteY0" fmla="*/ 1461490 h 1478268"/>
                  <a:gd name="connsiteX1" fmla="*/ 36999 w 439671"/>
                  <a:gd name="connsiteY1" fmla="*/ 253476 h 1478268"/>
                  <a:gd name="connsiteX2" fmla="*/ 210448 w 439671"/>
                  <a:gd name="connsiteY2" fmla="*/ 370 h 1478268"/>
                  <a:gd name="connsiteX3" fmla="*/ 439671 w 439671"/>
                  <a:gd name="connsiteY3" fmla="*/ 1478268 h 1478268"/>
                  <a:gd name="connsiteX0" fmla="*/ 8681 w 444909"/>
                  <a:gd name="connsiteY0" fmla="*/ 1461169 h 1477947"/>
                  <a:gd name="connsiteX1" fmla="*/ 24144 w 444909"/>
                  <a:gd name="connsiteY1" fmla="*/ 402758 h 1477947"/>
                  <a:gd name="connsiteX2" fmla="*/ 215686 w 444909"/>
                  <a:gd name="connsiteY2" fmla="*/ 49 h 1477947"/>
                  <a:gd name="connsiteX3" fmla="*/ 444909 w 444909"/>
                  <a:gd name="connsiteY3" fmla="*/ 1477947 h 1477947"/>
                  <a:gd name="connsiteX0" fmla="*/ 2469 w 438697"/>
                  <a:gd name="connsiteY0" fmla="*/ 1461171 h 1477949"/>
                  <a:gd name="connsiteX1" fmla="*/ 17932 w 438697"/>
                  <a:gd name="connsiteY1" fmla="*/ 402760 h 1477949"/>
                  <a:gd name="connsiteX2" fmla="*/ 209474 w 438697"/>
                  <a:gd name="connsiteY2" fmla="*/ 51 h 1477949"/>
                  <a:gd name="connsiteX3" fmla="*/ 438697 w 438697"/>
                  <a:gd name="connsiteY3" fmla="*/ 1477949 h 1477949"/>
                  <a:gd name="connsiteX0" fmla="*/ 7029 w 443257"/>
                  <a:gd name="connsiteY0" fmla="*/ 1461169 h 1477947"/>
                  <a:gd name="connsiteX1" fmla="*/ 4400 w 443257"/>
                  <a:gd name="connsiteY1" fmla="*/ 411307 h 1477947"/>
                  <a:gd name="connsiteX2" fmla="*/ 214034 w 443257"/>
                  <a:gd name="connsiteY2" fmla="*/ 49 h 1477947"/>
                  <a:gd name="connsiteX3" fmla="*/ 443257 w 443257"/>
                  <a:gd name="connsiteY3" fmla="*/ 1477947 h 1477947"/>
                  <a:gd name="connsiteX0" fmla="*/ 5508 w 472752"/>
                  <a:gd name="connsiteY0" fmla="*/ 1478263 h 1478263"/>
                  <a:gd name="connsiteX1" fmla="*/ 33895 w 472752"/>
                  <a:gd name="connsiteY1" fmla="*/ 411303 h 1478263"/>
                  <a:gd name="connsiteX2" fmla="*/ 243529 w 472752"/>
                  <a:gd name="connsiteY2" fmla="*/ 45 h 1478263"/>
                  <a:gd name="connsiteX3" fmla="*/ 472752 w 472752"/>
                  <a:gd name="connsiteY3" fmla="*/ 1477943 h 1478263"/>
                  <a:gd name="connsiteX0" fmla="*/ 1 w 467245"/>
                  <a:gd name="connsiteY0" fmla="*/ 1478263 h 1478263"/>
                  <a:gd name="connsiteX1" fmla="*/ 28388 w 467245"/>
                  <a:gd name="connsiteY1" fmla="*/ 411303 h 1478263"/>
                  <a:gd name="connsiteX2" fmla="*/ 238022 w 467245"/>
                  <a:gd name="connsiteY2" fmla="*/ 45 h 1478263"/>
                  <a:gd name="connsiteX3" fmla="*/ 467245 w 467245"/>
                  <a:gd name="connsiteY3" fmla="*/ 1477943 h 1478263"/>
                  <a:gd name="connsiteX0" fmla="*/ 0 w 482753"/>
                  <a:gd name="connsiteY0" fmla="*/ 1478263 h 1478263"/>
                  <a:gd name="connsiteX1" fmla="*/ 43896 w 482753"/>
                  <a:gd name="connsiteY1" fmla="*/ 411303 h 1478263"/>
                  <a:gd name="connsiteX2" fmla="*/ 253530 w 482753"/>
                  <a:gd name="connsiteY2" fmla="*/ 45 h 1478263"/>
                  <a:gd name="connsiteX3" fmla="*/ 482753 w 482753"/>
                  <a:gd name="connsiteY3" fmla="*/ 1477943 h 1478263"/>
                  <a:gd name="connsiteX0" fmla="*/ 0 w 482753"/>
                  <a:gd name="connsiteY0" fmla="*/ 1478263 h 1478263"/>
                  <a:gd name="connsiteX1" fmla="*/ 43896 w 482753"/>
                  <a:gd name="connsiteY1" fmla="*/ 411303 h 1478263"/>
                  <a:gd name="connsiteX2" fmla="*/ 253530 w 482753"/>
                  <a:gd name="connsiteY2" fmla="*/ 45 h 1478263"/>
                  <a:gd name="connsiteX3" fmla="*/ 482753 w 482753"/>
                  <a:gd name="connsiteY3" fmla="*/ 1477943 h 1478263"/>
                  <a:gd name="connsiteX0" fmla="*/ 0 w 482753"/>
                  <a:gd name="connsiteY0" fmla="*/ 1448351 h 1448351"/>
                  <a:gd name="connsiteX1" fmla="*/ 43896 w 482753"/>
                  <a:gd name="connsiteY1" fmla="*/ 381391 h 1448351"/>
                  <a:gd name="connsiteX2" fmla="*/ 253530 w 482753"/>
                  <a:gd name="connsiteY2" fmla="*/ 54 h 1448351"/>
                  <a:gd name="connsiteX3" fmla="*/ 482753 w 482753"/>
                  <a:gd name="connsiteY3" fmla="*/ 1448031 h 1448351"/>
                  <a:gd name="connsiteX0" fmla="*/ 0 w 482753"/>
                  <a:gd name="connsiteY0" fmla="*/ 1422715 h 1422715"/>
                  <a:gd name="connsiteX1" fmla="*/ 43896 w 482753"/>
                  <a:gd name="connsiteY1" fmla="*/ 355755 h 1422715"/>
                  <a:gd name="connsiteX2" fmla="*/ 256114 w 482753"/>
                  <a:gd name="connsiteY2" fmla="*/ 63 h 1422715"/>
                  <a:gd name="connsiteX3" fmla="*/ 482753 w 482753"/>
                  <a:gd name="connsiteY3" fmla="*/ 1422395 h 1422715"/>
                  <a:gd name="connsiteX0" fmla="*/ 0 w 482753"/>
                  <a:gd name="connsiteY0" fmla="*/ 1422715 h 1422715"/>
                  <a:gd name="connsiteX1" fmla="*/ 43896 w 482753"/>
                  <a:gd name="connsiteY1" fmla="*/ 355755 h 1422715"/>
                  <a:gd name="connsiteX2" fmla="*/ 256114 w 482753"/>
                  <a:gd name="connsiteY2" fmla="*/ 63 h 1422715"/>
                  <a:gd name="connsiteX3" fmla="*/ 482753 w 482753"/>
                  <a:gd name="connsiteY3" fmla="*/ 1422395 h 1422715"/>
                  <a:gd name="connsiteX0" fmla="*/ 0 w 482753"/>
                  <a:gd name="connsiteY0" fmla="*/ 1422715 h 1422715"/>
                  <a:gd name="connsiteX1" fmla="*/ 43896 w 482753"/>
                  <a:gd name="connsiteY1" fmla="*/ 355755 h 1422715"/>
                  <a:gd name="connsiteX2" fmla="*/ 256114 w 482753"/>
                  <a:gd name="connsiteY2" fmla="*/ 63 h 1422715"/>
                  <a:gd name="connsiteX3" fmla="*/ 482753 w 482753"/>
                  <a:gd name="connsiteY3" fmla="*/ 1422395 h 1422715"/>
                  <a:gd name="connsiteX0" fmla="*/ 0 w 482753"/>
                  <a:gd name="connsiteY0" fmla="*/ 1422652 h 1422652"/>
                  <a:gd name="connsiteX1" fmla="*/ 256114 w 482753"/>
                  <a:gd name="connsiteY1" fmla="*/ 0 h 1422652"/>
                  <a:gd name="connsiteX2" fmla="*/ 482753 w 482753"/>
                  <a:gd name="connsiteY2" fmla="*/ 1422332 h 1422652"/>
                  <a:gd name="connsiteX0" fmla="*/ 0 w 482753"/>
                  <a:gd name="connsiteY0" fmla="*/ 1425468 h 1425468"/>
                  <a:gd name="connsiteX1" fmla="*/ 256114 w 482753"/>
                  <a:gd name="connsiteY1" fmla="*/ 2816 h 1425468"/>
                  <a:gd name="connsiteX2" fmla="*/ 482753 w 482753"/>
                  <a:gd name="connsiteY2" fmla="*/ 1425148 h 1425468"/>
                  <a:gd name="connsiteX0" fmla="*/ 5873 w 488626"/>
                  <a:gd name="connsiteY0" fmla="*/ 1425709 h 1425709"/>
                  <a:gd name="connsiteX1" fmla="*/ 261987 w 488626"/>
                  <a:gd name="connsiteY1" fmla="*/ 3057 h 1425709"/>
                  <a:gd name="connsiteX2" fmla="*/ 488626 w 488626"/>
                  <a:gd name="connsiteY2" fmla="*/ 1425389 h 1425709"/>
                  <a:gd name="connsiteX0" fmla="*/ 0 w 482753"/>
                  <a:gd name="connsiteY0" fmla="*/ 1425720 h 1425720"/>
                  <a:gd name="connsiteX1" fmla="*/ 256114 w 482753"/>
                  <a:gd name="connsiteY1" fmla="*/ 3068 h 1425720"/>
                  <a:gd name="connsiteX2" fmla="*/ 482753 w 482753"/>
                  <a:gd name="connsiteY2" fmla="*/ 1425400 h 1425720"/>
                  <a:gd name="connsiteX0" fmla="*/ 0 w 490507"/>
                  <a:gd name="connsiteY0" fmla="*/ 1425720 h 1425720"/>
                  <a:gd name="connsiteX1" fmla="*/ 263868 w 490507"/>
                  <a:gd name="connsiteY1" fmla="*/ 3068 h 1425720"/>
                  <a:gd name="connsiteX2" fmla="*/ 490507 w 490507"/>
                  <a:gd name="connsiteY2" fmla="*/ 1425400 h 1425720"/>
                  <a:gd name="connsiteX0" fmla="*/ 0 w 490507"/>
                  <a:gd name="connsiteY0" fmla="*/ 1422652 h 1422652"/>
                  <a:gd name="connsiteX1" fmla="*/ 263868 w 490507"/>
                  <a:gd name="connsiteY1" fmla="*/ 0 h 1422652"/>
                  <a:gd name="connsiteX2" fmla="*/ 490507 w 490507"/>
                  <a:gd name="connsiteY2" fmla="*/ 1422332 h 1422652"/>
                  <a:gd name="connsiteX0" fmla="*/ 0 w 490507"/>
                  <a:gd name="connsiteY0" fmla="*/ 1422652 h 1422652"/>
                  <a:gd name="connsiteX1" fmla="*/ 248359 w 490507"/>
                  <a:gd name="connsiteY1" fmla="*/ 0 h 1422652"/>
                  <a:gd name="connsiteX2" fmla="*/ 490507 w 490507"/>
                  <a:gd name="connsiteY2" fmla="*/ 1422332 h 1422652"/>
                  <a:gd name="connsiteX0" fmla="*/ 0 w 490507"/>
                  <a:gd name="connsiteY0" fmla="*/ 1422652 h 1422652"/>
                  <a:gd name="connsiteX1" fmla="*/ 248359 w 490507"/>
                  <a:gd name="connsiteY1" fmla="*/ 0 h 1422652"/>
                  <a:gd name="connsiteX2" fmla="*/ 490507 w 490507"/>
                  <a:gd name="connsiteY2" fmla="*/ 1422332 h 1422652"/>
                  <a:gd name="connsiteX0" fmla="*/ 0 w 490507"/>
                  <a:gd name="connsiteY0" fmla="*/ 1422652 h 1422652"/>
                  <a:gd name="connsiteX1" fmla="*/ 248359 w 490507"/>
                  <a:gd name="connsiteY1" fmla="*/ 0 h 1422652"/>
                  <a:gd name="connsiteX2" fmla="*/ 490507 w 490507"/>
                  <a:gd name="connsiteY2" fmla="*/ 1422332 h 1422652"/>
                  <a:gd name="connsiteX0" fmla="*/ 0 w 490507"/>
                  <a:gd name="connsiteY0" fmla="*/ 1422652 h 1422652"/>
                  <a:gd name="connsiteX1" fmla="*/ 248359 w 490507"/>
                  <a:gd name="connsiteY1" fmla="*/ 0 h 1422652"/>
                  <a:gd name="connsiteX2" fmla="*/ 490507 w 490507"/>
                  <a:gd name="connsiteY2" fmla="*/ 1422332 h 1422652"/>
                  <a:gd name="connsiteX0" fmla="*/ 0 w 490507"/>
                  <a:gd name="connsiteY0" fmla="*/ 1422652 h 1422652"/>
                  <a:gd name="connsiteX1" fmla="*/ 248359 w 490507"/>
                  <a:gd name="connsiteY1" fmla="*/ 0 h 1422652"/>
                  <a:gd name="connsiteX2" fmla="*/ 490507 w 490507"/>
                  <a:gd name="connsiteY2" fmla="*/ 1422332 h 1422652"/>
                  <a:gd name="connsiteX0" fmla="*/ 1263 w 491770"/>
                  <a:gd name="connsiteY0" fmla="*/ 1422652 h 1422652"/>
                  <a:gd name="connsiteX1" fmla="*/ 249622 w 491770"/>
                  <a:gd name="connsiteY1" fmla="*/ 0 h 1422652"/>
                  <a:gd name="connsiteX2" fmla="*/ 491770 w 491770"/>
                  <a:gd name="connsiteY2" fmla="*/ 1422332 h 1422652"/>
                  <a:gd name="connsiteX0" fmla="*/ 299 w 498560"/>
                  <a:gd name="connsiteY0" fmla="*/ 1422652 h 1422652"/>
                  <a:gd name="connsiteX1" fmla="*/ 256412 w 498560"/>
                  <a:gd name="connsiteY1" fmla="*/ 0 h 1422652"/>
                  <a:gd name="connsiteX2" fmla="*/ 498560 w 498560"/>
                  <a:gd name="connsiteY2" fmla="*/ 1422332 h 1422652"/>
                  <a:gd name="connsiteX0" fmla="*/ 1 w 498262"/>
                  <a:gd name="connsiteY0" fmla="*/ 1422652 h 1422652"/>
                  <a:gd name="connsiteX1" fmla="*/ 256114 w 498262"/>
                  <a:gd name="connsiteY1" fmla="*/ 0 h 1422652"/>
                  <a:gd name="connsiteX2" fmla="*/ 498262 w 498262"/>
                  <a:gd name="connsiteY2" fmla="*/ 1422332 h 1422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8262" h="1422652">
                    <a:moveTo>
                      <a:pt x="1" y="1422652"/>
                    </a:moveTo>
                    <a:cubicBezTo>
                      <a:pt x="12002" y="1032232"/>
                      <a:pt x="-41457" y="8603"/>
                      <a:pt x="256114" y="0"/>
                    </a:cubicBezTo>
                    <a:cubicBezTo>
                      <a:pt x="506739" y="11786"/>
                      <a:pt x="484409" y="811095"/>
                      <a:pt x="498262" y="1422332"/>
                    </a:cubicBezTo>
                  </a:path>
                </a:pathLst>
              </a:custGeom>
              <a:grpFill/>
              <a:ln w="381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8" name="手繪多邊形: 圖案 77">
                <a:extLst>
                  <a:ext uri="{FF2B5EF4-FFF2-40B4-BE49-F238E27FC236}">
                    <a16:creationId xmlns:a16="http://schemas.microsoft.com/office/drawing/2014/main" id="{ABE9D994-DA27-49D8-86FE-78367F280494}"/>
                  </a:ext>
                </a:extLst>
              </p:cNvPr>
              <p:cNvSpPr/>
              <p:nvPr/>
            </p:nvSpPr>
            <p:spPr bwMode="auto">
              <a:xfrm>
                <a:off x="4454553" y="4597269"/>
                <a:ext cx="247901" cy="227702"/>
              </a:xfrm>
              <a:custGeom>
                <a:avLst/>
                <a:gdLst>
                  <a:gd name="connsiteX0" fmla="*/ 119461 w 502869"/>
                  <a:gd name="connsiteY0" fmla="*/ 46735 h 455404"/>
                  <a:gd name="connsiteX1" fmla="*/ 18793 w 502869"/>
                  <a:gd name="connsiteY1" fmla="*/ 390683 h 455404"/>
                  <a:gd name="connsiteX2" fmla="*/ 480188 w 502869"/>
                  <a:gd name="connsiteY2" fmla="*/ 424239 h 455404"/>
                  <a:gd name="connsiteX3" fmla="*/ 396298 w 502869"/>
                  <a:gd name="connsiteY3" fmla="*/ 46735 h 455404"/>
                  <a:gd name="connsiteX4" fmla="*/ 119461 w 502869"/>
                  <a:gd name="connsiteY4" fmla="*/ 46735 h 455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2869" h="455404">
                    <a:moveTo>
                      <a:pt x="119461" y="46735"/>
                    </a:moveTo>
                    <a:cubicBezTo>
                      <a:pt x="56544" y="104059"/>
                      <a:pt x="-41328" y="327766"/>
                      <a:pt x="18793" y="390683"/>
                    </a:cubicBezTo>
                    <a:cubicBezTo>
                      <a:pt x="78914" y="453600"/>
                      <a:pt x="417271" y="481563"/>
                      <a:pt x="480188" y="424239"/>
                    </a:cubicBezTo>
                    <a:cubicBezTo>
                      <a:pt x="543105" y="366915"/>
                      <a:pt x="462012" y="113847"/>
                      <a:pt x="396298" y="46735"/>
                    </a:cubicBezTo>
                    <a:cubicBezTo>
                      <a:pt x="330584" y="-20377"/>
                      <a:pt x="182378" y="-10589"/>
                      <a:pt x="119461" y="46735"/>
                    </a:cubicBezTo>
                    <a:close/>
                  </a:path>
                </a:pathLst>
              </a:custGeom>
              <a:grp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rial Unicode MS" pitchFamily="34" charset="-120"/>
                  <a:cs typeface="Arial" panose="020B0604020202020204" pitchFamily="34" charset="0"/>
                </a:endParaRPr>
              </a:p>
            </p:txBody>
          </p: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9F6F240E-496D-4106-8DD8-CBD6C4387688}"/>
                  </a:ext>
                </a:extLst>
              </p:cNvPr>
              <p:cNvCxnSpPr/>
              <p:nvPr/>
            </p:nvCxnSpPr>
            <p:spPr bwMode="auto">
              <a:xfrm>
                <a:off x="4472811" y="4986580"/>
                <a:ext cx="209725" cy="0"/>
              </a:xfrm>
              <a:prstGeom prst="line">
                <a:avLst/>
              </a:prstGeom>
              <a:grpFill/>
              <a:ln w="19050" cap="rnd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BA254F0F-42FD-41E4-9809-5177B7DAE734}"/>
                  </a:ext>
                </a:extLst>
              </p:cNvPr>
              <p:cNvCxnSpPr/>
              <p:nvPr/>
            </p:nvCxnSpPr>
            <p:spPr bwMode="auto">
              <a:xfrm>
                <a:off x="4472811" y="5071868"/>
                <a:ext cx="209725" cy="0"/>
              </a:xfrm>
              <a:prstGeom prst="line">
                <a:avLst/>
              </a:prstGeom>
              <a:grpFill/>
              <a:ln w="19050" cap="rnd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0729AA8A-B3F3-4516-B12B-543B83F0E55E}"/>
                </a:ext>
              </a:extLst>
            </p:cNvPr>
            <p:cNvSpPr txBox="1"/>
            <p:nvPr/>
          </p:nvSpPr>
          <p:spPr>
            <a:xfrm>
              <a:off x="2282888" y="6142304"/>
              <a:ext cx="2540000" cy="29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dirty="0">
                  <a:solidFill>
                    <a:srgbClr val="000000"/>
                  </a:solidFill>
                </a:rPr>
                <a:t>圖</a:t>
              </a:r>
              <a:r>
                <a:rPr lang="en-US" altLang="zh-TW" sz="1200" dirty="0">
                  <a:solidFill>
                    <a:srgbClr val="000000"/>
                  </a:solidFill>
                </a:rPr>
                <a:t>2</a:t>
              </a:r>
              <a:r>
                <a:rPr lang="zh-TW" altLang="en-US" sz="1200" dirty="0">
                  <a:solidFill>
                    <a:srgbClr val="000000"/>
                  </a:solidFill>
                </a:rPr>
                <a:t> </a:t>
              </a:r>
              <a:r>
                <a:rPr lang="en-US" altLang="zh-TW" sz="1200" dirty="0" err="1">
                  <a:solidFill>
                    <a:srgbClr val="000000"/>
                  </a:solidFill>
                </a:rPr>
                <a:t>HxDS</a:t>
              </a:r>
              <a:r>
                <a:rPr lang="en-US" altLang="zh-TW" sz="1200" dirty="0">
                  <a:solidFill>
                    <a:srgbClr val="000000"/>
                  </a:solidFill>
                </a:rPr>
                <a:t> </a:t>
              </a:r>
              <a:r>
                <a:rPr lang="zh-TW" altLang="en-US" sz="1200" dirty="0">
                  <a:solidFill>
                    <a:srgbClr val="000000"/>
                  </a:solidFill>
                </a:rPr>
                <a:t>畫線頁面</a:t>
              </a:r>
              <a:r>
                <a:rPr lang="en-US" altLang="zh-TW" sz="1200" dirty="0">
                  <a:solidFill>
                    <a:srgbClr val="000000"/>
                  </a:solidFill>
                </a:rPr>
                <a:t>(Paint mode)</a:t>
              </a: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3FDDDA08-121E-4043-9C5A-F01183543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6503" y="3154065"/>
            <a:ext cx="4839606" cy="3127262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FA6ECDEB-6CF8-4AA3-A07C-ED29FFC088E2}"/>
              </a:ext>
            </a:extLst>
          </p:cNvPr>
          <p:cNvSpPr txBox="1"/>
          <p:nvPr/>
        </p:nvSpPr>
        <p:spPr>
          <a:xfrm>
            <a:off x="1979329" y="6346156"/>
            <a:ext cx="237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rgbClr val="000000"/>
                </a:solidFill>
              </a:rPr>
              <a:t>圖</a:t>
            </a:r>
            <a:r>
              <a:rPr lang="en-US" altLang="zh-TW" sz="1200" dirty="0">
                <a:solidFill>
                  <a:srgbClr val="000000"/>
                </a:solidFill>
              </a:rPr>
              <a:t>1 </a:t>
            </a:r>
            <a:r>
              <a:rPr lang="zh-TW" altLang="en-US" sz="1200" dirty="0">
                <a:latin typeface="+mn-ea"/>
              </a:rPr>
              <a:t>複現</a:t>
            </a:r>
            <a:r>
              <a:rPr lang="zh-TW" altLang="en-US" sz="1200" dirty="0">
                <a:solidFill>
                  <a:srgbClr val="000000"/>
                </a:solidFill>
              </a:rPr>
              <a:t>手法</a:t>
            </a:r>
            <a:endParaRPr lang="en-US" altLang="zh-TW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84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圖</a:t>
            </a:r>
            <a:r>
              <a:rPr lang="en-US" altLang="zh-TW" sz="1600" dirty="0"/>
              <a:t>3</a:t>
            </a:r>
            <a:r>
              <a:rPr lang="zh-TW" altLang="en-US" sz="1600" dirty="0"/>
              <a:t>為逆變器</a:t>
            </a:r>
            <a:r>
              <a:rPr lang="en-US" altLang="zh-TW" sz="1600" dirty="0"/>
              <a:t>+</a:t>
            </a:r>
            <a:r>
              <a:rPr lang="zh-TW" altLang="en-US" sz="1600" dirty="0"/>
              <a:t>充電器產生</a:t>
            </a:r>
            <a:r>
              <a:rPr lang="en-US" altLang="zh-TW" sz="1600" dirty="0"/>
              <a:t>Noise</a:t>
            </a:r>
            <a:r>
              <a:rPr lang="zh-TW" altLang="en-US" sz="1600" dirty="0"/>
              <a:t>示意圖，因為有</a:t>
            </a:r>
            <a:r>
              <a:rPr lang="en-US" altLang="zh-TW" sz="1600" dirty="0"/>
              <a:t>Inverter</a:t>
            </a:r>
            <a:r>
              <a:rPr lang="zh-TW" altLang="en-US" sz="1600" dirty="0"/>
              <a:t>和</a:t>
            </a:r>
            <a:r>
              <a:rPr lang="en-US" altLang="zh-TW" sz="1600" dirty="0"/>
              <a:t>Adaptor</a:t>
            </a:r>
            <a:r>
              <a:rPr lang="zh-TW" altLang="en-US" sz="1600" dirty="0"/>
              <a:t>進行電壓轉換，所以會產生對應的</a:t>
            </a:r>
            <a:r>
              <a:rPr lang="en-US" altLang="zh-TW" sz="1600" dirty="0"/>
              <a:t>Noise</a:t>
            </a:r>
            <a:r>
              <a:rPr lang="zh-TW" altLang="en-US" sz="1600" dirty="0"/>
              <a:t>。當使用者觸摸時，手指的電容是接到</a:t>
            </a:r>
            <a:r>
              <a:rPr lang="en-US" altLang="zh-TW" sz="1600" dirty="0"/>
              <a:t>Adaptor Ground</a:t>
            </a:r>
            <a:r>
              <a:rPr lang="zh-TW" altLang="en-US" sz="1600" dirty="0"/>
              <a:t>，</a:t>
            </a:r>
            <a:r>
              <a:rPr lang="en-US" altLang="zh-TW" sz="1600" dirty="0"/>
              <a:t>Panel Module</a:t>
            </a:r>
            <a:r>
              <a:rPr lang="zh-TW" altLang="en-US" sz="1600" dirty="0"/>
              <a:t>是接到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，兩者形成一個迴路。 </a:t>
            </a:r>
            <a:r>
              <a:rPr lang="zh-TW" altLang="en-US" sz="1600" dirty="0">
                <a:solidFill>
                  <a:srgbClr val="FF0000"/>
                </a:solidFill>
              </a:rPr>
              <a:t>由於兩個</a:t>
            </a:r>
            <a:r>
              <a:rPr lang="en-US" altLang="zh-TW" sz="1600" dirty="0">
                <a:solidFill>
                  <a:srgbClr val="FF0000"/>
                </a:solidFill>
              </a:rPr>
              <a:t>Ground</a:t>
            </a:r>
            <a:r>
              <a:rPr lang="zh-TW" altLang="en-US" sz="1600" dirty="0">
                <a:solidFill>
                  <a:srgbClr val="FF0000"/>
                </a:solidFill>
              </a:rPr>
              <a:t>之間存在</a:t>
            </a:r>
            <a:r>
              <a:rPr lang="en-US" altLang="zh-TW" sz="1600" dirty="0">
                <a:solidFill>
                  <a:srgbClr val="FF0000"/>
                </a:solidFill>
              </a:rPr>
              <a:t>Inverter Noise</a:t>
            </a:r>
            <a:r>
              <a:rPr lang="zh-TW" altLang="en-US" sz="1600" dirty="0">
                <a:solidFill>
                  <a:srgbClr val="FF0000"/>
                </a:solidFill>
              </a:rPr>
              <a:t>和</a:t>
            </a:r>
            <a:r>
              <a:rPr lang="en-US" altLang="zh-TW" sz="1600" dirty="0">
                <a:solidFill>
                  <a:srgbClr val="FF0000"/>
                </a:solidFill>
              </a:rPr>
              <a:t>Adaptor Noise</a:t>
            </a:r>
            <a:r>
              <a:rPr lang="zh-TW" altLang="en-US" sz="1600" dirty="0">
                <a:solidFill>
                  <a:srgbClr val="FF0000"/>
                </a:solidFill>
              </a:rPr>
              <a:t>，此時</a:t>
            </a:r>
            <a:r>
              <a:rPr lang="en-US" altLang="zh-TW" sz="1600" dirty="0">
                <a:solidFill>
                  <a:srgbClr val="FF0000"/>
                </a:solidFill>
              </a:rPr>
              <a:t>Noise</a:t>
            </a:r>
            <a:r>
              <a:rPr lang="zh-TW" altLang="en-US" sz="1600" dirty="0">
                <a:solidFill>
                  <a:srgbClr val="FF0000"/>
                </a:solidFill>
              </a:rPr>
              <a:t>就會耦合到電容</a:t>
            </a:r>
            <a:r>
              <a:rPr lang="en-US" altLang="zh-TW" sz="1600" dirty="0">
                <a:solidFill>
                  <a:srgbClr val="FF0000"/>
                </a:solidFill>
              </a:rPr>
              <a:t>Cf</a:t>
            </a:r>
            <a:r>
              <a:rPr lang="zh-TW" altLang="en-US" sz="1600" dirty="0">
                <a:solidFill>
                  <a:srgbClr val="FF0000"/>
                </a:solidFill>
              </a:rPr>
              <a:t>，影響</a:t>
            </a:r>
            <a:r>
              <a:rPr lang="en-US" altLang="zh-TW" sz="1600" dirty="0">
                <a:solidFill>
                  <a:srgbClr val="FF0000"/>
                </a:solidFill>
              </a:rPr>
              <a:t>Touch</a:t>
            </a:r>
            <a:r>
              <a:rPr lang="zh-TW" altLang="en-US" sz="1600" dirty="0">
                <a:solidFill>
                  <a:srgbClr val="FF0000"/>
                </a:solidFill>
              </a:rPr>
              <a:t>判斷</a:t>
            </a:r>
            <a:r>
              <a:rPr lang="zh-TW" altLang="en-US" sz="1600" dirty="0"/>
              <a:t>。</a:t>
            </a:r>
            <a:endParaRPr lang="en-US" altLang="zh-TW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原因分析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13EB3E6-71BB-4230-A616-DEF121DF0BEC}"/>
              </a:ext>
            </a:extLst>
          </p:cNvPr>
          <p:cNvGrpSpPr/>
          <p:nvPr/>
        </p:nvGrpSpPr>
        <p:grpSpPr>
          <a:xfrm>
            <a:off x="2483140" y="1994674"/>
            <a:ext cx="7029975" cy="4714217"/>
            <a:chOff x="2483140" y="1927562"/>
            <a:chExt cx="7029975" cy="4714217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886B6E9B-9525-49EF-8B72-A39624F13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83140" y="1927562"/>
              <a:ext cx="7029975" cy="4714217"/>
            </a:xfrm>
            <a:prstGeom prst="rect">
              <a:avLst/>
            </a:prstGeom>
          </p:spPr>
        </p:pic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5C771A08-99AE-456F-BB21-2E5AB4CC7EBD}"/>
                </a:ext>
              </a:extLst>
            </p:cNvPr>
            <p:cNvGrpSpPr/>
            <p:nvPr/>
          </p:nvGrpSpPr>
          <p:grpSpPr>
            <a:xfrm>
              <a:off x="3166899" y="4090009"/>
              <a:ext cx="5372719" cy="1782917"/>
              <a:chOff x="3009903" y="4594860"/>
              <a:chExt cx="4724397" cy="1531620"/>
            </a:xfrm>
          </p:grpSpPr>
          <p:cxnSp>
            <p:nvCxnSpPr>
              <p:cNvPr id="13" name="直線單箭頭接點 12">
                <a:extLst>
                  <a:ext uri="{FF2B5EF4-FFF2-40B4-BE49-F238E27FC236}">
                    <a16:creationId xmlns:a16="http://schemas.microsoft.com/office/drawing/2014/main" id="{EE327A2C-D22C-4279-995A-D4ECB6238BEE}"/>
                  </a:ext>
                </a:extLst>
              </p:cNvPr>
              <p:cNvCxnSpPr/>
              <p:nvPr/>
            </p:nvCxnSpPr>
            <p:spPr bwMode="auto">
              <a:xfrm>
                <a:off x="3024294" y="5519738"/>
                <a:ext cx="0" cy="60674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接點: 肘形 19">
                <a:extLst>
                  <a:ext uri="{FF2B5EF4-FFF2-40B4-BE49-F238E27FC236}">
                    <a16:creationId xmlns:a16="http://schemas.microsoft.com/office/drawing/2014/main" id="{FF07DF48-6EC3-45A3-8ED5-291A4D8D33FF}"/>
                  </a:ext>
                </a:extLst>
              </p:cNvPr>
              <p:cNvCxnSpPr/>
              <p:nvPr/>
            </p:nvCxnSpPr>
            <p:spPr bwMode="auto">
              <a:xfrm rot="10800000" flipV="1">
                <a:off x="4747260" y="4594860"/>
                <a:ext cx="2987040" cy="320038"/>
              </a:xfrm>
              <a:prstGeom prst="bentConnector3">
                <a:avLst>
                  <a:gd name="adj1" fmla="val 45663"/>
                </a:avLst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ysDot"/>
                <a:round/>
                <a:headEnd type="triangl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" name="接點: 肘形 25">
                <a:extLst>
                  <a:ext uri="{FF2B5EF4-FFF2-40B4-BE49-F238E27FC236}">
                    <a16:creationId xmlns:a16="http://schemas.microsoft.com/office/drawing/2014/main" id="{D237362A-93D7-468A-8BD2-4022BCA0279B}"/>
                  </a:ext>
                </a:extLst>
              </p:cNvPr>
              <p:cNvCxnSpPr/>
              <p:nvPr/>
            </p:nvCxnSpPr>
            <p:spPr bwMode="auto">
              <a:xfrm rot="10800000" flipV="1">
                <a:off x="3009903" y="4909225"/>
                <a:ext cx="1737357" cy="610512"/>
              </a:xfrm>
              <a:prstGeom prst="bentConnector3">
                <a:avLst>
                  <a:gd name="adj1" fmla="val 6579"/>
                </a:avLst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45" name="接點: 肘形 44">
              <a:extLst>
                <a:ext uri="{FF2B5EF4-FFF2-40B4-BE49-F238E27FC236}">
                  <a16:creationId xmlns:a16="http://schemas.microsoft.com/office/drawing/2014/main" id="{DB2A8458-C1D1-4F68-84FE-546CF4CFCAC0}"/>
                </a:ext>
              </a:extLst>
            </p:cNvPr>
            <p:cNvCxnSpPr/>
            <p:nvPr/>
          </p:nvCxnSpPr>
          <p:spPr bwMode="auto">
            <a:xfrm rot="10800000" flipV="1">
              <a:off x="3227196" y="4082509"/>
              <a:ext cx="5943545" cy="1764871"/>
            </a:xfrm>
            <a:prstGeom prst="bentConnector3">
              <a:avLst>
                <a:gd name="adj1" fmla="val -80"/>
              </a:avLst>
            </a:prstGeom>
            <a:solidFill>
              <a:schemeClr val="accent1"/>
            </a:solidFill>
            <a:ln w="28575" cap="flat" cmpd="sng" algn="ctr">
              <a:solidFill>
                <a:srgbClr val="00B050"/>
              </a:solidFill>
              <a:prstDash val="sysDot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96453167-5AD4-49D9-9DEA-D2D03615F4B6}"/>
                </a:ext>
              </a:extLst>
            </p:cNvPr>
            <p:cNvSpPr txBox="1"/>
            <p:nvPr/>
          </p:nvSpPr>
          <p:spPr>
            <a:xfrm>
              <a:off x="5075291" y="6147653"/>
              <a:ext cx="2416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dirty="0">
                  <a:solidFill>
                    <a:srgbClr val="000000"/>
                  </a:solidFill>
                </a:rPr>
                <a:t>圖</a:t>
              </a:r>
              <a:r>
                <a:rPr lang="en-US" altLang="zh-TW" sz="1200" dirty="0">
                  <a:solidFill>
                    <a:srgbClr val="000000"/>
                  </a:solidFill>
                </a:rPr>
                <a:t>3</a:t>
              </a:r>
            </a:p>
          </p:txBody>
        </p:sp>
      </p:grp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359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09600" y="1336927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圖</a:t>
            </a:r>
            <a:r>
              <a:rPr lang="en-US" altLang="zh-TW" sz="1600" dirty="0"/>
              <a:t>4</a:t>
            </a:r>
            <a:r>
              <a:rPr lang="zh-TW" altLang="en-US" sz="1600" dirty="0"/>
              <a:t>為逆變器</a:t>
            </a:r>
            <a:r>
              <a:rPr lang="en-US" altLang="zh-TW" sz="1600" dirty="0"/>
              <a:t>+</a:t>
            </a:r>
            <a:r>
              <a:rPr lang="zh-TW" altLang="en-US" sz="1600" dirty="0"/>
              <a:t>充電器產生</a:t>
            </a:r>
            <a:r>
              <a:rPr lang="en-US" altLang="zh-TW" sz="1600" dirty="0"/>
              <a:t>Noise</a:t>
            </a:r>
            <a:r>
              <a:rPr lang="zh-TW" altLang="en-US" sz="1600" dirty="0"/>
              <a:t>示意圖，因為有</a:t>
            </a:r>
            <a:r>
              <a:rPr lang="en-US" altLang="zh-TW" sz="1600" dirty="0"/>
              <a:t>Inverter</a:t>
            </a:r>
            <a:r>
              <a:rPr lang="zh-TW" altLang="en-US" sz="1600" dirty="0"/>
              <a:t>和</a:t>
            </a:r>
            <a:r>
              <a:rPr lang="en-US" altLang="zh-TW" sz="1600" dirty="0"/>
              <a:t>Adaptor</a:t>
            </a:r>
            <a:r>
              <a:rPr lang="zh-TW" altLang="en-US" sz="1600" dirty="0"/>
              <a:t>進行電壓轉換，所以會產生對應的</a:t>
            </a:r>
            <a:r>
              <a:rPr lang="en-US" altLang="zh-TW" sz="1600" dirty="0"/>
              <a:t>Noise</a:t>
            </a:r>
            <a:r>
              <a:rPr lang="zh-TW" altLang="en-US" sz="1600" dirty="0"/>
              <a:t>。當使用者未觸摸時，不會形成一個迴路，因此不會影響</a:t>
            </a:r>
            <a:r>
              <a:rPr lang="en-US" altLang="zh-TW" sz="1600" dirty="0"/>
              <a:t>Touch</a:t>
            </a:r>
            <a:r>
              <a:rPr lang="zh-TW" altLang="en-US" sz="1600" dirty="0"/>
              <a:t>判斷 。</a:t>
            </a:r>
            <a:endParaRPr lang="en-US" altLang="zh-TW" sz="16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23A1405-90DF-4875-97D7-46E389CAA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7973" y="1894006"/>
            <a:ext cx="7029975" cy="471421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原因分析</a:t>
            </a:r>
          </a:p>
        </p:txBody>
      </p: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DB2A8458-C1D1-4F68-84FE-546CF4CFCAC0}"/>
              </a:ext>
            </a:extLst>
          </p:cNvPr>
          <p:cNvCxnSpPr/>
          <p:nvPr/>
        </p:nvCxnSpPr>
        <p:spPr bwMode="auto">
          <a:xfrm rot="10800000" flipV="1">
            <a:off x="3197869" y="4032173"/>
            <a:ext cx="5943545" cy="1764871"/>
          </a:xfrm>
          <a:prstGeom prst="bentConnector3">
            <a:avLst>
              <a:gd name="adj1" fmla="val -80"/>
            </a:avLst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96453167-5AD4-49D9-9DEA-D2D03615F4B6}"/>
              </a:ext>
            </a:extLst>
          </p:cNvPr>
          <p:cNvSpPr txBox="1"/>
          <p:nvPr/>
        </p:nvSpPr>
        <p:spPr>
          <a:xfrm>
            <a:off x="5075291" y="6147653"/>
            <a:ext cx="241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rgbClr val="000000"/>
                </a:solidFill>
              </a:rPr>
              <a:t>圖</a:t>
            </a:r>
            <a:r>
              <a:rPr lang="en-US" altLang="zh-TW" sz="12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20BA099-B19B-4D92-9102-804D3769DF5E}"/>
              </a:ext>
            </a:extLst>
          </p:cNvPr>
          <p:cNvGrpSpPr/>
          <p:nvPr/>
        </p:nvGrpSpPr>
        <p:grpSpPr>
          <a:xfrm>
            <a:off x="7589321" y="3841208"/>
            <a:ext cx="799673" cy="719069"/>
            <a:chOff x="595627" y="2768367"/>
            <a:chExt cx="713056" cy="668431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3DD223B9-3846-42DA-826D-86E0A289F213}"/>
                </a:ext>
              </a:extLst>
            </p:cNvPr>
            <p:cNvCxnSpPr/>
            <p:nvPr/>
          </p:nvCxnSpPr>
          <p:spPr bwMode="auto">
            <a:xfrm flipH="1">
              <a:off x="595627" y="2776165"/>
              <a:ext cx="690616" cy="66063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E270BAE3-BBFB-4BD6-AAD5-792BAA456FE4}"/>
                </a:ext>
              </a:extLst>
            </p:cNvPr>
            <p:cNvCxnSpPr/>
            <p:nvPr/>
          </p:nvCxnSpPr>
          <p:spPr bwMode="auto">
            <a:xfrm>
              <a:off x="618067" y="2768367"/>
              <a:ext cx="690616" cy="66063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D7917218-E0E8-4AB9-A401-2C2461595C51}"/>
              </a:ext>
            </a:extLst>
          </p:cNvPr>
          <p:cNvSpPr/>
          <p:nvPr/>
        </p:nvSpPr>
        <p:spPr bwMode="auto">
          <a:xfrm>
            <a:off x="7076174" y="4623241"/>
            <a:ext cx="2018907" cy="2616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b="1" dirty="0">
                <a:solidFill>
                  <a:srgbClr val="FF6600"/>
                </a:solidFill>
              </a:rPr>
              <a:t>未觸摸，所以不會有</a:t>
            </a:r>
            <a:r>
              <a:rPr lang="en-US" altLang="zh-TW" sz="1100" b="1" dirty="0">
                <a:solidFill>
                  <a:srgbClr val="FF6600"/>
                </a:solidFill>
              </a:rPr>
              <a:t>Cf</a:t>
            </a:r>
            <a:r>
              <a:rPr lang="zh-TW" altLang="en-US" sz="1100" b="1" dirty="0">
                <a:solidFill>
                  <a:srgbClr val="FF6600"/>
                </a:solidFill>
              </a:rPr>
              <a:t>電容</a:t>
            </a:r>
          </a:p>
        </p:txBody>
      </p:sp>
    </p:spTree>
    <p:extLst>
      <p:ext uri="{BB962C8B-B14F-4D97-AF65-F5344CB8AC3E}">
        <p14:creationId xmlns:p14="http://schemas.microsoft.com/office/powerpoint/2010/main" val="145032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圖</a:t>
            </a:r>
            <a:r>
              <a:rPr lang="en-US" altLang="zh-TW" sz="1600" dirty="0"/>
              <a:t>5</a:t>
            </a:r>
            <a:r>
              <a:rPr lang="zh-TW" altLang="en-US" sz="1600" dirty="0"/>
              <a:t>和圖</a:t>
            </a:r>
            <a:r>
              <a:rPr lang="en-US" altLang="zh-TW" sz="1600" dirty="0"/>
              <a:t>6</a:t>
            </a:r>
            <a:r>
              <a:rPr lang="zh-TW" altLang="en-US" sz="1600" dirty="0"/>
              <a:t>是逆變器和充電器的電路圖，兩者在電壓轉換時都會產生電源雜訊。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zh-TW" altLang="en-US" sz="1600" dirty="0"/>
              <a:t>在切換式電源設計中，</a:t>
            </a:r>
            <a:r>
              <a:rPr lang="zh-TW" altLang="en-US" sz="1600" dirty="0">
                <a:solidFill>
                  <a:srgbClr val="FF0000"/>
                </a:solidFill>
              </a:rPr>
              <a:t>功率元件開關時會產生急劇電流</a:t>
            </a:r>
            <a:r>
              <a:rPr lang="en-US" altLang="zh-TW" sz="1600" dirty="0">
                <a:solidFill>
                  <a:srgbClr val="FF0000"/>
                </a:solidFill>
              </a:rPr>
              <a:t>ON/OFF</a:t>
            </a:r>
            <a:r>
              <a:rPr lang="zh-TW" altLang="en-US" sz="1600" dirty="0">
                <a:solidFill>
                  <a:srgbClr val="FF0000"/>
                </a:solidFill>
              </a:rPr>
              <a:t>變化</a:t>
            </a:r>
            <a:r>
              <a:rPr lang="zh-TW" altLang="en-US" sz="1600" dirty="0"/>
              <a:t>，此時線路會產生高頻振鈴現象，此外，再加上元件開關的切換頻率影響，綜合起來就是電源雜訊</a:t>
            </a:r>
            <a:r>
              <a:rPr lang="en-US" altLang="zh-TW" sz="1600" dirty="0"/>
              <a:t>(Noise)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zh-TW" altLang="en-US" sz="1600" dirty="0"/>
              <a:t>把逆變器</a:t>
            </a:r>
            <a:r>
              <a:rPr lang="en-US" altLang="zh-TW" sz="1600" dirty="0"/>
              <a:t>+</a:t>
            </a:r>
            <a:r>
              <a:rPr lang="zh-TW" altLang="en-US" sz="1600" dirty="0"/>
              <a:t>充電器合併成是一個劣質電源，其所產生的電源雜訊，可量測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和</a:t>
            </a:r>
            <a:r>
              <a:rPr lang="en-US" altLang="zh-TW" sz="1600" dirty="0"/>
              <a:t>Adaptor Ground</a:t>
            </a:r>
            <a:r>
              <a:rPr lang="zh-TW" altLang="en-US" sz="1600" dirty="0"/>
              <a:t>之間的波形來證實。</a:t>
            </a:r>
            <a:endParaRPr lang="en-US" altLang="zh-TW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5BA7175-3C0D-4DC9-B713-1824D527A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581" y="3726131"/>
            <a:ext cx="4315563" cy="215345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原因分析</a:t>
            </a:r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AF2E8FA-57BF-49D4-A4A0-8FEB8219462E}"/>
              </a:ext>
            </a:extLst>
          </p:cNvPr>
          <p:cNvCxnSpPr>
            <a:endCxn id="22" idx="0"/>
          </p:cNvCxnSpPr>
          <p:nvPr/>
        </p:nvCxnSpPr>
        <p:spPr bwMode="auto">
          <a:xfrm flipH="1">
            <a:off x="2109831" y="2214694"/>
            <a:ext cx="2386668" cy="189381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BEB0B582-3A02-435A-A84C-36DF094B2A1F}"/>
              </a:ext>
            </a:extLst>
          </p:cNvPr>
          <p:cNvCxnSpPr>
            <a:endCxn id="27" idx="0"/>
          </p:cNvCxnSpPr>
          <p:nvPr/>
        </p:nvCxnSpPr>
        <p:spPr bwMode="auto">
          <a:xfrm>
            <a:off x="4999839" y="2231472"/>
            <a:ext cx="2918227" cy="16687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4239BD63-C795-42E8-8905-AE3F6BBF4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32572" y="3345110"/>
            <a:ext cx="7509870" cy="2712829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7A88D3D5-A542-4E0B-99DA-6E77F2CFBAE4}"/>
              </a:ext>
            </a:extLst>
          </p:cNvPr>
          <p:cNvSpPr/>
          <p:nvPr/>
        </p:nvSpPr>
        <p:spPr bwMode="auto">
          <a:xfrm>
            <a:off x="1319911" y="5222855"/>
            <a:ext cx="157984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b="1" dirty="0">
                <a:solidFill>
                  <a:srgbClr val="FF0000"/>
                </a:solidFill>
              </a:rPr>
              <a:t>功率元件開關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pPr algn="ctr"/>
            <a:r>
              <a:rPr lang="zh-TW" altLang="en-US" sz="1100" b="1" dirty="0">
                <a:solidFill>
                  <a:srgbClr val="FF0000"/>
                </a:solidFill>
              </a:rPr>
              <a:t>產生</a:t>
            </a:r>
            <a:r>
              <a:rPr lang="en-US" altLang="zh-TW" sz="1100" b="1" dirty="0">
                <a:solidFill>
                  <a:srgbClr val="FF0000"/>
                </a:solidFill>
              </a:rPr>
              <a:t>Inverter</a:t>
            </a:r>
            <a:r>
              <a:rPr lang="zh-TW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TW" sz="1100" b="1" dirty="0">
                <a:solidFill>
                  <a:srgbClr val="FF0000"/>
                </a:solidFill>
              </a:rPr>
              <a:t>Noise</a:t>
            </a:r>
            <a:endParaRPr lang="zh-TW" altLang="en-US" sz="1100" b="1" dirty="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157A7B-D895-47D5-B7B2-A387703258E8}"/>
              </a:ext>
            </a:extLst>
          </p:cNvPr>
          <p:cNvSpPr/>
          <p:nvPr/>
        </p:nvSpPr>
        <p:spPr bwMode="auto">
          <a:xfrm>
            <a:off x="1770077" y="4108510"/>
            <a:ext cx="679508" cy="71756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C9155F0-0FBD-485C-A085-77D91C388AC2}"/>
              </a:ext>
            </a:extLst>
          </p:cNvPr>
          <p:cNvSpPr/>
          <p:nvPr/>
        </p:nvSpPr>
        <p:spPr bwMode="auto">
          <a:xfrm>
            <a:off x="7578312" y="3900183"/>
            <a:ext cx="679508" cy="74032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AC2EFA8-9D55-453D-99A4-AF707990012C}"/>
              </a:ext>
            </a:extLst>
          </p:cNvPr>
          <p:cNvSpPr txBox="1"/>
          <p:nvPr/>
        </p:nvSpPr>
        <p:spPr>
          <a:xfrm>
            <a:off x="859888" y="5986854"/>
            <a:ext cx="241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rgbClr val="000000"/>
                </a:solidFill>
              </a:rPr>
              <a:t>圖</a:t>
            </a:r>
            <a:r>
              <a:rPr lang="en-US" altLang="zh-TW" sz="12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C9A9F80-67AC-4FC4-9437-552BF6A36F46}"/>
              </a:ext>
            </a:extLst>
          </p:cNvPr>
          <p:cNvSpPr/>
          <p:nvPr/>
        </p:nvSpPr>
        <p:spPr bwMode="auto">
          <a:xfrm>
            <a:off x="6601158" y="4731539"/>
            <a:ext cx="1579840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100" b="1" dirty="0">
                <a:solidFill>
                  <a:srgbClr val="FF0000"/>
                </a:solidFill>
              </a:rPr>
              <a:t>功率元件開關</a:t>
            </a:r>
            <a:endParaRPr lang="en-US" altLang="zh-TW" sz="1100" b="1" dirty="0">
              <a:solidFill>
                <a:srgbClr val="FF0000"/>
              </a:solidFill>
            </a:endParaRPr>
          </a:p>
          <a:p>
            <a:pPr algn="ctr"/>
            <a:r>
              <a:rPr lang="zh-TW" altLang="en-US" sz="1100" b="1" dirty="0">
                <a:solidFill>
                  <a:srgbClr val="FF0000"/>
                </a:solidFill>
              </a:rPr>
              <a:t>產生</a:t>
            </a:r>
            <a:r>
              <a:rPr lang="en-US" altLang="zh-TW" sz="1100" b="1" dirty="0">
                <a:solidFill>
                  <a:srgbClr val="FF0000"/>
                </a:solidFill>
              </a:rPr>
              <a:t>Adaptor</a:t>
            </a:r>
            <a:r>
              <a:rPr lang="zh-TW" altLang="en-US" sz="1100" b="1" dirty="0">
                <a:solidFill>
                  <a:srgbClr val="FF0000"/>
                </a:solidFill>
              </a:rPr>
              <a:t> </a:t>
            </a:r>
            <a:r>
              <a:rPr lang="en-US" altLang="zh-TW" sz="1100" b="1" dirty="0">
                <a:solidFill>
                  <a:srgbClr val="FF0000"/>
                </a:solidFill>
              </a:rPr>
              <a:t>Noise</a:t>
            </a:r>
            <a:endParaRPr lang="zh-TW" altLang="en-US" sz="1100" b="1" dirty="0">
              <a:solidFill>
                <a:srgbClr val="FF0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30F8BE7-08BC-44E3-95B4-DE25A3F61FC8}"/>
              </a:ext>
            </a:extLst>
          </p:cNvPr>
          <p:cNvSpPr txBox="1"/>
          <p:nvPr/>
        </p:nvSpPr>
        <p:spPr>
          <a:xfrm>
            <a:off x="6709597" y="5986853"/>
            <a:ext cx="241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solidFill>
                  <a:srgbClr val="000000"/>
                </a:solidFill>
              </a:rPr>
              <a:t>圖</a:t>
            </a:r>
            <a:r>
              <a:rPr lang="en-US" altLang="zh-TW" sz="1200" dirty="0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6003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73574" y="1332078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量測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和</a:t>
            </a:r>
            <a:r>
              <a:rPr lang="en-US" altLang="zh-TW" sz="1600" dirty="0"/>
              <a:t>Inverter Ground</a:t>
            </a:r>
            <a:r>
              <a:rPr lang="zh-TW" altLang="en-US" sz="1600" dirty="0"/>
              <a:t>之間的波形</a:t>
            </a:r>
            <a:endParaRPr lang="en-US" altLang="zh-TW" sz="1600" dirty="0"/>
          </a:p>
          <a:p>
            <a:pPr marL="0" indent="0">
              <a:buNone/>
            </a:pPr>
            <a:endParaRPr lang="en-US" altLang="zh-TW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</a:t>
            </a:r>
            <a:r>
              <a:rPr lang="zh-TW" altLang="en-US" sz="2800" dirty="0"/>
              <a:t>電源雜訊</a:t>
            </a:r>
            <a:r>
              <a:rPr lang="zh-TW" altLang="en-US" dirty="0"/>
              <a:t>量測 </a:t>
            </a:r>
            <a:r>
              <a:rPr lang="en-US" altLang="zh-TW" dirty="0"/>
              <a:t>(</a:t>
            </a:r>
            <a:r>
              <a:rPr lang="zh-TW" altLang="en-US" dirty="0"/>
              <a:t>針對</a:t>
            </a:r>
            <a:r>
              <a:rPr lang="en-US" altLang="zh-TW" dirty="0"/>
              <a:t>Inverter – </a:t>
            </a:r>
            <a:r>
              <a:rPr lang="zh-TW" altLang="en-US" dirty="0"/>
              <a:t>打開前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BD8F2E4-7B0A-4CFD-8098-41DC65F049D9}"/>
              </a:ext>
            </a:extLst>
          </p:cNvPr>
          <p:cNvSpPr txBox="1"/>
          <p:nvPr/>
        </p:nvSpPr>
        <p:spPr>
          <a:xfrm>
            <a:off x="6067345" y="2307389"/>
            <a:ext cx="4872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/>
              <a:t>未打開逆變器，可以看到兩端</a:t>
            </a:r>
            <a:r>
              <a:rPr lang="en-US" altLang="zh-TW" sz="1600" b="1" dirty="0"/>
              <a:t>GND</a:t>
            </a:r>
            <a:r>
              <a:rPr lang="zh-TW" altLang="en-US" sz="1600" b="1" dirty="0"/>
              <a:t>之間沒有差異</a:t>
            </a:r>
            <a:endParaRPr lang="en-US" altLang="zh-TW" sz="1600" b="1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39FA5FC-38B6-463C-AC6E-DD90111FB716}"/>
              </a:ext>
            </a:extLst>
          </p:cNvPr>
          <p:cNvGrpSpPr/>
          <p:nvPr/>
        </p:nvGrpSpPr>
        <p:grpSpPr>
          <a:xfrm>
            <a:off x="6500403" y="2806376"/>
            <a:ext cx="4006223" cy="3447511"/>
            <a:chOff x="1449703" y="2584857"/>
            <a:chExt cx="4006223" cy="3447511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B174BCCC-32A9-4EE3-A353-63CFA12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9703" y="2584857"/>
              <a:ext cx="4006223" cy="344751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20CC51-46D3-4373-A794-A849887E3D57}"/>
                </a:ext>
              </a:extLst>
            </p:cNvPr>
            <p:cNvSpPr/>
            <p:nvPr/>
          </p:nvSpPr>
          <p:spPr bwMode="auto">
            <a:xfrm>
              <a:off x="1619073" y="4056572"/>
              <a:ext cx="910462" cy="218113"/>
            </a:xfrm>
            <a:prstGeom prst="rect">
              <a:avLst/>
            </a:prstGeom>
            <a:solidFill>
              <a:srgbClr val="FFFF00"/>
            </a:solidFill>
            <a:ln w="381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700" dirty="0" err="1">
                  <a:solidFill>
                    <a:srgbClr val="000000"/>
                  </a:solidFill>
                  <a:latin typeface="Arial" panose="020B0604020202020204" pitchFamily="34" charset="0"/>
                  <a:ea typeface="Arial Unicode MS" pitchFamily="34" charset="-120"/>
                  <a:cs typeface="Arial" panose="020B0604020202020204" pitchFamily="34" charset="0"/>
                </a:rPr>
                <a:t>CarGND_InverterGND</a:t>
              </a:r>
              <a:endParaRPr kumimoji="0" lang="zh-TW" altLang="en-US" sz="7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80FDD00-856F-45F8-94E3-B96C388357DC}"/>
              </a:ext>
            </a:extLst>
          </p:cNvPr>
          <p:cNvGrpSpPr/>
          <p:nvPr/>
        </p:nvGrpSpPr>
        <p:grpSpPr>
          <a:xfrm>
            <a:off x="1449863" y="4578816"/>
            <a:ext cx="3434803" cy="1964476"/>
            <a:chOff x="1013862" y="4348576"/>
            <a:chExt cx="3434803" cy="1964476"/>
          </a:xfrm>
        </p:grpSpPr>
        <p:sp>
          <p:nvSpPr>
            <p:cNvPr id="15" name="フローチャート: 準備 11">
              <a:extLst>
                <a:ext uri="{FF2B5EF4-FFF2-40B4-BE49-F238E27FC236}">
                  <a16:creationId xmlns:a16="http://schemas.microsoft.com/office/drawing/2014/main" id="{8F841D2F-1333-43A1-B6BA-3F0E3FACAE53}"/>
                </a:ext>
              </a:extLst>
            </p:cNvPr>
            <p:cNvSpPr/>
            <p:nvPr/>
          </p:nvSpPr>
          <p:spPr>
            <a:xfrm rot="5998945">
              <a:off x="1109015" y="4880115"/>
              <a:ext cx="79970" cy="270276"/>
            </a:xfrm>
            <a:prstGeom prst="flowChartPreparation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324AA4A4-23C1-4AB4-B5FD-95905ACE90A4}"/>
                </a:ext>
              </a:extLst>
            </p:cNvPr>
            <p:cNvSpPr/>
            <p:nvPr/>
          </p:nvSpPr>
          <p:spPr bwMode="auto">
            <a:xfrm rot="16525501">
              <a:off x="2184287" y="4224641"/>
              <a:ext cx="59499" cy="1864000"/>
            </a:xfrm>
            <a:custGeom>
              <a:avLst/>
              <a:gdLst>
                <a:gd name="connsiteX0" fmla="*/ 0 w 687897"/>
                <a:gd name="connsiteY0" fmla="*/ 352338 h 352338"/>
                <a:gd name="connsiteX1" fmla="*/ 687897 w 687897"/>
                <a:gd name="connsiteY1" fmla="*/ 0 h 352338"/>
                <a:gd name="connsiteX2" fmla="*/ 687897 w 687897"/>
                <a:gd name="connsiteY2" fmla="*/ 0 h 35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7897" h="352338">
                  <a:moveTo>
                    <a:pt x="0" y="352338"/>
                  </a:moveTo>
                  <a:lnTo>
                    <a:pt x="687897" y="0"/>
                  </a:lnTo>
                  <a:lnTo>
                    <a:pt x="687897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F1F2447F-FF70-4103-BAF2-E9B0278A9140}"/>
                </a:ext>
              </a:extLst>
            </p:cNvPr>
            <p:cNvSpPr/>
            <p:nvPr/>
          </p:nvSpPr>
          <p:spPr bwMode="auto">
            <a:xfrm rot="13490369" flipV="1">
              <a:off x="2690582" y="4779931"/>
              <a:ext cx="658086" cy="307094"/>
            </a:xfrm>
            <a:custGeom>
              <a:avLst/>
              <a:gdLst>
                <a:gd name="connsiteX0" fmla="*/ 0 w 687897"/>
                <a:gd name="connsiteY0" fmla="*/ 352338 h 352338"/>
                <a:gd name="connsiteX1" fmla="*/ 687897 w 687897"/>
                <a:gd name="connsiteY1" fmla="*/ 0 h 352338"/>
                <a:gd name="connsiteX2" fmla="*/ 687897 w 687897"/>
                <a:gd name="connsiteY2" fmla="*/ 0 h 35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7897" h="352338">
                  <a:moveTo>
                    <a:pt x="0" y="352338"/>
                  </a:moveTo>
                  <a:lnTo>
                    <a:pt x="687897" y="0"/>
                  </a:lnTo>
                  <a:lnTo>
                    <a:pt x="687897" y="0"/>
                  </a:ln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 dirty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19" name="フローチャート: 準備 10">
              <a:extLst>
                <a:ext uri="{FF2B5EF4-FFF2-40B4-BE49-F238E27FC236}">
                  <a16:creationId xmlns:a16="http://schemas.microsoft.com/office/drawing/2014/main" id="{F7C1C970-0AC4-48BF-8853-ACD0D725FB28}"/>
                </a:ext>
              </a:extLst>
            </p:cNvPr>
            <p:cNvSpPr/>
            <p:nvPr/>
          </p:nvSpPr>
          <p:spPr>
            <a:xfrm rot="20287429">
              <a:off x="2802450" y="4348576"/>
              <a:ext cx="87348" cy="270275"/>
            </a:xfrm>
            <a:prstGeom prst="flowChartPreparati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16" name="矢印: 五方向 12">
              <a:extLst>
                <a:ext uri="{FF2B5EF4-FFF2-40B4-BE49-F238E27FC236}">
                  <a16:creationId xmlns:a16="http://schemas.microsoft.com/office/drawing/2014/main" id="{C6587E5F-9EC0-4974-BF0E-8FAAB8F8D5BF}"/>
                </a:ext>
              </a:extLst>
            </p:cNvPr>
            <p:cNvSpPr/>
            <p:nvPr/>
          </p:nvSpPr>
          <p:spPr>
            <a:xfrm rot="4388718">
              <a:off x="3049702" y="5327411"/>
              <a:ext cx="233102" cy="72378"/>
            </a:xfrm>
            <a:prstGeom prst="homePlat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FF343B06-EFE8-4A32-9016-AC9C27291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7538" y="5382610"/>
              <a:ext cx="1091127" cy="784881"/>
            </a:xfrm>
            <a:prstGeom prst="rect">
              <a:avLst/>
            </a:prstGeom>
          </p:spPr>
        </p:pic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3A5F7DBA-5346-43EA-ABDD-07635FB7908D}"/>
                </a:ext>
              </a:extLst>
            </p:cNvPr>
            <p:cNvSpPr/>
            <p:nvPr/>
          </p:nvSpPr>
          <p:spPr bwMode="auto">
            <a:xfrm>
              <a:off x="3190925" y="5429577"/>
              <a:ext cx="349229" cy="883475"/>
            </a:xfrm>
            <a:custGeom>
              <a:avLst/>
              <a:gdLst>
                <a:gd name="connsiteX0" fmla="*/ 436227 w 436227"/>
                <a:gd name="connsiteY0" fmla="*/ 536895 h 885375"/>
                <a:gd name="connsiteX1" fmla="*/ 293614 w 436227"/>
                <a:gd name="connsiteY1" fmla="*/ 864066 h 885375"/>
                <a:gd name="connsiteX2" fmla="*/ 0 w 436227"/>
                <a:gd name="connsiteY2" fmla="*/ 0 h 88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27" h="885375">
                  <a:moveTo>
                    <a:pt x="436227" y="536895"/>
                  </a:moveTo>
                  <a:cubicBezTo>
                    <a:pt x="401272" y="745221"/>
                    <a:pt x="366318" y="953548"/>
                    <a:pt x="293614" y="864066"/>
                  </a:cubicBezTo>
                  <a:cubicBezTo>
                    <a:pt x="220910" y="774584"/>
                    <a:pt x="40547" y="139816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 dirty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C68E711-1D25-46AA-B596-290DB567F66E}"/>
              </a:ext>
            </a:extLst>
          </p:cNvPr>
          <p:cNvSpPr txBox="1"/>
          <p:nvPr/>
        </p:nvSpPr>
        <p:spPr>
          <a:xfrm>
            <a:off x="5536935" y="1050400"/>
            <a:ext cx="3930879" cy="830997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highlight>
                  <a:srgbClr val="FFFF00"/>
                </a:highlight>
              </a:rPr>
              <a:t>量測手法</a:t>
            </a:r>
            <a:r>
              <a:rPr lang="en-US" altLang="zh-TW" sz="1600" b="1" dirty="0">
                <a:highlight>
                  <a:srgbClr val="FFFF00"/>
                </a:highlight>
              </a:rPr>
              <a:t>:</a:t>
            </a:r>
          </a:p>
          <a:p>
            <a:r>
              <a:rPr lang="en-US" altLang="zh-TW" sz="1600" dirty="0"/>
              <a:t>(1)</a:t>
            </a:r>
            <a:r>
              <a:rPr lang="zh-TW" altLang="en-US" sz="1600" dirty="0"/>
              <a:t>示波器的紅色端戳著</a:t>
            </a:r>
            <a:r>
              <a:rPr lang="en-US" altLang="zh-TW" sz="1600" dirty="0"/>
              <a:t>Inverter ground </a:t>
            </a:r>
            <a:br>
              <a:rPr lang="en-US" altLang="zh-TW" sz="1600" dirty="0"/>
            </a:br>
            <a:r>
              <a:rPr lang="en-US" altLang="zh-TW" sz="1600" dirty="0"/>
              <a:t>(2)</a:t>
            </a:r>
            <a:r>
              <a:rPr lang="zh-TW" altLang="en-US" sz="1600" dirty="0"/>
              <a:t>示波器的黑色端戳著</a:t>
            </a:r>
            <a:r>
              <a:rPr lang="en-US" altLang="zh-TW" sz="1600" dirty="0"/>
              <a:t>Car ground</a:t>
            </a:r>
            <a:endParaRPr lang="zh-TW" altLang="en-US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150293-AFE7-4AF8-8E28-7CC5B3C07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40" y="1578432"/>
            <a:ext cx="3858776" cy="4169672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D0BC29B0-6752-4812-8812-F22CDA56D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750" y="3556746"/>
            <a:ext cx="2186970" cy="21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5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群組 55">
            <a:extLst>
              <a:ext uri="{FF2B5EF4-FFF2-40B4-BE49-F238E27FC236}">
                <a16:creationId xmlns:a16="http://schemas.microsoft.com/office/drawing/2014/main" id="{06126F85-1F54-4962-AFF3-2461DF8B8893}"/>
              </a:ext>
            </a:extLst>
          </p:cNvPr>
          <p:cNvGrpSpPr/>
          <p:nvPr/>
        </p:nvGrpSpPr>
        <p:grpSpPr>
          <a:xfrm>
            <a:off x="6768491" y="2623741"/>
            <a:ext cx="3812003" cy="3308988"/>
            <a:chOff x="6768491" y="2623741"/>
            <a:chExt cx="3812003" cy="3308988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277371AD-BC7B-4405-A7EF-C77EEC8BC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8491" y="2623741"/>
              <a:ext cx="3812003" cy="3308988"/>
            </a:xfrm>
            <a:prstGeom prst="rect">
              <a:avLst/>
            </a:prstGeom>
          </p:spPr>
        </p:pic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32037E6-10E5-466E-A7A4-A27AAF129C95}"/>
                </a:ext>
              </a:extLst>
            </p:cNvPr>
            <p:cNvSpPr/>
            <p:nvPr/>
          </p:nvSpPr>
          <p:spPr bwMode="auto">
            <a:xfrm>
              <a:off x="6945998" y="3773657"/>
              <a:ext cx="1134025" cy="218113"/>
            </a:xfrm>
            <a:prstGeom prst="rect">
              <a:avLst/>
            </a:prstGeom>
            <a:solidFill>
              <a:srgbClr val="FFFF00"/>
            </a:solidFill>
            <a:ln w="38100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TW" sz="700" dirty="0" err="1">
                  <a:solidFill>
                    <a:srgbClr val="000000"/>
                  </a:solidFill>
                  <a:latin typeface="Arial" panose="020B0604020202020204" pitchFamily="34" charset="0"/>
                  <a:ea typeface="Arial Unicode MS" pitchFamily="34" charset="-120"/>
                  <a:cs typeface="Arial" panose="020B0604020202020204" pitchFamily="34" charset="0"/>
                </a:rPr>
                <a:t>CarGND_InverterGND</a:t>
              </a:r>
              <a:r>
                <a:rPr lang="en-US" altLang="zh-TW" sz="700" dirty="0">
                  <a:solidFill>
                    <a:srgbClr val="000000"/>
                  </a:solidFill>
                  <a:latin typeface="Arial" panose="020B0604020202020204" pitchFamily="34" charset="0"/>
                  <a:ea typeface="Arial Unicode MS" pitchFamily="34" charset="-120"/>
                  <a:cs typeface="Arial" panose="020B0604020202020204" pitchFamily="34" charset="0"/>
                </a:rPr>
                <a:t>       </a:t>
              </a:r>
              <a:endParaRPr kumimoji="0" lang="zh-TW" altLang="en-US" sz="7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07610" y="1311324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量測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和</a:t>
            </a:r>
            <a:r>
              <a:rPr lang="en-US" altLang="zh-TW" sz="1600" dirty="0"/>
              <a:t>Inverter Ground</a:t>
            </a:r>
            <a:r>
              <a:rPr lang="zh-TW" altLang="en-US" sz="1600" dirty="0"/>
              <a:t>之間的波形</a:t>
            </a:r>
            <a:endParaRPr lang="en-US" altLang="zh-TW" sz="1600" dirty="0"/>
          </a:p>
          <a:p>
            <a:pPr marL="0" indent="0">
              <a:buNone/>
            </a:pPr>
            <a:endParaRPr lang="en-US" altLang="zh-TW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3.</a:t>
            </a:r>
            <a:r>
              <a:rPr lang="zh-TW" altLang="en-US" sz="2800" dirty="0"/>
              <a:t>電源雜訊</a:t>
            </a:r>
            <a:r>
              <a:rPr lang="zh-TW" altLang="en-US" dirty="0"/>
              <a:t>量測 </a:t>
            </a:r>
            <a:r>
              <a:rPr lang="en-US" altLang="zh-TW" dirty="0"/>
              <a:t>(</a:t>
            </a:r>
            <a:r>
              <a:rPr lang="zh-TW" altLang="en-US" dirty="0"/>
              <a:t>針對</a:t>
            </a:r>
            <a:r>
              <a:rPr lang="en-US" altLang="zh-TW" dirty="0"/>
              <a:t>Inverter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打開後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866175A-5867-4F0C-98C5-C61ED76B9F22}"/>
              </a:ext>
            </a:extLst>
          </p:cNvPr>
          <p:cNvSpPr txBox="1"/>
          <p:nvPr/>
        </p:nvSpPr>
        <p:spPr>
          <a:xfrm>
            <a:off x="3040309" y="1811648"/>
            <a:ext cx="563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打開逆變器</a:t>
            </a:r>
            <a:r>
              <a:rPr lang="zh-TW" altLang="en-US" sz="1600" b="1" dirty="0">
                <a:solidFill>
                  <a:srgbClr val="FF0000"/>
                </a:solidFill>
              </a:rPr>
              <a:t>，可以看到兩端</a:t>
            </a:r>
            <a:r>
              <a:rPr lang="en-US" altLang="zh-TW" sz="1600" b="1" dirty="0">
                <a:solidFill>
                  <a:srgbClr val="FF0000"/>
                </a:solidFill>
              </a:rPr>
              <a:t>GND</a:t>
            </a:r>
            <a:r>
              <a:rPr lang="zh-TW" altLang="en-US" sz="1600" b="1" dirty="0">
                <a:solidFill>
                  <a:srgbClr val="FF0000"/>
                </a:solidFill>
              </a:rPr>
              <a:t>之間有很大</a:t>
            </a:r>
            <a:r>
              <a:rPr lang="en-US" altLang="zh-TW" sz="1600" b="1" dirty="0">
                <a:solidFill>
                  <a:srgbClr val="FF0000"/>
                </a:solidFill>
              </a:rPr>
              <a:t>Noise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4930723-6436-4309-BF3D-B8B4C39D99A8}"/>
              </a:ext>
            </a:extLst>
          </p:cNvPr>
          <p:cNvSpPr txBox="1"/>
          <p:nvPr/>
        </p:nvSpPr>
        <p:spPr>
          <a:xfrm>
            <a:off x="1011460" y="2235989"/>
            <a:ext cx="4461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/>
              <a:t>Noise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DC</a:t>
            </a:r>
            <a:r>
              <a:rPr lang="zh-TW" altLang="en-US" sz="1400" b="1" dirty="0"/>
              <a:t>成分</a:t>
            </a:r>
            <a:endParaRPr lang="en-US" altLang="zh-TW" sz="1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22EF67-F3A6-4744-810B-0806C045AA0B}"/>
              </a:ext>
            </a:extLst>
          </p:cNvPr>
          <p:cNvSpPr txBox="1"/>
          <p:nvPr/>
        </p:nvSpPr>
        <p:spPr>
          <a:xfrm>
            <a:off x="6443608" y="2211114"/>
            <a:ext cx="4461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400" b="1"/>
            </a:lvl1pPr>
          </a:lstStyle>
          <a:p>
            <a:r>
              <a:rPr lang="en-US" altLang="zh-TW" dirty="0"/>
              <a:t>Noise</a:t>
            </a:r>
            <a:r>
              <a:rPr lang="zh-TW" altLang="en-US" dirty="0"/>
              <a:t> </a:t>
            </a:r>
            <a:r>
              <a:rPr lang="en-US" altLang="zh-TW" dirty="0"/>
              <a:t>AC</a:t>
            </a:r>
            <a:r>
              <a:rPr lang="zh-TW" altLang="en-US" dirty="0"/>
              <a:t>成分 </a:t>
            </a:r>
            <a:r>
              <a:rPr lang="en-US" altLang="zh-TW" dirty="0"/>
              <a:t>(</a:t>
            </a:r>
            <a:r>
              <a:rPr lang="zh-TW" altLang="en-US" dirty="0"/>
              <a:t>主要為</a:t>
            </a:r>
            <a:r>
              <a:rPr lang="en-US" altLang="zh-TW" dirty="0"/>
              <a:t>20kHz</a:t>
            </a:r>
            <a:r>
              <a:rPr lang="zh-TW" altLang="en-US" dirty="0"/>
              <a:t>倍頻</a:t>
            </a:r>
            <a:r>
              <a:rPr lang="en-US" altLang="zh-TW" dirty="0"/>
              <a:t>)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CCBFF77-EF40-4940-BA28-690B1ED782B9}"/>
              </a:ext>
            </a:extLst>
          </p:cNvPr>
          <p:cNvSpPr txBox="1"/>
          <p:nvPr/>
        </p:nvSpPr>
        <p:spPr>
          <a:xfrm>
            <a:off x="1593816" y="6023187"/>
            <a:ext cx="3147089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00B0F0"/>
                </a:solidFill>
              </a:rPr>
              <a:t>包絡線</a:t>
            </a:r>
            <a:r>
              <a:rPr lang="zh-TW" altLang="en-US" sz="1400" b="1" dirty="0">
                <a:solidFill>
                  <a:srgbClr val="FF0000"/>
                </a:solidFill>
              </a:rPr>
              <a:t>上下晃動，</a:t>
            </a:r>
            <a:r>
              <a:rPr lang="en-US" altLang="zh-TW" sz="1400" b="1" dirty="0">
                <a:solidFill>
                  <a:srgbClr val="FF0000"/>
                </a:solidFill>
              </a:rPr>
              <a:t>DC</a:t>
            </a:r>
            <a:r>
              <a:rPr lang="zh-TW" altLang="en-US" sz="1400" b="1" dirty="0">
                <a:solidFill>
                  <a:srgbClr val="FF0000"/>
                </a:solidFill>
              </a:rPr>
              <a:t>準位不穩定</a:t>
            </a:r>
            <a:endParaRPr lang="en-US" altLang="zh-TW" sz="1400" b="1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93C197B-3D31-4411-BCF0-8186FC7CE4A9}"/>
              </a:ext>
            </a:extLst>
          </p:cNvPr>
          <p:cNvSpPr txBox="1"/>
          <p:nvPr/>
        </p:nvSpPr>
        <p:spPr>
          <a:xfrm>
            <a:off x="6830103" y="6048469"/>
            <a:ext cx="3812003" cy="307777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rgbClr val="FF0000"/>
                </a:solidFill>
              </a:rPr>
              <a:t>根據上述</a:t>
            </a:r>
            <a:r>
              <a:rPr lang="en-US" altLang="zh-TW" sz="1400" b="1" dirty="0">
                <a:solidFill>
                  <a:srgbClr val="FF0000"/>
                </a:solidFill>
              </a:rPr>
              <a:t>FFT</a:t>
            </a:r>
            <a:r>
              <a:rPr lang="zh-TW" altLang="en-US" sz="1400" b="1" dirty="0">
                <a:solidFill>
                  <a:srgbClr val="FF0000"/>
                </a:solidFill>
              </a:rPr>
              <a:t>分析，</a:t>
            </a:r>
            <a:r>
              <a:rPr lang="en-US" altLang="zh-TW" sz="1400" b="1" dirty="0">
                <a:solidFill>
                  <a:srgbClr val="FF0000"/>
                </a:solidFill>
              </a:rPr>
              <a:t>Noise</a:t>
            </a:r>
            <a:r>
              <a:rPr lang="zh-TW" altLang="en-US" sz="1400" b="1" dirty="0">
                <a:solidFill>
                  <a:srgbClr val="FF0000"/>
                </a:solidFill>
              </a:rPr>
              <a:t>由多個頻率所組成</a:t>
            </a:r>
            <a:endParaRPr lang="en-US" altLang="zh-TW" sz="1400" b="1" dirty="0">
              <a:solidFill>
                <a:srgbClr val="FF0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B309CEAD-366D-46C1-9C1C-AEC7FD0932DC}"/>
              </a:ext>
            </a:extLst>
          </p:cNvPr>
          <p:cNvSpPr txBox="1"/>
          <p:nvPr/>
        </p:nvSpPr>
        <p:spPr>
          <a:xfrm>
            <a:off x="7014464" y="5327985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20k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BFC6B4F-9E66-439A-8337-E710E45D811E}"/>
              </a:ext>
            </a:extLst>
          </p:cNvPr>
          <p:cNvSpPr txBox="1"/>
          <p:nvPr/>
        </p:nvSpPr>
        <p:spPr>
          <a:xfrm>
            <a:off x="7175004" y="5328962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30k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22FD092-7B03-4E9D-A948-F7F8BD892C02}"/>
              </a:ext>
            </a:extLst>
          </p:cNvPr>
          <p:cNvSpPr txBox="1"/>
          <p:nvPr/>
        </p:nvSpPr>
        <p:spPr>
          <a:xfrm>
            <a:off x="7340104" y="5328962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40k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9A3C327-538E-4F60-BA99-700FAFAD6003}"/>
              </a:ext>
            </a:extLst>
          </p:cNvPr>
          <p:cNvSpPr txBox="1"/>
          <p:nvPr/>
        </p:nvSpPr>
        <p:spPr>
          <a:xfrm>
            <a:off x="7504966" y="5327984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50k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E8A0F79-2ED9-480E-93EC-EE17C71F84D8}"/>
              </a:ext>
            </a:extLst>
          </p:cNvPr>
          <p:cNvSpPr txBox="1"/>
          <p:nvPr/>
        </p:nvSpPr>
        <p:spPr>
          <a:xfrm>
            <a:off x="7678619" y="5325387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60k</a:t>
            </a: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449D1ADF-BDC3-40F9-B6FC-7473F633B8E0}"/>
              </a:ext>
            </a:extLst>
          </p:cNvPr>
          <p:cNvGrpSpPr/>
          <p:nvPr/>
        </p:nvGrpSpPr>
        <p:grpSpPr>
          <a:xfrm>
            <a:off x="1301327" y="2642710"/>
            <a:ext cx="3732068" cy="3223419"/>
            <a:chOff x="1301327" y="2642710"/>
            <a:chExt cx="3732068" cy="3223419"/>
          </a:xfrm>
        </p:grpSpPr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CCB051D2-5AA8-4AC2-BB05-0CA7FE01365C}"/>
                </a:ext>
              </a:extLst>
            </p:cNvPr>
            <p:cNvGrpSpPr/>
            <p:nvPr/>
          </p:nvGrpSpPr>
          <p:grpSpPr>
            <a:xfrm>
              <a:off x="1301327" y="2642710"/>
              <a:ext cx="3732068" cy="3223419"/>
              <a:chOff x="1301327" y="2642710"/>
              <a:chExt cx="3732068" cy="3223419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3616F0EC-10FF-42B6-B4C8-8CF3ED2FE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1327" y="2642710"/>
                <a:ext cx="3732068" cy="3223419"/>
              </a:xfrm>
              <a:prstGeom prst="rect">
                <a:avLst/>
              </a:prstGeom>
            </p:spPr>
          </p:pic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9153F9E5-D7BB-4284-AEF2-7F1008B8B320}"/>
                  </a:ext>
                </a:extLst>
              </p:cNvPr>
              <p:cNvSpPr/>
              <p:nvPr/>
            </p:nvSpPr>
            <p:spPr bwMode="auto">
              <a:xfrm>
                <a:off x="1468072" y="4132908"/>
                <a:ext cx="910462" cy="218113"/>
              </a:xfrm>
              <a:prstGeom prst="rect">
                <a:avLst/>
              </a:prstGeom>
              <a:solidFill>
                <a:srgbClr val="FFFF00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sz="700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Arial Unicode MS" pitchFamily="34" charset="-120"/>
                    <a:cs typeface="Arial" panose="020B0604020202020204" pitchFamily="34" charset="0"/>
                  </a:rPr>
                  <a:t>CarGND_InverterGND</a:t>
                </a:r>
                <a:endParaRPr kumimoji="0" lang="zh-TW" altLang="en-US" sz="70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Arial Unicode MS" pitchFamily="34" charset="-12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5" name="直線單箭頭接點 4">
              <a:extLst>
                <a:ext uri="{FF2B5EF4-FFF2-40B4-BE49-F238E27FC236}">
                  <a16:creationId xmlns:a16="http://schemas.microsoft.com/office/drawing/2014/main" id="{888C775B-ED1B-44D9-9570-3210DB39B0ED}"/>
                </a:ext>
              </a:extLst>
            </p:cNvPr>
            <p:cNvCxnSpPr/>
            <p:nvPr/>
          </p:nvCxnSpPr>
          <p:spPr bwMode="auto">
            <a:xfrm flipH="1">
              <a:off x="2938634" y="3208020"/>
              <a:ext cx="3939" cy="198889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EC2F88E5-F436-47F9-B2E2-B74F126C88F9}"/>
                </a:ext>
              </a:extLst>
            </p:cNvPr>
            <p:cNvCxnSpPr/>
            <p:nvPr/>
          </p:nvCxnSpPr>
          <p:spPr bwMode="auto">
            <a:xfrm>
              <a:off x="2199866" y="3208020"/>
              <a:ext cx="15693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001147A0-9754-44DE-A2FD-83FA67B45A1D}"/>
                </a:ext>
              </a:extLst>
            </p:cNvPr>
            <p:cNvCxnSpPr/>
            <p:nvPr/>
          </p:nvCxnSpPr>
          <p:spPr bwMode="auto">
            <a:xfrm>
              <a:off x="2644346" y="5226837"/>
              <a:ext cx="147786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57C5BFB1-27E7-40BF-9B76-CE11BC9F70FF}"/>
                </a:ext>
              </a:extLst>
            </p:cNvPr>
            <p:cNvSpPr/>
            <p:nvPr/>
          </p:nvSpPr>
          <p:spPr bwMode="auto">
            <a:xfrm>
              <a:off x="1459683" y="3213811"/>
              <a:ext cx="3565321" cy="633887"/>
            </a:xfrm>
            <a:custGeom>
              <a:avLst/>
              <a:gdLst>
                <a:gd name="connsiteX0" fmla="*/ 0 w 3531766"/>
                <a:gd name="connsiteY0" fmla="*/ 516424 h 633887"/>
                <a:gd name="connsiteX1" fmla="*/ 302004 w 3531766"/>
                <a:gd name="connsiteY1" fmla="*/ 608703 h 633887"/>
                <a:gd name="connsiteX2" fmla="*/ 864066 w 3531766"/>
                <a:gd name="connsiteY2" fmla="*/ 357033 h 633887"/>
                <a:gd name="connsiteX3" fmla="*/ 1107347 w 3531766"/>
                <a:gd name="connsiteY3" fmla="*/ 13084 h 633887"/>
                <a:gd name="connsiteX4" fmla="*/ 1342239 w 3531766"/>
                <a:gd name="connsiteY4" fmla="*/ 289921 h 633887"/>
                <a:gd name="connsiteX5" fmla="*/ 1677799 w 3531766"/>
                <a:gd name="connsiteY5" fmla="*/ 440923 h 633887"/>
                <a:gd name="connsiteX6" fmla="*/ 2030136 w 3531766"/>
                <a:gd name="connsiteY6" fmla="*/ 633870 h 633887"/>
                <a:gd name="connsiteX7" fmla="*/ 2541865 w 3531766"/>
                <a:gd name="connsiteY7" fmla="*/ 449312 h 633887"/>
                <a:gd name="connsiteX8" fmla="*/ 2852257 w 3531766"/>
                <a:gd name="connsiteY8" fmla="*/ 13084 h 633887"/>
                <a:gd name="connsiteX9" fmla="*/ 2969703 w 3531766"/>
                <a:gd name="connsiteY9" fmla="*/ 105363 h 633887"/>
                <a:gd name="connsiteX10" fmla="*/ 3531766 w 3531766"/>
                <a:gd name="connsiteY10" fmla="*/ 583536 h 633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1766" h="633887">
                  <a:moveTo>
                    <a:pt x="0" y="516424"/>
                  </a:moveTo>
                  <a:cubicBezTo>
                    <a:pt x="78996" y="575846"/>
                    <a:pt x="157993" y="635268"/>
                    <a:pt x="302004" y="608703"/>
                  </a:cubicBezTo>
                  <a:cubicBezTo>
                    <a:pt x="446015" y="582138"/>
                    <a:pt x="729842" y="456303"/>
                    <a:pt x="864066" y="357033"/>
                  </a:cubicBezTo>
                  <a:cubicBezTo>
                    <a:pt x="998290" y="257763"/>
                    <a:pt x="1027652" y="24269"/>
                    <a:pt x="1107347" y="13084"/>
                  </a:cubicBezTo>
                  <a:cubicBezTo>
                    <a:pt x="1187042" y="1899"/>
                    <a:pt x="1247164" y="218615"/>
                    <a:pt x="1342239" y="289921"/>
                  </a:cubicBezTo>
                  <a:cubicBezTo>
                    <a:pt x="1437314" y="361227"/>
                    <a:pt x="1563150" y="383598"/>
                    <a:pt x="1677799" y="440923"/>
                  </a:cubicBezTo>
                  <a:cubicBezTo>
                    <a:pt x="1792448" y="498248"/>
                    <a:pt x="1886125" y="632472"/>
                    <a:pt x="2030136" y="633870"/>
                  </a:cubicBezTo>
                  <a:cubicBezTo>
                    <a:pt x="2174147" y="635268"/>
                    <a:pt x="2404845" y="552776"/>
                    <a:pt x="2541865" y="449312"/>
                  </a:cubicBezTo>
                  <a:cubicBezTo>
                    <a:pt x="2678885" y="345848"/>
                    <a:pt x="2780951" y="70409"/>
                    <a:pt x="2852257" y="13084"/>
                  </a:cubicBezTo>
                  <a:cubicBezTo>
                    <a:pt x="2923563" y="-44241"/>
                    <a:pt x="2969703" y="105363"/>
                    <a:pt x="2969703" y="105363"/>
                  </a:cubicBezTo>
                  <a:cubicBezTo>
                    <a:pt x="3082954" y="200438"/>
                    <a:pt x="3307360" y="391987"/>
                    <a:pt x="3531766" y="583536"/>
                  </a:cubicBezTo>
                </a:path>
              </a:pathLst>
            </a:cu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9D310DC7-B922-400D-A5D5-0F0EB4D1211C}"/>
                </a:ext>
              </a:extLst>
            </p:cNvPr>
            <p:cNvSpPr/>
            <p:nvPr/>
          </p:nvSpPr>
          <p:spPr bwMode="auto">
            <a:xfrm>
              <a:off x="1493240" y="4516009"/>
              <a:ext cx="3540155" cy="680901"/>
            </a:xfrm>
            <a:custGeom>
              <a:avLst/>
              <a:gdLst>
                <a:gd name="connsiteX0" fmla="*/ 0 w 3540155"/>
                <a:gd name="connsiteY0" fmla="*/ 548075 h 611441"/>
                <a:gd name="connsiteX1" fmla="*/ 352338 w 3540155"/>
                <a:gd name="connsiteY1" fmla="*/ 606798 h 611441"/>
                <a:gd name="connsiteX2" fmla="*/ 788566 w 3540155"/>
                <a:gd name="connsiteY2" fmla="*/ 439018 h 611441"/>
                <a:gd name="connsiteX3" fmla="*/ 1065402 w 3540155"/>
                <a:gd name="connsiteY3" fmla="*/ 53125 h 611441"/>
                <a:gd name="connsiteX4" fmla="*/ 1199626 w 3540155"/>
                <a:gd name="connsiteY4" fmla="*/ 44736 h 611441"/>
                <a:gd name="connsiteX5" fmla="*/ 1526797 w 3540155"/>
                <a:gd name="connsiteY5" fmla="*/ 439018 h 611441"/>
                <a:gd name="connsiteX6" fmla="*/ 1837189 w 3540155"/>
                <a:gd name="connsiteY6" fmla="*/ 581631 h 611441"/>
                <a:gd name="connsiteX7" fmla="*/ 2248250 w 3540155"/>
                <a:gd name="connsiteY7" fmla="*/ 590020 h 611441"/>
                <a:gd name="connsiteX8" fmla="*/ 2567032 w 3540155"/>
                <a:gd name="connsiteY8" fmla="*/ 405462 h 611441"/>
                <a:gd name="connsiteX9" fmla="*/ 2793534 w 3540155"/>
                <a:gd name="connsiteY9" fmla="*/ 128626 h 611441"/>
                <a:gd name="connsiteX10" fmla="*/ 2910980 w 3540155"/>
                <a:gd name="connsiteY10" fmla="*/ 19569 h 611441"/>
                <a:gd name="connsiteX11" fmla="*/ 3070371 w 3540155"/>
                <a:gd name="connsiteY11" fmla="*/ 279627 h 611441"/>
                <a:gd name="connsiteX12" fmla="*/ 3414320 w 3540155"/>
                <a:gd name="connsiteY12" fmla="*/ 497741 h 611441"/>
                <a:gd name="connsiteX13" fmla="*/ 3540155 w 3540155"/>
                <a:gd name="connsiteY13" fmla="*/ 531297 h 61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40155" h="611441">
                  <a:moveTo>
                    <a:pt x="0" y="548075"/>
                  </a:moveTo>
                  <a:cubicBezTo>
                    <a:pt x="110455" y="586524"/>
                    <a:pt x="220910" y="624974"/>
                    <a:pt x="352338" y="606798"/>
                  </a:cubicBezTo>
                  <a:cubicBezTo>
                    <a:pt x="483766" y="588622"/>
                    <a:pt x="669722" y="531297"/>
                    <a:pt x="788566" y="439018"/>
                  </a:cubicBezTo>
                  <a:cubicBezTo>
                    <a:pt x="907410" y="346739"/>
                    <a:pt x="996892" y="118839"/>
                    <a:pt x="1065402" y="53125"/>
                  </a:cubicBezTo>
                  <a:cubicBezTo>
                    <a:pt x="1133912" y="-12589"/>
                    <a:pt x="1122727" y="-19580"/>
                    <a:pt x="1199626" y="44736"/>
                  </a:cubicBezTo>
                  <a:cubicBezTo>
                    <a:pt x="1276525" y="109051"/>
                    <a:pt x="1420537" y="349535"/>
                    <a:pt x="1526797" y="439018"/>
                  </a:cubicBezTo>
                  <a:cubicBezTo>
                    <a:pt x="1633058" y="528500"/>
                    <a:pt x="1716947" y="556464"/>
                    <a:pt x="1837189" y="581631"/>
                  </a:cubicBezTo>
                  <a:cubicBezTo>
                    <a:pt x="1957431" y="606798"/>
                    <a:pt x="2126609" y="619382"/>
                    <a:pt x="2248250" y="590020"/>
                  </a:cubicBezTo>
                  <a:cubicBezTo>
                    <a:pt x="2369891" y="560658"/>
                    <a:pt x="2476151" y="482361"/>
                    <a:pt x="2567032" y="405462"/>
                  </a:cubicBezTo>
                  <a:cubicBezTo>
                    <a:pt x="2657913" y="328563"/>
                    <a:pt x="2736209" y="192941"/>
                    <a:pt x="2793534" y="128626"/>
                  </a:cubicBezTo>
                  <a:cubicBezTo>
                    <a:pt x="2850859" y="64311"/>
                    <a:pt x="2864841" y="-5598"/>
                    <a:pt x="2910980" y="19569"/>
                  </a:cubicBezTo>
                  <a:cubicBezTo>
                    <a:pt x="2957120" y="44736"/>
                    <a:pt x="2986481" y="199932"/>
                    <a:pt x="3070371" y="279627"/>
                  </a:cubicBezTo>
                  <a:cubicBezTo>
                    <a:pt x="3154261" y="359322"/>
                    <a:pt x="3336023" y="455796"/>
                    <a:pt x="3414320" y="497741"/>
                  </a:cubicBezTo>
                  <a:cubicBezTo>
                    <a:pt x="3492617" y="539686"/>
                    <a:pt x="3516386" y="535491"/>
                    <a:pt x="3540155" y="531297"/>
                  </a:cubicBezTo>
                </a:path>
              </a:pathLst>
            </a:custGeom>
            <a:noFill/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6FDD34B2-0FC4-4700-9D14-E87B2FBA435F}"/>
              </a:ext>
            </a:extLst>
          </p:cNvPr>
          <p:cNvCxnSpPr/>
          <p:nvPr/>
        </p:nvCxnSpPr>
        <p:spPr bwMode="auto">
          <a:xfrm>
            <a:off x="7117080" y="4487697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8796697F-8C76-42EA-9D59-5348150DCE99}"/>
              </a:ext>
            </a:extLst>
          </p:cNvPr>
          <p:cNvCxnSpPr/>
          <p:nvPr/>
        </p:nvCxnSpPr>
        <p:spPr bwMode="auto">
          <a:xfrm>
            <a:off x="7433873" y="4754397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46A0AEC4-1E36-4AF3-AB41-4A63E76676F0}"/>
              </a:ext>
            </a:extLst>
          </p:cNvPr>
          <p:cNvCxnSpPr/>
          <p:nvPr/>
        </p:nvCxnSpPr>
        <p:spPr bwMode="auto">
          <a:xfrm>
            <a:off x="7749528" y="5089677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2DF2278-3C75-44A0-9748-FCEB041F7471}"/>
              </a:ext>
            </a:extLst>
          </p:cNvPr>
          <p:cNvCxnSpPr/>
          <p:nvPr/>
        </p:nvCxnSpPr>
        <p:spPr bwMode="auto">
          <a:xfrm>
            <a:off x="8073941" y="5195874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26504A5-3F79-4C95-80D1-B91576B10070}"/>
              </a:ext>
            </a:extLst>
          </p:cNvPr>
          <p:cNvSpPr txBox="1"/>
          <p:nvPr/>
        </p:nvSpPr>
        <p:spPr>
          <a:xfrm>
            <a:off x="7973143" y="5324293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80k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9F3679AD-D165-49AD-9D02-D7ED8B9D3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98" y="3893881"/>
            <a:ext cx="2186970" cy="218697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AE806E42-7D0B-43CD-8A76-7362F3033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43" y="4127073"/>
            <a:ext cx="2186970" cy="21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6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>
            <a:extLst>
              <a:ext uri="{FF2B5EF4-FFF2-40B4-BE49-F238E27FC236}">
                <a16:creationId xmlns:a16="http://schemas.microsoft.com/office/drawing/2014/main" id="{39331021-D6E2-4E39-BD18-376A92E62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90" y="1607202"/>
            <a:ext cx="3858776" cy="4169672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1521BF-3D56-42E0-BB81-84693A00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1600" dirty="0"/>
              <a:t>量測</a:t>
            </a:r>
            <a:r>
              <a:rPr lang="en-US" altLang="zh-TW" sz="1600" dirty="0"/>
              <a:t>RX</a:t>
            </a:r>
            <a:r>
              <a:rPr lang="zh-TW" altLang="en-US" sz="1600" dirty="0"/>
              <a:t> </a:t>
            </a:r>
            <a:r>
              <a:rPr lang="en-US" altLang="zh-TW" sz="1600" dirty="0"/>
              <a:t>couple</a:t>
            </a:r>
            <a:r>
              <a:rPr lang="zh-TW" altLang="en-US" sz="1600" dirty="0"/>
              <a:t>和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之間的波形</a:t>
            </a:r>
            <a:endParaRPr lang="en-US" altLang="zh-TW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8EFBA80-1CBF-4724-A925-A6FD8916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4.Noise</a:t>
            </a:r>
            <a:r>
              <a:rPr lang="zh-TW" altLang="en-US" dirty="0"/>
              <a:t>對於</a:t>
            </a:r>
            <a:r>
              <a:rPr lang="en-US" altLang="zh-TW" dirty="0"/>
              <a:t>RX</a:t>
            </a:r>
            <a:r>
              <a:rPr lang="zh-TW" altLang="en-US" dirty="0"/>
              <a:t> </a:t>
            </a:r>
            <a:r>
              <a:rPr lang="en-US" altLang="zh-TW" dirty="0"/>
              <a:t>couple</a:t>
            </a:r>
            <a:r>
              <a:rPr lang="zh-TW" altLang="en-US" dirty="0"/>
              <a:t>的影響 </a:t>
            </a:r>
            <a:r>
              <a:rPr lang="en-US" altLang="zh-TW" dirty="0"/>
              <a:t>(</a:t>
            </a:r>
            <a:r>
              <a:rPr lang="zh-TW" altLang="en-US" dirty="0"/>
              <a:t>針對</a:t>
            </a:r>
            <a:r>
              <a:rPr lang="en-US" altLang="zh-TW" dirty="0"/>
              <a:t>Inverter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打開前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77A20E-AF2F-4340-A395-6CA72ACE0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801DAB51-A8FF-4FD3-8BF4-55CA1102416F}"/>
              </a:ext>
            </a:extLst>
          </p:cNvPr>
          <p:cNvGrpSpPr/>
          <p:nvPr/>
        </p:nvGrpSpPr>
        <p:grpSpPr>
          <a:xfrm>
            <a:off x="1258798" y="3232011"/>
            <a:ext cx="3244868" cy="3377765"/>
            <a:chOff x="1258798" y="3098416"/>
            <a:chExt cx="3244868" cy="3377765"/>
          </a:xfrm>
        </p:grpSpPr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B5C3199A-8296-4E8B-8123-6D2522FFD70E}"/>
                </a:ext>
              </a:extLst>
            </p:cNvPr>
            <p:cNvSpPr/>
            <p:nvPr/>
          </p:nvSpPr>
          <p:spPr bwMode="auto">
            <a:xfrm rot="16525501">
              <a:off x="2309043" y="4411670"/>
              <a:ext cx="103480" cy="1729776"/>
            </a:xfrm>
            <a:custGeom>
              <a:avLst/>
              <a:gdLst>
                <a:gd name="connsiteX0" fmla="*/ 0 w 687897"/>
                <a:gd name="connsiteY0" fmla="*/ 352338 h 352338"/>
                <a:gd name="connsiteX1" fmla="*/ 687897 w 687897"/>
                <a:gd name="connsiteY1" fmla="*/ 0 h 352338"/>
                <a:gd name="connsiteX2" fmla="*/ 687897 w 687897"/>
                <a:gd name="connsiteY2" fmla="*/ 0 h 35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7897" h="352338">
                  <a:moveTo>
                    <a:pt x="0" y="352338"/>
                  </a:moveTo>
                  <a:lnTo>
                    <a:pt x="687897" y="0"/>
                  </a:lnTo>
                  <a:lnTo>
                    <a:pt x="687897" y="0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 dirty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3" name="フローチャート: 準備 11">
              <a:extLst>
                <a:ext uri="{FF2B5EF4-FFF2-40B4-BE49-F238E27FC236}">
                  <a16:creationId xmlns:a16="http://schemas.microsoft.com/office/drawing/2014/main" id="{971A3604-3FF0-4ADB-A8EA-D8E606B3EB52}"/>
                </a:ext>
              </a:extLst>
            </p:cNvPr>
            <p:cNvSpPr/>
            <p:nvPr/>
          </p:nvSpPr>
          <p:spPr>
            <a:xfrm rot="5947502">
              <a:off x="1353951" y="4987278"/>
              <a:ext cx="79970" cy="270276"/>
            </a:xfrm>
            <a:prstGeom prst="flowChartPreparation">
              <a:avLst/>
            </a:prstGeom>
            <a:solidFill>
              <a:sysClr val="windowText" lastClr="000000">
                <a:lumMod val="85000"/>
                <a:lumOff val="15000"/>
              </a:sys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39359678-16FA-40C3-AF58-DC27BA93E759}"/>
                </a:ext>
              </a:extLst>
            </p:cNvPr>
            <p:cNvSpPr/>
            <p:nvPr/>
          </p:nvSpPr>
          <p:spPr bwMode="auto">
            <a:xfrm rot="14537817" flipV="1">
              <a:off x="2922100" y="3650188"/>
              <a:ext cx="1370414" cy="1584364"/>
            </a:xfrm>
            <a:custGeom>
              <a:avLst/>
              <a:gdLst>
                <a:gd name="connsiteX0" fmla="*/ 0 w 687897"/>
                <a:gd name="connsiteY0" fmla="*/ 352338 h 352338"/>
                <a:gd name="connsiteX1" fmla="*/ 687897 w 687897"/>
                <a:gd name="connsiteY1" fmla="*/ 0 h 352338"/>
                <a:gd name="connsiteX2" fmla="*/ 687897 w 687897"/>
                <a:gd name="connsiteY2" fmla="*/ 0 h 35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7897" h="352338">
                  <a:moveTo>
                    <a:pt x="0" y="352338"/>
                  </a:moveTo>
                  <a:lnTo>
                    <a:pt x="687897" y="0"/>
                  </a:lnTo>
                  <a:lnTo>
                    <a:pt x="687897" y="0"/>
                  </a:ln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67" name="矢印: 五方向 12">
              <a:extLst>
                <a:ext uri="{FF2B5EF4-FFF2-40B4-BE49-F238E27FC236}">
                  <a16:creationId xmlns:a16="http://schemas.microsoft.com/office/drawing/2014/main" id="{5E9AF185-C89B-4CD5-B139-F77FFEF51F8E}"/>
                </a:ext>
              </a:extLst>
            </p:cNvPr>
            <p:cNvSpPr/>
            <p:nvPr/>
          </p:nvSpPr>
          <p:spPr>
            <a:xfrm rot="5059461">
              <a:off x="3104703" y="5490539"/>
              <a:ext cx="233102" cy="72378"/>
            </a:xfrm>
            <a:prstGeom prst="homePlat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2F77055C-BEAD-4864-8771-C9EBB744B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2539" y="5545738"/>
              <a:ext cx="1091127" cy="784881"/>
            </a:xfrm>
            <a:prstGeom prst="rect">
              <a:avLst/>
            </a:prstGeom>
          </p:spPr>
        </p:pic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95B332A2-7DB2-40FF-A6F7-D468807A44C4}"/>
                </a:ext>
              </a:extLst>
            </p:cNvPr>
            <p:cNvSpPr/>
            <p:nvPr/>
          </p:nvSpPr>
          <p:spPr bwMode="auto">
            <a:xfrm>
              <a:off x="3216904" y="5553211"/>
              <a:ext cx="378251" cy="922970"/>
            </a:xfrm>
            <a:custGeom>
              <a:avLst/>
              <a:gdLst>
                <a:gd name="connsiteX0" fmla="*/ 436227 w 436227"/>
                <a:gd name="connsiteY0" fmla="*/ 536895 h 885375"/>
                <a:gd name="connsiteX1" fmla="*/ 293614 w 436227"/>
                <a:gd name="connsiteY1" fmla="*/ 864066 h 885375"/>
                <a:gd name="connsiteX2" fmla="*/ 0 w 436227"/>
                <a:gd name="connsiteY2" fmla="*/ 0 h 88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27" h="885375">
                  <a:moveTo>
                    <a:pt x="436227" y="536895"/>
                  </a:moveTo>
                  <a:cubicBezTo>
                    <a:pt x="401272" y="745221"/>
                    <a:pt x="366318" y="953548"/>
                    <a:pt x="293614" y="864066"/>
                  </a:cubicBezTo>
                  <a:cubicBezTo>
                    <a:pt x="220910" y="774584"/>
                    <a:pt x="40547" y="139816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endParaRPr kumimoji="1" lang="zh-TW" altLang="en-US" sz="1100" kern="0">
                <a:solidFill>
                  <a:sysClr val="window" lastClr="FFFFFF"/>
                </a:solidFill>
                <a:latin typeface="Calibri" panose="020F0502020204030204"/>
                <a:ea typeface="游ゴシック" panose="020B0400000000000000" pitchFamily="34" charset="-128"/>
              </a:endParaRPr>
            </a:p>
          </p:txBody>
        </p:sp>
        <p:sp>
          <p:nvSpPr>
            <p:cNvPr id="70" name="流程圖: 接點 69">
              <a:extLst>
                <a:ext uri="{FF2B5EF4-FFF2-40B4-BE49-F238E27FC236}">
                  <a16:creationId xmlns:a16="http://schemas.microsoft.com/office/drawing/2014/main" id="{E70F076E-090A-4E19-9396-E0059EC43D39}"/>
                </a:ext>
              </a:extLst>
            </p:cNvPr>
            <p:cNvSpPr/>
            <p:nvPr/>
          </p:nvSpPr>
          <p:spPr bwMode="auto">
            <a:xfrm>
              <a:off x="4045776" y="3098416"/>
              <a:ext cx="180000" cy="180000"/>
            </a:xfrm>
            <a:prstGeom prst="flowChartConnector">
              <a:avLst/>
            </a:prstGeom>
            <a:solidFill>
              <a:srgbClr val="DDDDDD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/>
            <a:p>
              <a:pPr algn="ctr"/>
              <a:endParaRPr kumimoji="1" lang="zh-TW" altLang="en-US" sz="400" dirty="0">
                <a:solidFill>
                  <a:schemeClr val="dk1"/>
                </a:solidFill>
              </a:endParaRPr>
            </a:p>
          </p:txBody>
        </p:sp>
        <p:sp>
          <p:nvSpPr>
            <p:cNvPr id="66" name="フローチャート: 準備 10">
              <a:extLst>
                <a:ext uri="{FF2B5EF4-FFF2-40B4-BE49-F238E27FC236}">
                  <a16:creationId xmlns:a16="http://schemas.microsoft.com/office/drawing/2014/main" id="{4A8D2D3E-41CA-469D-B414-41270B664C74}"/>
                </a:ext>
              </a:extLst>
            </p:cNvPr>
            <p:cNvSpPr/>
            <p:nvPr/>
          </p:nvSpPr>
          <p:spPr>
            <a:xfrm rot="1856512">
              <a:off x="4007734" y="3215443"/>
              <a:ext cx="87348" cy="270275"/>
            </a:xfrm>
            <a:prstGeom prst="flowChartPreparation">
              <a:avLst/>
            </a:prstGeom>
            <a:solidFill>
              <a:srgbClr val="FF0000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endParaRPr>
            </a:p>
          </p:txBody>
        </p: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312EFD03-4FC6-4BE5-948A-4ED2B7F51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809522" flipH="1">
              <a:off x="3014393" y="4011018"/>
              <a:ext cx="413719" cy="564993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150D50C7-6C15-4FE2-B923-FCC1456CC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6811" b="521"/>
            <a:stretch/>
          </p:blipFill>
          <p:spPr>
            <a:xfrm rot="4141338">
              <a:off x="3747431" y="3292989"/>
              <a:ext cx="377781" cy="494410"/>
            </a:xfrm>
            <a:prstGeom prst="rect">
              <a:avLst/>
            </a:prstGeom>
          </p:spPr>
        </p:pic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B36B97-CE09-457B-918A-234E7924DF4C}"/>
              </a:ext>
            </a:extLst>
          </p:cNvPr>
          <p:cNvSpPr txBox="1"/>
          <p:nvPr/>
        </p:nvSpPr>
        <p:spPr>
          <a:xfrm>
            <a:off x="5038724" y="1060854"/>
            <a:ext cx="7027465" cy="107721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600"/>
            </a:lvl1pPr>
          </a:lstStyle>
          <a:p>
            <a:r>
              <a:rPr lang="zh-TW" altLang="en-US" b="1" dirty="0">
                <a:highlight>
                  <a:srgbClr val="FFFF00"/>
                </a:highlight>
              </a:rPr>
              <a:t>量測手法</a:t>
            </a:r>
            <a:r>
              <a:rPr lang="en-US" altLang="zh-TW" b="1" dirty="0">
                <a:highlight>
                  <a:srgbClr val="FFFF00"/>
                </a:highlight>
              </a:rPr>
              <a:t>:</a:t>
            </a:r>
          </a:p>
          <a:p>
            <a:r>
              <a:rPr lang="en-US" altLang="zh-TW" dirty="0"/>
              <a:t>(1)</a:t>
            </a:r>
            <a:r>
              <a:rPr lang="zh-TW" altLang="en-US" dirty="0"/>
              <a:t>放硬幣在</a:t>
            </a:r>
            <a:r>
              <a:rPr lang="en-US" altLang="zh-TW" dirty="0"/>
              <a:t>Panel</a:t>
            </a:r>
            <a:r>
              <a:rPr lang="zh-TW" altLang="en-US" dirty="0"/>
              <a:t> </a:t>
            </a:r>
            <a:r>
              <a:rPr lang="en-US" altLang="zh-TW" dirty="0"/>
              <a:t>Module</a:t>
            </a:r>
            <a:r>
              <a:rPr lang="zh-TW" altLang="en-US" dirty="0"/>
              <a:t>上面</a:t>
            </a:r>
            <a:br>
              <a:rPr lang="en-US" altLang="zh-TW" dirty="0"/>
            </a:br>
            <a:r>
              <a:rPr lang="en-US" altLang="zh-TW" dirty="0"/>
              <a:t>(2)</a:t>
            </a:r>
            <a:r>
              <a:rPr lang="zh-TW" altLang="en-US" dirty="0"/>
              <a:t>一隻手拿示波器的紅色端戳著硬幣，另外一隻手觸摸</a:t>
            </a:r>
            <a:r>
              <a:rPr lang="en-US" altLang="zh-TW" dirty="0"/>
              <a:t>Inverter ground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en-US" altLang="zh-TW" dirty="0"/>
              <a:t>(3)</a:t>
            </a:r>
            <a:r>
              <a:rPr lang="zh-TW" altLang="en-US" dirty="0"/>
              <a:t>示波器的黑色端戳著</a:t>
            </a:r>
            <a:r>
              <a:rPr lang="en-US" altLang="zh-TW" dirty="0"/>
              <a:t>Car ground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611ED59-3BEA-4210-AA2B-4B433D66D160}"/>
              </a:ext>
            </a:extLst>
          </p:cNvPr>
          <p:cNvSpPr txBox="1"/>
          <p:nvPr/>
        </p:nvSpPr>
        <p:spPr>
          <a:xfrm>
            <a:off x="6084094" y="2388926"/>
            <a:ext cx="4872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/>
              <a:t>未打開逆變器，量到</a:t>
            </a:r>
            <a:r>
              <a:rPr lang="en-US" altLang="zh-TW" sz="1600" b="1" dirty="0"/>
              <a:t>RX couple</a:t>
            </a:r>
            <a:r>
              <a:rPr lang="zh-TW" altLang="en-US" sz="1600" b="1" dirty="0"/>
              <a:t>沒有明顯</a:t>
            </a:r>
            <a:r>
              <a:rPr lang="en-US" altLang="zh-TW" sz="1600" b="1" dirty="0"/>
              <a:t>Noise</a:t>
            </a:r>
          </a:p>
        </p:txBody>
      </p:sp>
      <p:pic>
        <p:nvPicPr>
          <p:cNvPr id="1026" name="Picture 2" descr="影像">
            <a:extLst>
              <a:ext uri="{FF2B5EF4-FFF2-40B4-BE49-F238E27FC236}">
                <a16:creationId xmlns:a16="http://schemas.microsoft.com/office/drawing/2014/main" id="{1014A3B1-1D12-46C9-8838-225F2A86F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20"/>
          <a:stretch/>
        </p:blipFill>
        <p:spPr bwMode="auto">
          <a:xfrm>
            <a:off x="6639763" y="3004889"/>
            <a:ext cx="3825385" cy="326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2CB0053-6A81-4383-AB7E-4641F1AEC71A}"/>
              </a:ext>
            </a:extLst>
          </p:cNvPr>
          <p:cNvSpPr txBox="1"/>
          <p:nvPr/>
        </p:nvSpPr>
        <p:spPr>
          <a:xfrm>
            <a:off x="3853561" y="3013246"/>
            <a:ext cx="578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>
                <a:solidFill>
                  <a:srgbClr val="DDDDDD"/>
                </a:solidFill>
              </a:rPr>
              <a:t>Coin</a:t>
            </a:r>
            <a:endParaRPr lang="zh-TW" altLang="en-US" sz="1100" dirty="0">
              <a:solidFill>
                <a:srgbClr val="DDDDDD"/>
              </a:solidFill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976C43D4-6CEE-47E9-9F75-18C4FE3D2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123" y="4104213"/>
            <a:ext cx="2186970" cy="21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2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內容版面配置區 2">
            <a:extLst>
              <a:ext uri="{FF2B5EF4-FFF2-40B4-BE49-F238E27FC236}">
                <a16:creationId xmlns:a16="http://schemas.microsoft.com/office/drawing/2014/main" id="{366E8DF4-8E79-4C5A-A1DB-5C7E6CEA4BAC}"/>
              </a:ext>
            </a:extLst>
          </p:cNvPr>
          <p:cNvSpPr txBox="1">
            <a:spLocks/>
          </p:cNvSpPr>
          <p:nvPr/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/>
              <a:t>量測</a:t>
            </a:r>
            <a:r>
              <a:rPr lang="en-US" altLang="zh-TW" sz="1600" dirty="0"/>
              <a:t>RX</a:t>
            </a:r>
            <a:r>
              <a:rPr lang="zh-TW" altLang="en-US" sz="1600" dirty="0"/>
              <a:t> </a:t>
            </a:r>
            <a:r>
              <a:rPr lang="en-US" altLang="zh-TW" sz="1600" dirty="0"/>
              <a:t>couple</a:t>
            </a:r>
            <a:r>
              <a:rPr lang="zh-TW" altLang="en-US" sz="1600" dirty="0"/>
              <a:t>和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之間的波形</a:t>
            </a:r>
            <a:endParaRPr lang="en-US" altLang="zh-TW" sz="16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8EFBA80-1CBF-4724-A925-A6FD8916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4.Noise</a:t>
            </a:r>
            <a:r>
              <a:rPr lang="zh-TW" altLang="en-US" dirty="0"/>
              <a:t>對於</a:t>
            </a:r>
            <a:r>
              <a:rPr lang="en-US" altLang="zh-TW" dirty="0"/>
              <a:t>RX</a:t>
            </a:r>
            <a:r>
              <a:rPr lang="zh-TW" altLang="en-US" dirty="0"/>
              <a:t> </a:t>
            </a:r>
            <a:r>
              <a:rPr lang="en-US" altLang="zh-TW" dirty="0"/>
              <a:t>couple</a:t>
            </a:r>
            <a:r>
              <a:rPr lang="zh-TW" altLang="en-US" dirty="0"/>
              <a:t>的影響 </a:t>
            </a:r>
            <a:r>
              <a:rPr lang="en-US" altLang="zh-TW" dirty="0"/>
              <a:t>(</a:t>
            </a:r>
            <a:r>
              <a:rPr lang="zh-TW" altLang="en-US" dirty="0"/>
              <a:t>針對</a:t>
            </a:r>
            <a:r>
              <a:rPr lang="en-US" altLang="zh-TW" dirty="0"/>
              <a:t>Inverter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打開後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77A20E-AF2F-4340-A395-6CA72ACE0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9</a:t>
            </a:fld>
            <a:endParaRPr lang="en-US" altLang="zh-TW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11E8A9-449F-4C6D-936B-96D532C56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72"/>
          <a:stretch/>
        </p:blipFill>
        <p:spPr bwMode="auto">
          <a:xfrm>
            <a:off x="966698" y="2856589"/>
            <a:ext cx="4010209" cy="346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228FFFA1-6A4B-4024-8C8A-CEDF142D23A8}"/>
              </a:ext>
            </a:extLst>
          </p:cNvPr>
          <p:cNvSpPr txBox="1"/>
          <p:nvPr/>
        </p:nvSpPr>
        <p:spPr>
          <a:xfrm>
            <a:off x="2971803" y="1703572"/>
            <a:ext cx="563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打開逆變器，量到</a:t>
            </a:r>
            <a:r>
              <a:rPr lang="en-US" altLang="zh-TW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RX couple</a:t>
            </a:r>
            <a:r>
              <a:rPr lang="zh-TW" altLang="en-US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有明顯</a:t>
            </a:r>
            <a:r>
              <a:rPr lang="en-US" altLang="zh-TW" sz="1600" b="1" dirty="0">
                <a:solidFill>
                  <a:srgbClr val="FF0000"/>
                </a:solidFill>
                <a:highlight>
                  <a:srgbClr val="FFFF00"/>
                </a:highlight>
              </a:rPr>
              <a:t>Noise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ECAABCB-DDD1-43FD-8FEB-4A9FB65FC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15"/>
          <a:stretch/>
        </p:blipFill>
        <p:spPr bwMode="auto">
          <a:xfrm>
            <a:off x="6712486" y="2847765"/>
            <a:ext cx="4090795" cy="348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文字方塊 31">
            <a:extLst>
              <a:ext uri="{FF2B5EF4-FFF2-40B4-BE49-F238E27FC236}">
                <a16:creationId xmlns:a16="http://schemas.microsoft.com/office/drawing/2014/main" id="{B46CE8B5-B982-4F4C-94AF-C837D8735D26}"/>
              </a:ext>
            </a:extLst>
          </p:cNvPr>
          <p:cNvSpPr txBox="1"/>
          <p:nvPr/>
        </p:nvSpPr>
        <p:spPr>
          <a:xfrm>
            <a:off x="6284826" y="2381569"/>
            <a:ext cx="494611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>
                <a:solidFill>
                  <a:srgbClr val="FF0000"/>
                </a:solidFill>
              </a:rPr>
              <a:t>根據</a:t>
            </a:r>
            <a:r>
              <a:rPr lang="en-US" altLang="zh-TW" dirty="0">
                <a:solidFill>
                  <a:srgbClr val="FF0000"/>
                </a:solidFill>
              </a:rPr>
              <a:t>FFT</a:t>
            </a:r>
            <a:r>
              <a:rPr lang="zh-TW" altLang="en-US" dirty="0">
                <a:solidFill>
                  <a:srgbClr val="FF0000"/>
                </a:solidFill>
              </a:rPr>
              <a:t>分析，有明顯低頻的成分</a:t>
            </a:r>
            <a:r>
              <a:rPr lang="en-US" altLang="zh-TW" dirty="0">
                <a:solidFill>
                  <a:srgbClr val="FF0000"/>
                </a:solidFill>
              </a:rPr>
              <a:t>(DC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noise)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2210BF-F159-4C50-B9D5-9AEFB474F08E}"/>
              </a:ext>
            </a:extLst>
          </p:cNvPr>
          <p:cNvSpPr txBox="1"/>
          <p:nvPr/>
        </p:nvSpPr>
        <p:spPr>
          <a:xfrm>
            <a:off x="6870111" y="6048015"/>
            <a:ext cx="169545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30kHz </a:t>
            </a:r>
            <a:br>
              <a:rPr lang="en-US" altLang="zh-TW" sz="700" dirty="0">
                <a:solidFill>
                  <a:srgbClr val="FF0000"/>
                </a:solidFill>
              </a:rPr>
            </a:br>
            <a:r>
              <a:rPr lang="en-US" altLang="zh-TW" sz="700" dirty="0">
                <a:solidFill>
                  <a:srgbClr val="FF0000"/>
                </a:solidFill>
              </a:rPr>
              <a:t>(TP sensing frequency)</a:t>
            </a:r>
            <a:endParaRPr lang="zh-TW" altLang="en-US" sz="700" dirty="0">
              <a:solidFill>
                <a:srgbClr val="FF0000"/>
              </a:solidFill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9E06CDF1-08C8-47B2-A157-889D1AA6A225}"/>
              </a:ext>
            </a:extLst>
          </p:cNvPr>
          <p:cNvSpPr txBox="1"/>
          <p:nvPr/>
        </p:nvSpPr>
        <p:spPr>
          <a:xfrm>
            <a:off x="6749793" y="6151939"/>
            <a:ext cx="418182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rgbClr val="FF0000"/>
                </a:solidFill>
              </a:rPr>
              <a:t>1k</a:t>
            </a:r>
          </a:p>
        </p:txBody>
      </p: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5D3CC9A8-ABF7-4EA0-BACD-7024AF337D8C}"/>
              </a:ext>
            </a:extLst>
          </p:cNvPr>
          <p:cNvCxnSpPr/>
          <p:nvPr/>
        </p:nvCxnSpPr>
        <p:spPr bwMode="auto">
          <a:xfrm>
            <a:off x="7598735" y="5562587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4ED918CE-A1A1-4AAB-86DB-11A84A678377}"/>
              </a:ext>
            </a:extLst>
          </p:cNvPr>
          <p:cNvCxnSpPr/>
          <p:nvPr/>
        </p:nvCxnSpPr>
        <p:spPr bwMode="auto">
          <a:xfrm>
            <a:off x="6846260" y="4719624"/>
            <a:ext cx="23064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9696AD50-716D-404C-B7A8-229057EDAA98}"/>
              </a:ext>
            </a:extLst>
          </p:cNvPr>
          <p:cNvSpPr txBox="1"/>
          <p:nvPr/>
        </p:nvSpPr>
        <p:spPr>
          <a:xfrm>
            <a:off x="1066540" y="2367837"/>
            <a:ext cx="381052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/>
              <a:t>RX couple</a:t>
            </a:r>
            <a:r>
              <a:rPr lang="zh-TW" altLang="en-US" sz="1400" b="1" dirty="0"/>
              <a:t>波形因為</a:t>
            </a:r>
            <a:r>
              <a:rPr lang="en-US" altLang="zh-TW" sz="1400" b="1" dirty="0"/>
              <a:t>Noise</a:t>
            </a:r>
            <a:r>
              <a:rPr lang="zh-TW" altLang="en-US" sz="1400" b="1" dirty="0"/>
              <a:t>而變形</a:t>
            </a:r>
            <a:endParaRPr lang="en-US" altLang="zh-TW" sz="1400" b="1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5061E63-C0C6-4A46-BE01-A2F313556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461" y="4163460"/>
            <a:ext cx="2186970" cy="218697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098D6EF-5942-4E31-A18B-606560673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056" y="3967420"/>
            <a:ext cx="2186970" cy="21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2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1E10D-436B-496C-8B39-EB83E61A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5.</a:t>
            </a:r>
            <a:r>
              <a:rPr lang="zh-TW" altLang="en-US" dirty="0"/>
              <a:t> </a:t>
            </a:r>
            <a:r>
              <a:rPr lang="en-US" altLang="zh-TW" dirty="0"/>
              <a:t>Noise</a:t>
            </a:r>
            <a:r>
              <a:rPr lang="zh-TW" altLang="en-US" dirty="0"/>
              <a:t>對於</a:t>
            </a:r>
            <a:r>
              <a:rPr lang="en-US" altLang="zh-TW" dirty="0"/>
              <a:t>Touch</a:t>
            </a:r>
            <a:r>
              <a:rPr lang="zh-TW" altLang="en-US" dirty="0"/>
              <a:t>的影響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E63049-31A8-471D-B2B7-D27E8E261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/>
              <a:t>TDDI</a:t>
            </a:r>
            <a:r>
              <a:rPr lang="zh-TW" altLang="en-US" sz="1600" dirty="0"/>
              <a:t>是透過</a:t>
            </a:r>
            <a:r>
              <a:rPr lang="en-US" altLang="zh-TW" sz="1600" dirty="0"/>
              <a:t>ADC</a:t>
            </a:r>
            <a:r>
              <a:rPr lang="zh-TW" altLang="en-US" sz="1600" dirty="0"/>
              <a:t>打出</a:t>
            </a:r>
            <a:r>
              <a:rPr lang="en-US" altLang="zh-TW" sz="1600" dirty="0"/>
              <a:t>RX</a:t>
            </a:r>
            <a:r>
              <a:rPr lang="zh-TW" altLang="en-US" sz="1600" dirty="0"/>
              <a:t> </a:t>
            </a:r>
            <a:r>
              <a:rPr lang="en-US" altLang="zh-TW" sz="1600" dirty="0"/>
              <a:t>couple</a:t>
            </a:r>
            <a:r>
              <a:rPr lang="zh-TW" altLang="en-US" sz="1600" dirty="0"/>
              <a:t>來感測電容的變化，並計算出</a:t>
            </a:r>
            <a:r>
              <a:rPr lang="en-US" altLang="zh-TW" sz="1600" dirty="0"/>
              <a:t>Raw</a:t>
            </a:r>
            <a:r>
              <a:rPr lang="zh-TW" altLang="en-US" sz="1600" dirty="0"/>
              <a:t> </a:t>
            </a:r>
            <a:r>
              <a:rPr lang="en-US" altLang="zh-TW" sz="1600" dirty="0"/>
              <a:t>data</a:t>
            </a:r>
            <a:r>
              <a:rPr lang="zh-TW" altLang="en-US" sz="1600" dirty="0"/>
              <a:t>值</a:t>
            </a:r>
            <a:br>
              <a:rPr lang="en-US" altLang="zh-TW" sz="1600" dirty="0"/>
            </a:br>
            <a:endParaRPr lang="en-US" altLang="zh-TW" sz="1600" dirty="0"/>
          </a:p>
          <a:p>
            <a:r>
              <a:rPr lang="en-US" altLang="zh-TW" sz="1600" dirty="0"/>
              <a:t>RX</a:t>
            </a:r>
            <a:r>
              <a:rPr lang="zh-TW" altLang="en-US" sz="1600" dirty="0"/>
              <a:t> </a:t>
            </a:r>
            <a:r>
              <a:rPr lang="en-US" altLang="zh-TW" sz="1600" dirty="0"/>
              <a:t>couple</a:t>
            </a:r>
            <a:r>
              <a:rPr lang="zh-TW" altLang="en-US" sz="1600" dirty="0"/>
              <a:t>受到</a:t>
            </a:r>
            <a:r>
              <a:rPr lang="en-US" altLang="zh-TW" sz="1600" dirty="0"/>
              <a:t>Noise</a:t>
            </a:r>
            <a:r>
              <a:rPr lang="zh-TW" altLang="en-US" sz="1600" dirty="0"/>
              <a:t>而影響，造成相同電容</a:t>
            </a:r>
            <a:r>
              <a:rPr lang="en-US" altLang="zh-TW" sz="1600" dirty="0"/>
              <a:t>(</a:t>
            </a:r>
            <a:r>
              <a:rPr lang="zh-TW" altLang="en-US" sz="1600" dirty="0"/>
              <a:t>手指觸摸</a:t>
            </a:r>
            <a:r>
              <a:rPr lang="en-US" altLang="zh-TW" sz="1600" dirty="0"/>
              <a:t>)</a:t>
            </a:r>
            <a:r>
              <a:rPr lang="zh-TW" altLang="en-US" sz="1600" dirty="0"/>
              <a:t>下，計算出的</a:t>
            </a:r>
            <a:r>
              <a:rPr lang="en-US" altLang="zh-TW" sz="1600" dirty="0"/>
              <a:t>Raw</a:t>
            </a:r>
            <a:r>
              <a:rPr lang="zh-TW" altLang="en-US" sz="1600" dirty="0"/>
              <a:t> </a:t>
            </a:r>
            <a:r>
              <a:rPr lang="en-US" altLang="zh-TW" sz="1600" dirty="0"/>
              <a:t>data</a:t>
            </a:r>
            <a:r>
              <a:rPr lang="zh-TW" altLang="en-US" sz="1600" dirty="0"/>
              <a:t>不一樣</a:t>
            </a:r>
            <a:br>
              <a:rPr lang="en-US" altLang="zh-TW" sz="1600" dirty="0"/>
            </a:br>
            <a:r>
              <a:rPr lang="zh-TW" altLang="en-US" sz="1600" dirty="0"/>
              <a:t>在</a:t>
            </a:r>
            <a:r>
              <a:rPr lang="en-US" altLang="zh-TW" sz="1600" dirty="0"/>
              <a:t>Delta</a:t>
            </a:r>
            <a:r>
              <a:rPr lang="zh-TW" altLang="en-US" sz="1600" dirty="0"/>
              <a:t>大幅抖動</a:t>
            </a:r>
            <a:r>
              <a:rPr lang="en-US" altLang="zh-TW" sz="1600" dirty="0"/>
              <a:t>(Raw data - Baseline)</a:t>
            </a:r>
            <a:r>
              <a:rPr lang="zh-TW" altLang="en-US" sz="1600" dirty="0"/>
              <a:t>的情況，就會出現觸控不靈敏</a:t>
            </a:r>
            <a:r>
              <a:rPr lang="en-US" altLang="zh-TW" sz="1600" dirty="0"/>
              <a:t>(</a:t>
            </a:r>
            <a:r>
              <a:rPr lang="zh-TW" altLang="en-US" sz="1600" dirty="0"/>
              <a:t>無法穩定報點</a:t>
            </a:r>
            <a:r>
              <a:rPr lang="en-US" altLang="zh-TW" sz="1600" dirty="0"/>
              <a:t>)</a:t>
            </a:r>
            <a:br>
              <a:rPr lang="en-US" altLang="zh-TW" sz="1600" dirty="0"/>
            </a:br>
            <a:endParaRPr lang="en-US" altLang="zh-TW" sz="1600" dirty="0"/>
          </a:p>
          <a:p>
            <a:r>
              <a:rPr lang="zh-TW" altLang="en-US" sz="1600" dirty="0"/>
              <a:t>詳情參考如下說明</a:t>
            </a:r>
            <a:r>
              <a:rPr lang="en-US" altLang="zh-TW" sz="1600" dirty="0"/>
              <a:t>: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9A7EE3-FCC6-421B-BD75-C46E9A3C5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8DF5899B-7B23-4907-8FD9-B8E2E00A4020}"/>
              </a:ext>
            </a:extLst>
          </p:cNvPr>
          <p:cNvCxnSpPr/>
          <p:nvPr/>
        </p:nvCxnSpPr>
        <p:spPr bwMode="auto">
          <a:xfrm>
            <a:off x="3869192" y="4892902"/>
            <a:ext cx="1" cy="936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B1C4344-86C7-45B2-9E2A-4B81978092AF}"/>
              </a:ext>
            </a:extLst>
          </p:cNvPr>
          <p:cNvSpPr txBox="1"/>
          <p:nvPr/>
        </p:nvSpPr>
        <p:spPr>
          <a:xfrm>
            <a:off x="10271463" y="5480566"/>
            <a:ext cx="59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Time</a:t>
            </a:r>
            <a:endParaRPr lang="zh-TW" altLang="en-US" sz="1400" dirty="0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2225E0D-48F0-4FAD-AE21-603B8512DEC8}"/>
              </a:ext>
            </a:extLst>
          </p:cNvPr>
          <p:cNvCxnSpPr>
            <a:cxnSpLocks/>
          </p:cNvCxnSpPr>
          <p:nvPr/>
        </p:nvCxnSpPr>
        <p:spPr bwMode="auto">
          <a:xfrm>
            <a:off x="1980192" y="4878492"/>
            <a:ext cx="1" cy="936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872874C-5BC3-4A84-A0AE-3F036A6FB187}"/>
              </a:ext>
            </a:extLst>
          </p:cNvPr>
          <p:cNvSpPr txBox="1"/>
          <p:nvPr/>
        </p:nvSpPr>
        <p:spPr>
          <a:xfrm>
            <a:off x="10252486" y="4966016"/>
            <a:ext cx="970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50"/>
                </a:solidFill>
              </a:rPr>
              <a:t>Raw Data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F9A37FD5-5553-4726-A826-4E0D4D2AAAE5}"/>
              </a:ext>
            </a:extLst>
          </p:cNvPr>
          <p:cNvSpPr txBox="1"/>
          <p:nvPr/>
        </p:nvSpPr>
        <p:spPr>
          <a:xfrm>
            <a:off x="1145995" y="5574264"/>
            <a:ext cx="832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7030A0"/>
                </a:solidFill>
              </a:rPr>
              <a:t>Baseline</a:t>
            </a:r>
            <a:endParaRPr lang="zh-TW" altLang="en-US" sz="1200" dirty="0">
              <a:solidFill>
                <a:srgbClr val="7030A0"/>
              </a:solidFill>
            </a:endParaRPr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181DF68C-AEC5-48D9-88F7-DDE4CA878031}"/>
              </a:ext>
            </a:extLst>
          </p:cNvPr>
          <p:cNvCxnSpPr/>
          <p:nvPr/>
        </p:nvCxnSpPr>
        <p:spPr bwMode="auto">
          <a:xfrm>
            <a:off x="1521707" y="5630454"/>
            <a:ext cx="873272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DA0E027-E0EC-4DBA-B4A8-714B0B3C2E56}"/>
              </a:ext>
            </a:extLst>
          </p:cNvPr>
          <p:cNvSpPr txBox="1"/>
          <p:nvPr/>
        </p:nvSpPr>
        <p:spPr>
          <a:xfrm>
            <a:off x="10264749" y="5221647"/>
            <a:ext cx="832650" cy="27699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7030A0"/>
                </a:solidFill>
              </a:rPr>
              <a:t>Baseline</a:t>
            </a:r>
            <a:endParaRPr lang="zh-TW" altLang="en-US" sz="1200" dirty="0">
              <a:solidFill>
                <a:srgbClr val="7030A0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BC581243-50E4-4E22-8EB9-95D446677E1D}"/>
              </a:ext>
            </a:extLst>
          </p:cNvPr>
          <p:cNvSpPr txBox="1"/>
          <p:nvPr/>
        </p:nvSpPr>
        <p:spPr>
          <a:xfrm>
            <a:off x="1094601" y="5304729"/>
            <a:ext cx="970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50"/>
                </a:solidFill>
              </a:rPr>
              <a:t>Raw Data</a:t>
            </a:r>
            <a:endParaRPr lang="zh-TW" altLang="en-US" sz="1200" dirty="0">
              <a:solidFill>
                <a:srgbClr val="00B050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AC02127-67BB-4AD3-8A99-30ED881C9C68}"/>
              </a:ext>
            </a:extLst>
          </p:cNvPr>
          <p:cNvSpPr/>
          <p:nvPr/>
        </p:nvSpPr>
        <p:spPr bwMode="auto">
          <a:xfrm>
            <a:off x="3328200" y="4226058"/>
            <a:ext cx="1029011" cy="8398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2EC20D68-8A9F-4187-BDB9-5FCC8106A22B}"/>
              </a:ext>
            </a:extLst>
          </p:cNvPr>
          <p:cNvSpPr txBox="1"/>
          <p:nvPr/>
        </p:nvSpPr>
        <p:spPr>
          <a:xfrm>
            <a:off x="2211515" y="3047279"/>
            <a:ext cx="3167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Touch with inverter and adaptor noise</a:t>
            </a:r>
            <a:endParaRPr lang="zh-TW" altLang="en-US" sz="14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338D6017-2A5B-4515-8C3D-93D11813C8D0}"/>
              </a:ext>
            </a:extLst>
          </p:cNvPr>
          <p:cNvSpPr txBox="1"/>
          <p:nvPr/>
        </p:nvSpPr>
        <p:spPr>
          <a:xfrm>
            <a:off x="4969503" y="4132392"/>
            <a:ext cx="2268510" cy="27699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rgbClr val="FF0000"/>
                </a:solidFill>
              </a:rPr>
              <a:t>Over signal threshold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手繪多邊形: 圖案 78">
            <a:extLst>
              <a:ext uri="{FF2B5EF4-FFF2-40B4-BE49-F238E27FC236}">
                <a16:creationId xmlns:a16="http://schemas.microsoft.com/office/drawing/2014/main" id="{27EE0B99-F6CA-4391-A082-EC284BC8AB0E}"/>
              </a:ext>
            </a:extLst>
          </p:cNvPr>
          <p:cNvSpPr/>
          <p:nvPr/>
        </p:nvSpPr>
        <p:spPr bwMode="auto">
          <a:xfrm>
            <a:off x="2006744" y="5170553"/>
            <a:ext cx="1853706" cy="189594"/>
          </a:xfrm>
          <a:custGeom>
            <a:avLst/>
            <a:gdLst>
              <a:gd name="connsiteX0" fmla="*/ 0 w 1766047"/>
              <a:gd name="connsiteY0" fmla="*/ 30052 h 182732"/>
              <a:gd name="connsiteX1" fmla="*/ 268941 w 1766047"/>
              <a:gd name="connsiteY1" fmla="*/ 128663 h 182732"/>
              <a:gd name="connsiteX2" fmla="*/ 502023 w 1766047"/>
              <a:gd name="connsiteY2" fmla="*/ 47981 h 182732"/>
              <a:gd name="connsiteX3" fmla="*/ 779929 w 1766047"/>
              <a:gd name="connsiteY3" fmla="*/ 74875 h 182732"/>
              <a:gd name="connsiteX4" fmla="*/ 1102658 w 1766047"/>
              <a:gd name="connsiteY4" fmla="*/ 182452 h 182732"/>
              <a:gd name="connsiteX5" fmla="*/ 1290917 w 1766047"/>
              <a:gd name="connsiteY5" fmla="*/ 39016 h 182732"/>
              <a:gd name="connsiteX6" fmla="*/ 1524000 w 1766047"/>
              <a:gd name="connsiteY6" fmla="*/ 3157 h 182732"/>
              <a:gd name="connsiteX7" fmla="*/ 1766047 w 1766047"/>
              <a:gd name="connsiteY7" fmla="*/ 101769 h 182732"/>
              <a:gd name="connsiteX8" fmla="*/ 1766047 w 1766047"/>
              <a:gd name="connsiteY8" fmla="*/ 101769 h 1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6047" h="182732">
                <a:moveTo>
                  <a:pt x="0" y="30052"/>
                </a:moveTo>
                <a:cubicBezTo>
                  <a:pt x="92635" y="77863"/>
                  <a:pt x="185271" y="125675"/>
                  <a:pt x="268941" y="128663"/>
                </a:cubicBezTo>
                <a:cubicBezTo>
                  <a:pt x="352611" y="131651"/>
                  <a:pt x="416858" y="56946"/>
                  <a:pt x="502023" y="47981"/>
                </a:cubicBezTo>
                <a:cubicBezTo>
                  <a:pt x="587188" y="39016"/>
                  <a:pt x="679823" y="52463"/>
                  <a:pt x="779929" y="74875"/>
                </a:cubicBezTo>
                <a:cubicBezTo>
                  <a:pt x="880035" y="97287"/>
                  <a:pt x="1017493" y="188428"/>
                  <a:pt x="1102658" y="182452"/>
                </a:cubicBezTo>
                <a:cubicBezTo>
                  <a:pt x="1187823" y="176476"/>
                  <a:pt x="1220693" y="68899"/>
                  <a:pt x="1290917" y="39016"/>
                </a:cubicBezTo>
                <a:cubicBezTo>
                  <a:pt x="1361141" y="9133"/>
                  <a:pt x="1444812" y="-7302"/>
                  <a:pt x="1524000" y="3157"/>
                </a:cubicBezTo>
                <a:cubicBezTo>
                  <a:pt x="1603188" y="13616"/>
                  <a:pt x="1766047" y="101769"/>
                  <a:pt x="1766047" y="101769"/>
                </a:cubicBezTo>
                <a:lnTo>
                  <a:pt x="1766047" y="101769"/>
                </a:lnTo>
              </a:path>
            </a:pathLst>
          </a:cu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A3AA011B-4323-492D-B44B-AC264D94B8CD}"/>
              </a:ext>
            </a:extLst>
          </p:cNvPr>
          <p:cNvCxnSpPr/>
          <p:nvPr/>
        </p:nvCxnSpPr>
        <p:spPr bwMode="auto">
          <a:xfrm>
            <a:off x="8319704" y="4872431"/>
            <a:ext cx="1" cy="936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手繪多邊形: 圖案 103">
            <a:extLst>
              <a:ext uri="{FF2B5EF4-FFF2-40B4-BE49-F238E27FC236}">
                <a16:creationId xmlns:a16="http://schemas.microsoft.com/office/drawing/2014/main" id="{26E89E14-6137-4189-9FA5-6E314C4E60D8}"/>
              </a:ext>
            </a:extLst>
          </p:cNvPr>
          <p:cNvSpPr/>
          <p:nvPr/>
        </p:nvSpPr>
        <p:spPr bwMode="auto">
          <a:xfrm>
            <a:off x="1988814" y="5181392"/>
            <a:ext cx="1907555" cy="165221"/>
          </a:xfrm>
          <a:custGeom>
            <a:avLst/>
            <a:gdLst>
              <a:gd name="connsiteX0" fmla="*/ 0 w 1907555"/>
              <a:gd name="connsiteY0" fmla="*/ 108861 h 165221"/>
              <a:gd name="connsiteX1" fmla="*/ 313764 w 1907555"/>
              <a:gd name="connsiteY1" fmla="*/ 28179 h 165221"/>
              <a:gd name="connsiteX2" fmla="*/ 672352 w 1907555"/>
              <a:gd name="connsiteY2" fmla="*/ 162649 h 165221"/>
              <a:gd name="connsiteX3" fmla="*/ 806823 w 1907555"/>
              <a:gd name="connsiteY3" fmla="*/ 90932 h 165221"/>
              <a:gd name="connsiteX4" fmla="*/ 1264023 w 1907555"/>
              <a:gd name="connsiteY4" fmla="*/ 1284 h 165221"/>
              <a:gd name="connsiteX5" fmla="*/ 1515035 w 1907555"/>
              <a:gd name="connsiteY5" fmla="*/ 162649 h 165221"/>
              <a:gd name="connsiteX6" fmla="*/ 1855694 w 1907555"/>
              <a:gd name="connsiteY6" fmla="*/ 99896 h 165221"/>
              <a:gd name="connsiteX7" fmla="*/ 1900517 w 1907555"/>
              <a:gd name="connsiteY7" fmla="*/ 90932 h 16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7555" h="165221">
                <a:moveTo>
                  <a:pt x="0" y="108861"/>
                </a:moveTo>
                <a:cubicBezTo>
                  <a:pt x="100852" y="64037"/>
                  <a:pt x="201705" y="19214"/>
                  <a:pt x="313764" y="28179"/>
                </a:cubicBezTo>
                <a:cubicBezTo>
                  <a:pt x="425823" y="37144"/>
                  <a:pt x="590176" y="152190"/>
                  <a:pt x="672352" y="162649"/>
                </a:cubicBezTo>
                <a:cubicBezTo>
                  <a:pt x="754528" y="173108"/>
                  <a:pt x="708211" y="117826"/>
                  <a:pt x="806823" y="90932"/>
                </a:cubicBezTo>
                <a:cubicBezTo>
                  <a:pt x="905435" y="64038"/>
                  <a:pt x="1145988" y="-10669"/>
                  <a:pt x="1264023" y="1284"/>
                </a:cubicBezTo>
                <a:cubicBezTo>
                  <a:pt x="1382058" y="13237"/>
                  <a:pt x="1416423" y="146214"/>
                  <a:pt x="1515035" y="162649"/>
                </a:cubicBezTo>
                <a:cubicBezTo>
                  <a:pt x="1613647" y="179084"/>
                  <a:pt x="1791447" y="111849"/>
                  <a:pt x="1855694" y="99896"/>
                </a:cubicBezTo>
                <a:cubicBezTo>
                  <a:pt x="1919941" y="87943"/>
                  <a:pt x="1910229" y="89437"/>
                  <a:pt x="1900517" y="90932"/>
                </a:cubicBezTo>
              </a:path>
            </a:pathLst>
          </a:cu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手繪多邊形: 圖案 104">
            <a:extLst>
              <a:ext uri="{FF2B5EF4-FFF2-40B4-BE49-F238E27FC236}">
                <a16:creationId xmlns:a16="http://schemas.microsoft.com/office/drawing/2014/main" id="{24ADE950-867C-4490-B7FF-AEE6B3C18B97}"/>
              </a:ext>
            </a:extLst>
          </p:cNvPr>
          <p:cNvSpPr/>
          <p:nvPr/>
        </p:nvSpPr>
        <p:spPr bwMode="auto">
          <a:xfrm>
            <a:off x="3880365" y="5236464"/>
            <a:ext cx="4437321" cy="0"/>
          </a:xfrm>
          <a:custGeom>
            <a:avLst/>
            <a:gdLst>
              <a:gd name="connsiteX0" fmla="*/ 0 w 3711388"/>
              <a:gd name="connsiteY0" fmla="*/ 8964 h 8964"/>
              <a:gd name="connsiteX1" fmla="*/ 3711388 w 3711388"/>
              <a:gd name="connsiteY1" fmla="*/ 0 h 8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1388" h="8964">
                <a:moveTo>
                  <a:pt x="0" y="8964"/>
                </a:moveTo>
                <a:lnTo>
                  <a:pt x="3711388" y="0"/>
                </a:lnTo>
              </a:path>
            </a:pathLst>
          </a:cu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7" name="圖片 116">
            <a:extLst>
              <a:ext uri="{FF2B5EF4-FFF2-40B4-BE49-F238E27FC236}">
                <a16:creationId xmlns:a16="http://schemas.microsoft.com/office/drawing/2014/main" id="{8D4AB40E-9E78-40FA-8A65-902EF532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14131" flipH="1" flipV="1">
            <a:off x="3533689" y="3506823"/>
            <a:ext cx="522866" cy="714049"/>
          </a:xfrm>
          <a:prstGeom prst="rect">
            <a:avLst/>
          </a:prstGeom>
        </p:spPr>
      </p:pic>
      <p:sp>
        <p:nvSpPr>
          <p:cNvPr id="119" name="手繪多邊形: 圖案 118">
            <a:extLst>
              <a:ext uri="{FF2B5EF4-FFF2-40B4-BE49-F238E27FC236}">
                <a16:creationId xmlns:a16="http://schemas.microsoft.com/office/drawing/2014/main" id="{44720779-E4EF-470C-9D19-46BBA29CFD34}"/>
              </a:ext>
            </a:extLst>
          </p:cNvPr>
          <p:cNvSpPr/>
          <p:nvPr/>
        </p:nvSpPr>
        <p:spPr bwMode="auto">
          <a:xfrm>
            <a:off x="3876676" y="4514850"/>
            <a:ext cx="4454164" cy="933624"/>
          </a:xfrm>
          <a:custGeom>
            <a:avLst/>
            <a:gdLst>
              <a:gd name="connsiteX0" fmla="*/ 0 w 4486275"/>
              <a:gd name="connsiteY0" fmla="*/ 762000 h 933624"/>
              <a:gd name="connsiteX1" fmla="*/ 342900 w 4486275"/>
              <a:gd name="connsiteY1" fmla="*/ 209550 h 933624"/>
              <a:gd name="connsiteX2" fmla="*/ 638175 w 4486275"/>
              <a:gd name="connsiteY2" fmla="*/ 571500 h 933624"/>
              <a:gd name="connsiteX3" fmla="*/ 952500 w 4486275"/>
              <a:gd name="connsiteY3" fmla="*/ 0 h 933624"/>
              <a:gd name="connsiteX4" fmla="*/ 1238250 w 4486275"/>
              <a:gd name="connsiteY4" fmla="*/ 571500 h 933624"/>
              <a:gd name="connsiteX5" fmla="*/ 1457325 w 4486275"/>
              <a:gd name="connsiteY5" fmla="*/ 161925 h 933624"/>
              <a:gd name="connsiteX6" fmla="*/ 1790700 w 4486275"/>
              <a:gd name="connsiteY6" fmla="*/ 895350 h 933624"/>
              <a:gd name="connsiteX7" fmla="*/ 1981200 w 4486275"/>
              <a:gd name="connsiteY7" fmla="*/ 295275 h 933624"/>
              <a:gd name="connsiteX8" fmla="*/ 2305050 w 4486275"/>
              <a:gd name="connsiteY8" fmla="*/ 895350 h 933624"/>
              <a:gd name="connsiteX9" fmla="*/ 2514600 w 4486275"/>
              <a:gd name="connsiteY9" fmla="*/ 66675 h 933624"/>
              <a:gd name="connsiteX10" fmla="*/ 2800350 w 4486275"/>
              <a:gd name="connsiteY10" fmla="*/ 895350 h 933624"/>
              <a:gd name="connsiteX11" fmla="*/ 3000375 w 4486275"/>
              <a:gd name="connsiteY11" fmla="*/ 209550 h 933624"/>
              <a:gd name="connsiteX12" fmla="*/ 3295650 w 4486275"/>
              <a:gd name="connsiteY12" fmla="*/ 676275 h 933624"/>
              <a:gd name="connsiteX13" fmla="*/ 3552825 w 4486275"/>
              <a:gd name="connsiteY13" fmla="*/ 219075 h 933624"/>
              <a:gd name="connsiteX14" fmla="*/ 3829050 w 4486275"/>
              <a:gd name="connsiteY14" fmla="*/ 933450 h 933624"/>
              <a:gd name="connsiteX15" fmla="*/ 4019550 w 4486275"/>
              <a:gd name="connsiteY15" fmla="*/ 142875 h 933624"/>
              <a:gd name="connsiteX16" fmla="*/ 4219575 w 4486275"/>
              <a:gd name="connsiteY16" fmla="*/ 638175 h 933624"/>
              <a:gd name="connsiteX17" fmla="*/ 4486275 w 4486275"/>
              <a:gd name="connsiteY17" fmla="*/ 762000 h 933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6275" h="933624">
                <a:moveTo>
                  <a:pt x="0" y="762000"/>
                </a:moveTo>
                <a:cubicBezTo>
                  <a:pt x="118269" y="501650"/>
                  <a:pt x="236538" y="241300"/>
                  <a:pt x="342900" y="209550"/>
                </a:cubicBezTo>
                <a:cubicBezTo>
                  <a:pt x="449263" y="177800"/>
                  <a:pt x="536575" y="606425"/>
                  <a:pt x="638175" y="571500"/>
                </a:cubicBezTo>
                <a:cubicBezTo>
                  <a:pt x="739775" y="536575"/>
                  <a:pt x="852488" y="0"/>
                  <a:pt x="952500" y="0"/>
                </a:cubicBezTo>
                <a:cubicBezTo>
                  <a:pt x="1052512" y="0"/>
                  <a:pt x="1154113" y="544513"/>
                  <a:pt x="1238250" y="571500"/>
                </a:cubicBezTo>
                <a:cubicBezTo>
                  <a:pt x="1322387" y="598487"/>
                  <a:pt x="1365250" y="107950"/>
                  <a:pt x="1457325" y="161925"/>
                </a:cubicBezTo>
                <a:cubicBezTo>
                  <a:pt x="1549400" y="215900"/>
                  <a:pt x="1703388" y="873125"/>
                  <a:pt x="1790700" y="895350"/>
                </a:cubicBezTo>
                <a:cubicBezTo>
                  <a:pt x="1878013" y="917575"/>
                  <a:pt x="1895475" y="295275"/>
                  <a:pt x="1981200" y="295275"/>
                </a:cubicBezTo>
                <a:cubicBezTo>
                  <a:pt x="2066925" y="295275"/>
                  <a:pt x="2216150" y="933450"/>
                  <a:pt x="2305050" y="895350"/>
                </a:cubicBezTo>
                <a:cubicBezTo>
                  <a:pt x="2393950" y="857250"/>
                  <a:pt x="2432050" y="66675"/>
                  <a:pt x="2514600" y="66675"/>
                </a:cubicBezTo>
                <a:cubicBezTo>
                  <a:pt x="2597150" y="66675"/>
                  <a:pt x="2719388" y="871538"/>
                  <a:pt x="2800350" y="895350"/>
                </a:cubicBezTo>
                <a:cubicBezTo>
                  <a:pt x="2881312" y="919162"/>
                  <a:pt x="2917825" y="246062"/>
                  <a:pt x="3000375" y="209550"/>
                </a:cubicBezTo>
                <a:cubicBezTo>
                  <a:pt x="3082925" y="173038"/>
                  <a:pt x="3203575" y="674687"/>
                  <a:pt x="3295650" y="676275"/>
                </a:cubicBezTo>
                <a:cubicBezTo>
                  <a:pt x="3387725" y="677862"/>
                  <a:pt x="3463925" y="176212"/>
                  <a:pt x="3552825" y="219075"/>
                </a:cubicBezTo>
                <a:cubicBezTo>
                  <a:pt x="3641725" y="261937"/>
                  <a:pt x="3751263" y="946150"/>
                  <a:pt x="3829050" y="933450"/>
                </a:cubicBezTo>
                <a:cubicBezTo>
                  <a:pt x="3906838" y="920750"/>
                  <a:pt x="3954463" y="192087"/>
                  <a:pt x="4019550" y="142875"/>
                </a:cubicBezTo>
                <a:cubicBezTo>
                  <a:pt x="4084637" y="93663"/>
                  <a:pt x="4141788" y="534987"/>
                  <a:pt x="4219575" y="638175"/>
                </a:cubicBezTo>
                <a:cubicBezTo>
                  <a:pt x="4297363" y="741362"/>
                  <a:pt x="4391819" y="751681"/>
                  <a:pt x="4486275" y="762000"/>
                </a:cubicBezTo>
              </a:path>
            </a:pathLst>
          </a:cu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手繪多邊形: 圖案 119">
            <a:extLst>
              <a:ext uri="{FF2B5EF4-FFF2-40B4-BE49-F238E27FC236}">
                <a16:creationId xmlns:a16="http://schemas.microsoft.com/office/drawing/2014/main" id="{6AB88254-AC09-4FC4-9F42-2E81BD5B2D8D}"/>
              </a:ext>
            </a:extLst>
          </p:cNvPr>
          <p:cNvSpPr/>
          <p:nvPr/>
        </p:nvSpPr>
        <p:spPr bwMode="auto">
          <a:xfrm>
            <a:off x="8364810" y="5159152"/>
            <a:ext cx="1853706" cy="189594"/>
          </a:xfrm>
          <a:custGeom>
            <a:avLst/>
            <a:gdLst>
              <a:gd name="connsiteX0" fmla="*/ 0 w 1766047"/>
              <a:gd name="connsiteY0" fmla="*/ 30052 h 182732"/>
              <a:gd name="connsiteX1" fmla="*/ 268941 w 1766047"/>
              <a:gd name="connsiteY1" fmla="*/ 128663 h 182732"/>
              <a:gd name="connsiteX2" fmla="*/ 502023 w 1766047"/>
              <a:gd name="connsiteY2" fmla="*/ 47981 h 182732"/>
              <a:gd name="connsiteX3" fmla="*/ 779929 w 1766047"/>
              <a:gd name="connsiteY3" fmla="*/ 74875 h 182732"/>
              <a:gd name="connsiteX4" fmla="*/ 1102658 w 1766047"/>
              <a:gd name="connsiteY4" fmla="*/ 182452 h 182732"/>
              <a:gd name="connsiteX5" fmla="*/ 1290917 w 1766047"/>
              <a:gd name="connsiteY5" fmla="*/ 39016 h 182732"/>
              <a:gd name="connsiteX6" fmla="*/ 1524000 w 1766047"/>
              <a:gd name="connsiteY6" fmla="*/ 3157 h 182732"/>
              <a:gd name="connsiteX7" fmla="*/ 1766047 w 1766047"/>
              <a:gd name="connsiteY7" fmla="*/ 101769 h 182732"/>
              <a:gd name="connsiteX8" fmla="*/ 1766047 w 1766047"/>
              <a:gd name="connsiteY8" fmla="*/ 101769 h 18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66047" h="182732">
                <a:moveTo>
                  <a:pt x="0" y="30052"/>
                </a:moveTo>
                <a:cubicBezTo>
                  <a:pt x="92635" y="77863"/>
                  <a:pt x="185271" y="125675"/>
                  <a:pt x="268941" y="128663"/>
                </a:cubicBezTo>
                <a:cubicBezTo>
                  <a:pt x="352611" y="131651"/>
                  <a:pt x="416858" y="56946"/>
                  <a:pt x="502023" y="47981"/>
                </a:cubicBezTo>
                <a:cubicBezTo>
                  <a:pt x="587188" y="39016"/>
                  <a:pt x="679823" y="52463"/>
                  <a:pt x="779929" y="74875"/>
                </a:cubicBezTo>
                <a:cubicBezTo>
                  <a:pt x="880035" y="97287"/>
                  <a:pt x="1017493" y="188428"/>
                  <a:pt x="1102658" y="182452"/>
                </a:cubicBezTo>
                <a:cubicBezTo>
                  <a:pt x="1187823" y="176476"/>
                  <a:pt x="1220693" y="68899"/>
                  <a:pt x="1290917" y="39016"/>
                </a:cubicBezTo>
                <a:cubicBezTo>
                  <a:pt x="1361141" y="9133"/>
                  <a:pt x="1444812" y="-7302"/>
                  <a:pt x="1524000" y="3157"/>
                </a:cubicBezTo>
                <a:cubicBezTo>
                  <a:pt x="1603188" y="13616"/>
                  <a:pt x="1766047" y="101769"/>
                  <a:pt x="1766047" y="101769"/>
                </a:cubicBezTo>
                <a:lnTo>
                  <a:pt x="1766047" y="101769"/>
                </a:lnTo>
              </a:path>
            </a:pathLst>
          </a:custGeom>
          <a:noFill/>
          <a:ln w="38100" cap="flat" cmpd="sng" algn="ctr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手繪多邊形: 圖案 120">
            <a:extLst>
              <a:ext uri="{FF2B5EF4-FFF2-40B4-BE49-F238E27FC236}">
                <a16:creationId xmlns:a16="http://schemas.microsoft.com/office/drawing/2014/main" id="{61812399-D948-4E53-AE83-8EBE5BFA51BA}"/>
              </a:ext>
            </a:extLst>
          </p:cNvPr>
          <p:cNvSpPr/>
          <p:nvPr/>
        </p:nvSpPr>
        <p:spPr bwMode="auto">
          <a:xfrm>
            <a:off x="8346880" y="5169991"/>
            <a:ext cx="1907555" cy="165221"/>
          </a:xfrm>
          <a:custGeom>
            <a:avLst/>
            <a:gdLst>
              <a:gd name="connsiteX0" fmla="*/ 0 w 1907555"/>
              <a:gd name="connsiteY0" fmla="*/ 108861 h 165221"/>
              <a:gd name="connsiteX1" fmla="*/ 313764 w 1907555"/>
              <a:gd name="connsiteY1" fmla="*/ 28179 h 165221"/>
              <a:gd name="connsiteX2" fmla="*/ 672352 w 1907555"/>
              <a:gd name="connsiteY2" fmla="*/ 162649 h 165221"/>
              <a:gd name="connsiteX3" fmla="*/ 806823 w 1907555"/>
              <a:gd name="connsiteY3" fmla="*/ 90932 h 165221"/>
              <a:gd name="connsiteX4" fmla="*/ 1264023 w 1907555"/>
              <a:gd name="connsiteY4" fmla="*/ 1284 h 165221"/>
              <a:gd name="connsiteX5" fmla="*/ 1515035 w 1907555"/>
              <a:gd name="connsiteY5" fmla="*/ 162649 h 165221"/>
              <a:gd name="connsiteX6" fmla="*/ 1855694 w 1907555"/>
              <a:gd name="connsiteY6" fmla="*/ 99896 h 165221"/>
              <a:gd name="connsiteX7" fmla="*/ 1900517 w 1907555"/>
              <a:gd name="connsiteY7" fmla="*/ 90932 h 16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7555" h="165221">
                <a:moveTo>
                  <a:pt x="0" y="108861"/>
                </a:moveTo>
                <a:cubicBezTo>
                  <a:pt x="100852" y="64037"/>
                  <a:pt x="201705" y="19214"/>
                  <a:pt x="313764" y="28179"/>
                </a:cubicBezTo>
                <a:cubicBezTo>
                  <a:pt x="425823" y="37144"/>
                  <a:pt x="590176" y="152190"/>
                  <a:pt x="672352" y="162649"/>
                </a:cubicBezTo>
                <a:cubicBezTo>
                  <a:pt x="754528" y="173108"/>
                  <a:pt x="708211" y="117826"/>
                  <a:pt x="806823" y="90932"/>
                </a:cubicBezTo>
                <a:cubicBezTo>
                  <a:pt x="905435" y="64038"/>
                  <a:pt x="1145988" y="-10669"/>
                  <a:pt x="1264023" y="1284"/>
                </a:cubicBezTo>
                <a:cubicBezTo>
                  <a:pt x="1382058" y="13237"/>
                  <a:pt x="1416423" y="146214"/>
                  <a:pt x="1515035" y="162649"/>
                </a:cubicBezTo>
                <a:cubicBezTo>
                  <a:pt x="1613647" y="179084"/>
                  <a:pt x="1791447" y="111849"/>
                  <a:pt x="1855694" y="99896"/>
                </a:cubicBezTo>
                <a:cubicBezTo>
                  <a:pt x="1919941" y="87943"/>
                  <a:pt x="1910229" y="89437"/>
                  <a:pt x="1900517" y="90932"/>
                </a:cubicBezTo>
              </a:path>
            </a:pathLst>
          </a:cu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E856653-088E-4A31-AAE7-1A9605BF4E32}"/>
              </a:ext>
            </a:extLst>
          </p:cNvPr>
          <p:cNvSpPr/>
          <p:nvPr/>
        </p:nvSpPr>
        <p:spPr bwMode="auto">
          <a:xfrm>
            <a:off x="7814911" y="4235869"/>
            <a:ext cx="1029011" cy="8398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4CFE08C0-B9C9-4CCF-AE94-C99B27348018}"/>
              </a:ext>
            </a:extLst>
          </p:cNvPr>
          <p:cNvSpPr txBox="1"/>
          <p:nvPr/>
        </p:nvSpPr>
        <p:spPr>
          <a:xfrm>
            <a:off x="7704508" y="3064228"/>
            <a:ext cx="1139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Touch</a:t>
            </a:r>
            <a:r>
              <a:rPr lang="zh-TW" altLang="en-US" sz="1400" dirty="0"/>
              <a:t> </a:t>
            </a:r>
            <a:r>
              <a:rPr lang="en-US" altLang="zh-TW" sz="1400" dirty="0"/>
              <a:t>leave</a:t>
            </a:r>
            <a:endParaRPr lang="zh-TW" altLang="en-US" sz="1400" dirty="0"/>
          </a:p>
        </p:txBody>
      </p:sp>
      <p:pic>
        <p:nvPicPr>
          <p:cNvPr id="125" name="圖片 124">
            <a:extLst>
              <a:ext uri="{FF2B5EF4-FFF2-40B4-BE49-F238E27FC236}">
                <a16:creationId xmlns:a16="http://schemas.microsoft.com/office/drawing/2014/main" id="{63D97676-6E79-4DFA-B670-3F79F07BE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14131" flipH="1" flipV="1">
            <a:off x="8020400" y="3335659"/>
            <a:ext cx="522866" cy="714049"/>
          </a:xfrm>
          <a:prstGeom prst="rect">
            <a:avLst/>
          </a:prstGeom>
        </p:spPr>
      </p:pic>
      <p:sp>
        <p:nvSpPr>
          <p:cNvPr id="129" name="矩形 128">
            <a:extLst>
              <a:ext uri="{FF2B5EF4-FFF2-40B4-BE49-F238E27FC236}">
                <a16:creationId xmlns:a16="http://schemas.microsoft.com/office/drawing/2014/main" id="{FE1B0ED8-CED5-4FC5-B884-2E246E38A1EA}"/>
              </a:ext>
            </a:extLst>
          </p:cNvPr>
          <p:cNvSpPr/>
          <p:nvPr/>
        </p:nvSpPr>
        <p:spPr bwMode="auto">
          <a:xfrm>
            <a:off x="3903163" y="4427634"/>
            <a:ext cx="4382571" cy="68056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31" name="文字方塊 45">
            <a:extLst>
              <a:ext uri="{FF2B5EF4-FFF2-40B4-BE49-F238E27FC236}">
                <a16:creationId xmlns:a16="http://schemas.microsoft.com/office/drawing/2014/main" id="{B09775D8-2ED2-49B0-BD83-8A0DB60270B9}"/>
              </a:ext>
            </a:extLst>
          </p:cNvPr>
          <p:cNvSpPr txBox="1"/>
          <p:nvPr/>
        </p:nvSpPr>
        <p:spPr>
          <a:xfrm>
            <a:off x="862193" y="6015016"/>
            <a:ext cx="137339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200" b="1" baseline="0" dirty="0">
                <a:solidFill>
                  <a:srgbClr val="00B0F0"/>
                </a:solidFill>
              </a:rPr>
              <a:t>Report </a:t>
            </a:r>
            <a:endParaRPr lang="en-US" altLang="zh-TW" sz="1200" b="1" dirty="0">
              <a:solidFill>
                <a:srgbClr val="00B0F0"/>
              </a:solidFill>
            </a:endParaRPr>
          </a:p>
          <a:p>
            <a:pPr algn="ctr"/>
            <a:r>
              <a:rPr lang="en-US" altLang="zh-TW" sz="1200" b="1" baseline="0" dirty="0">
                <a:solidFill>
                  <a:srgbClr val="00B0F0"/>
                </a:solidFill>
              </a:rPr>
              <a:t>point</a:t>
            </a:r>
            <a:endParaRPr lang="zh-TW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132" name="直線單箭頭接點 131">
            <a:extLst>
              <a:ext uri="{FF2B5EF4-FFF2-40B4-BE49-F238E27FC236}">
                <a16:creationId xmlns:a16="http://schemas.microsoft.com/office/drawing/2014/main" id="{F7ABF546-E218-4A41-8531-F26B87E28098}"/>
              </a:ext>
            </a:extLst>
          </p:cNvPr>
          <p:cNvCxnSpPr/>
          <p:nvPr/>
        </p:nvCxnSpPr>
        <p:spPr bwMode="auto">
          <a:xfrm>
            <a:off x="3896368" y="6231856"/>
            <a:ext cx="1618607" cy="7382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線單箭頭接點 136">
            <a:extLst>
              <a:ext uri="{FF2B5EF4-FFF2-40B4-BE49-F238E27FC236}">
                <a16:creationId xmlns:a16="http://schemas.microsoft.com/office/drawing/2014/main" id="{53FC6CB4-F5C7-4FB2-B6F8-EF3255A68C0A}"/>
              </a:ext>
            </a:extLst>
          </p:cNvPr>
          <p:cNvCxnSpPr/>
          <p:nvPr/>
        </p:nvCxnSpPr>
        <p:spPr bwMode="auto">
          <a:xfrm flipV="1">
            <a:off x="5717937" y="6241744"/>
            <a:ext cx="33517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A4F5C319-083F-4BBF-AEB0-6FCF44CE7FA5}"/>
              </a:ext>
            </a:extLst>
          </p:cNvPr>
          <p:cNvCxnSpPr/>
          <p:nvPr/>
        </p:nvCxnSpPr>
        <p:spPr bwMode="auto">
          <a:xfrm flipV="1">
            <a:off x="6238352" y="6234621"/>
            <a:ext cx="33517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線單箭頭接點 139">
            <a:extLst>
              <a:ext uri="{FF2B5EF4-FFF2-40B4-BE49-F238E27FC236}">
                <a16:creationId xmlns:a16="http://schemas.microsoft.com/office/drawing/2014/main" id="{5C203D5A-5DBE-4D85-B48A-8691F91F70BC}"/>
              </a:ext>
            </a:extLst>
          </p:cNvPr>
          <p:cNvCxnSpPr/>
          <p:nvPr/>
        </p:nvCxnSpPr>
        <p:spPr bwMode="auto">
          <a:xfrm flipV="1">
            <a:off x="6749524" y="6243936"/>
            <a:ext cx="33517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327BCD23-DB74-49DF-B1FE-83B345C564FC}"/>
              </a:ext>
            </a:extLst>
          </p:cNvPr>
          <p:cNvCxnSpPr/>
          <p:nvPr/>
        </p:nvCxnSpPr>
        <p:spPr bwMode="auto">
          <a:xfrm flipV="1">
            <a:off x="7230537" y="6243936"/>
            <a:ext cx="33517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4C03C1AF-07B7-4DA2-81B5-18267E09D7FA}"/>
              </a:ext>
            </a:extLst>
          </p:cNvPr>
          <p:cNvCxnSpPr/>
          <p:nvPr/>
        </p:nvCxnSpPr>
        <p:spPr bwMode="auto">
          <a:xfrm>
            <a:off x="7761664" y="6252325"/>
            <a:ext cx="289820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D12B5EE8-F829-4C8E-898F-B726167439A7}"/>
              </a:ext>
            </a:extLst>
          </p:cNvPr>
          <p:cNvSpPr txBox="1"/>
          <p:nvPr/>
        </p:nvSpPr>
        <p:spPr>
          <a:xfrm>
            <a:off x="4304364" y="6395551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C083C0A2-C6D6-4FD4-AC52-C4E7C2A24800}"/>
              </a:ext>
            </a:extLst>
          </p:cNvPr>
          <p:cNvSpPr txBox="1"/>
          <p:nvPr/>
        </p:nvSpPr>
        <p:spPr>
          <a:xfrm>
            <a:off x="5505063" y="6386914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51B59140-0790-4BD5-AE9C-662749BF5820}"/>
              </a:ext>
            </a:extLst>
          </p:cNvPr>
          <p:cNvCxnSpPr>
            <a:cxnSpLocks/>
          </p:cNvCxnSpPr>
          <p:nvPr/>
        </p:nvCxnSpPr>
        <p:spPr>
          <a:xfrm>
            <a:off x="5505063" y="5061208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E56B2A4F-5136-4BD7-AB52-062FAEB323B5}"/>
              </a:ext>
            </a:extLst>
          </p:cNvPr>
          <p:cNvCxnSpPr>
            <a:cxnSpLocks/>
          </p:cNvCxnSpPr>
          <p:nvPr/>
        </p:nvCxnSpPr>
        <p:spPr>
          <a:xfrm>
            <a:off x="5722700" y="5073645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A3DAC5E-11BB-4360-AC10-1361E16E9A1B}"/>
              </a:ext>
            </a:extLst>
          </p:cNvPr>
          <p:cNvCxnSpPr>
            <a:cxnSpLocks/>
          </p:cNvCxnSpPr>
          <p:nvPr/>
        </p:nvCxnSpPr>
        <p:spPr>
          <a:xfrm>
            <a:off x="6029828" y="5074828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99E115E2-A2FD-4206-B755-769B7E5BBF50}"/>
              </a:ext>
            </a:extLst>
          </p:cNvPr>
          <p:cNvCxnSpPr>
            <a:cxnSpLocks/>
          </p:cNvCxnSpPr>
          <p:nvPr/>
        </p:nvCxnSpPr>
        <p:spPr>
          <a:xfrm>
            <a:off x="6223023" y="5080700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D51885EA-C94E-4CA1-A09A-1188ABAB56F7}"/>
              </a:ext>
            </a:extLst>
          </p:cNvPr>
          <p:cNvCxnSpPr>
            <a:cxnSpLocks/>
          </p:cNvCxnSpPr>
          <p:nvPr/>
        </p:nvCxnSpPr>
        <p:spPr>
          <a:xfrm>
            <a:off x="6565370" y="5073645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FD0CE2F2-9B8D-4EA8-B4BE-E10E2E9D7949}"/>
              </a:ext>
            </a:extLst>
          </p:cNvPr>
          <p:cNvSpPr txBox="1"/>
          <p:nvPr/>
        </p:nvSpPr>
        <p:spPr>
          <a:xfrm>
            <a:off x="6039240" y="6382014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C3F2F66F-FDC3-473A-9E75-6FEB5F44ED6C}"/>
              </a:ext>
            </a:extLst>
          </p:cNvPr>
          <p:cNvCxnSpPr>
            <a:cxnSpLocks/>
          </p:cNvCxnSpPr>
          <p:nvPr/>
        </p:nvCxnSpPr>
        <p:spPr>
          <a:xfrm>
            <a:off x="6742821" y="5073645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45349AFA-2CCE-45B7-845E-B52DF930AD2C}"/>
              </a:ext>
            </a:extLst>
          </p:cNvPr>
          <p:cNvCxnSpPr>
            <a:cxnSpLocks/>
          </p:cNvCxnSpPr>
          <p:nvPr/>
        </p:nvCxnSpPr>
        <p:spPr>
          <a:xfrm>
            <a:off x="7075169" y="5075496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直線接點 163">
            <a:extLst>
              <a:ext uri="{FF2B5EF4-FFF2-40B4-BE49-F238E27FC236}">
                <a16:creationId xmlns:a16="http://schemas.microsoft.com/office/drawing/2014/main" id="{0B8543DA-AD0A-4E30-90AF-6EA0339BE9CB}"/>
              </a:ext>
            </a:extLst>
          </p:cNvPr>
          <p:cNvCxnSpPr>
            <a:cxnSpLocks/>
          </p:cNvCxnSpPr>
          <p:nvPr/>
        </p:nvCxnSpPr>
        <p:spPr>
          <a:xfrm>
            <a:off x="7223866" y="5072637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A0D749CD-BD78-4A8B-9F97-445CAF80E8B9}"/>
              </a:ext>
            </a:extLst>
          </p:cNvPr>
          <p:cNvCxnSpPr>
            <a:cxnSpLocks/>
          </p:cNvCxnSpPr>
          <p:nvPr/>
        </p:nvCxnSpPr>
        <p:spPr>
          <a:xfrm>
            <a:off x="7556182" y="5065302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ACF96B04-3CC2-4DEF-B18B-F3EE9B134213}"/>
              </a:ext>
            </a:extLst>
          </p:cNvPr>
          <p:cNvCxnSpPr>
            <a:cxnSpLocks/>
          </p:cNvCxnSpPr>
          <p:nvPr/>
        </p:nvCxnSpPr>
        <p:spPr>
          <a:xfrm>
            <a:off x="7756208" y="5065301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94CBED6C-EDAC-473A-9AFE-D3E5FFD47739}"/>
              </a:ext>
            </a:extLst>
          </p:cNvPr>
          <p:cNvCxnSpPr>
            <a:cxnSpLocks/>
          </p:cNvCxnSpPr>
          <p:nvPr/>
        </p:nvCxnSpPr>
        <p:spPr>
          <a:xfrm>
            <a:off x="8051484" y="5071972"/>
            <a:ext cx="0" cy="1285617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5F3CCA2A-DC86-4F5F-9E42-C0F31040C3BF}"/>
              </a:ext>
            </a:extLst>
          </p:cNvPr>
          <p:cNvSpPr txBox="1"/>
          <p:nvPr/>
        </p:nvSpPr>
        <p:spPr>
          <a:xfrm>
            <a:off x="6547582" y="6395551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0BC763B2-8ED9-48EC-86EA-78C855FF4C87}"/>
              </a:ext>
            </a:extLst>
          </p:cNvPr>
          <p:cNvSpPr txBox="1"/>
          <p:nvPr/>
        </p:nvSpPr>
        <p:spPr>
          <a:xfrm>
            <a:off x="7035284" y="6381263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5D11AC0B-D385-4873-9824-43844C35DECE}"/>
              </a:ext>
            </a:extLst>
          </p:cNvPr>
          <p:cNvSpPr txBox="1"/>
          <p:nvPr/>
        </p:nvSpPr>
        <p:spPr>
          <a:xfrm>
            <a:off x="7538358" y="6373927"/>
            <a:ext cx="70358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00B0F0"/>
                </a:solidFill>
              </a:rPr>
              <a:t>報點</a:t>
            </a:r>
          </a:p>
        </p:txBody>
      </p:sp>
      <p:sp>
        <p:nvSpPr>
          <p:cNvPr id="172" name="文字方塊 45">
            <a:extLst>
              <a:ext uri="{FF2B5EF4-FFF2-40B4-BE49-F238E27FC236}">
                <a16:creationId xmlns:a16="http://schemas.microsoft.com/office/drawing/2014/main" id="{36E0AF4D-8BD5-41E9-AE87-798308100103}"/>
              </a:ext>
            </a:extLst>
          </p:cNvPr>
          <p:cNvSpPr txBox="1"/>
          <p:nvPr/>
        </p:nvSpPr>
        <p:spPr>
          <a:xfrm>
            <a:off x="875624" y="3774867"/>
            <a:ext cx="1373392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200" b="1" baseline="0" dirty="0">
                <a:solidFill>
                  <a:srgbClr val="3333FF"/>
                </a:solidFill>
              </a:rPr>
              <a:t>Touch </a:t>
            </a:r>
            <a:endParaRPr lang="en-US" altLang="zh-TW" sz="1200" b="1" dirty="0">
              <a:solidFill>
                <a:srgbClr val="3333FF"/>
              </a:solidFill>
            </a:endParaRPr>
          </a:p>
          <a:p>
            <a:pPr algn="ctr"/>
            <a:r>
              <a:rPr lang="en-US" altLang="zh-TW" sz="1200" b="1" baseline="0" dirty="0">
                <a:solidFill>
                  <a:srgbClr val="3333FF"/>
                </a:solidFill>
              </a:rPr>
              <a:t>behavior</a:t>
            </a:r>
            <a:endParaRPr lang="zh-TW" altLang="en-US" sz="1200" b="1" dirty="0">
              <a:solidFill>
                <a:srgbClr val="3333FF"/>
              </a:solidFill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7AE52B2D-5D06-4767-9014-02DDAE56D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59" y="4569116"/>
            <a:ext cx="2186970" cy="218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45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+mn-ea"/>
              </a:rPr>
              <a:t>在整車上，使用逆變器連接車用</a:t>
            </a:r>
            <a:r>
              <a:rPr lang="en-US" altLang="zh-TW" sz="1600" dirty="0">
                <a:latin typeface="+mn-ea"/>
              </a:rPr>
              <a:t>12V</a:t>
            </a:r>
            <a:r>
              <a:rPr lang="zh-TW" altLang="en-US" sz="1600" dirty="0">
                <a:latin typeface="+mn-ea"/>
              </a:rPr>
              <a:t>電源後，再把充電器連接逆變器來對各種設備充電，其會出現電源雜訊。</a:t>
            </a:r>
            <a:endParaRPr lang="en-US" altLang="zh-TW" sz="1600" dirty="0">
              <a:latin typeface="+mn-ea"/>
            </a:endParaRPr>
          </a:p>
          <a:p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使用者在未接觸面板時，此時沒有形成迴路，所以對</a:t>
            </a:r>
            <a:r>
              <a:rPr lang="en-US" altLang="zh-TW" sz="1600" dirty="0">
                <a:latin typeface="+mn-ea"/>
              </a:rPr>
              <a:t>Touch</a:t>
            </a:r>
            <a:r>
              <a:rPr lang="zh-TW" altLang="en-US" sz="1600" dirty="0">
                <a:latin typeface="+mn-ea"/>
              </a:rPr>
              <a:t>不會有影響。</a:t>
            </a:r>
            <a:endParaRPr lang="en-US" altLang="zh-TW" sz="1600" dirty="0">
              <a:latin typeface="+mn-ea"/>
            </a:endParaRPr>
          </a:p>
          <a:p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使用者在接觸干擾源且觸控面板時，此時形成</a:t>
            </a:r>
            <a:r>
              <a:rPr lang="en-US" altLang="zh-TW" sz="1600" dirty="0"/>
              <a:t>Car Ground</a:t>
            </a:r>
            <a:r>
              <a:rPr lang="zh-TW" altLang="en-US" sz="1600" dirty="0"/>
              <a:t>和</a:t>
            </a:r>
            <a:r>
              <a:rPr lang="en-US" altLang="zh-TW" sz="1600" dirty="0"/>
              <a:t>Adaptor Ground</a:t>
            </a:r>
            <a:r>
              <a:rPr lang="zh-TW" altLang="en-US" sz="1600" dirty="0"/>
              <a:t>有</a:t>
            </a:r>
            <a:r>
              <a:rPr lang="en-US" altLang="zh-TW" sz="1600" dirty="0"/>
              <a:t>Noise</a:t>
            </a:r>
            <a:r>
              <a:rPr lang="zh-TW" altLang="en-US" sz="1600" dirty="0">
                <a:latin typeface="+mn-ea"/>
              </a:rPr>
              <a:t>迴路，所以對</a:t>
            </a:r>
            <a:r>
              <a:rPr lang="en-US" altLang="zh-TW" sz="1600" dirty="0">
                <a:latin typeface="+mn-ea"/>
              </a:rPr>
              <a:t>Touch</a:t>
            </a:r>
            <a:r>
              <a:rPr lang="zh-TW" altLang="en-US" sz="1600" dirty="0">
                <a:latin typeface="+mn-ea"/>
              </a:rPr>
              <a:t>有影響。</a:t>
            </a:r>
            <a:endParaRPr lang="en-US" altLang="zh-TW" sz="1600" dirty="0">
              <a:latin typeface="+mn-ea"/>
            </a:endParaRPr>
          </a:p>
          <a:p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不同逆變器可能存在不同干擾成分及頻段</a:t>
            </a:r>
            <a:endParaRPr lang="en-US" altLang="zh-TW" sz="1600" dirty="0">
              <a:latin typeface="+mn-ea"/>
            </a:endParaRPr>
          </a:p>
          <a:p>
            <a:pPr lvl="1"/>
            <a:r>
              <a:rPr lang="en-US" altLang="zh-TW" sz="1400" dirty="0">
                <a:latin typeface="+mn-ea"/>
              </a:rPr>
              <a:t>AC Noise : </a:t>
            </a:r>
            <a:r>
              <a:rPr lang="zh-TW" altLang="en-US" sz="1400" dirty="0">
                <a:latin typeface="+mn-ea"/>
              </a:rPr>
              <a:t>可透過</a:t>
            </a:r>
            <a:r>
              <a:rPr lang="en-US" altLang="zh-TW" sz="1400" dirty="0">
                <a:latin typeface="+mn-ea"/>
              </a:rPr>
              <a:t>FW</a:t>
            </a:r>
            <a:r>
              <a:rPr lang="zh-TW" altLang="en-US" sz="1400" dirty="0">
                <a:latin typeface="+mn-ea"/>
              </a:rPr>
              <a:t>改善</a:t>
            </a:r>
            <a:endParaRPr lang="en-US" altLang="zh-TW" sz="1400" dirty="0">
              <a:latin typeface="+mn-ea"/>
            </a:endParaRPr>
          </a:p>
          <a:p>
            <a:pPr lvl="2"/>
            <a:r>
              <a:rPr lang="zh-TW" altLang="en-US" sz="1400" b="1" dirty="0">
                <a:latin typeface="+mn-ea"/>
              </a:rPr>
              <a:t>策略</a:t>
            </a:r>
            <a:r>
              <a:rPr lang="en-US" altLang="zh-TW" sz="1400" b="1" dirty="0">
                <a:latin typeface="+mn-ea"/>
              </a:rPr>
              <a:t>1</a:t>
            </a:r>
            <a:br>
              <a:rPr lang="en-US" altLang="zh-TW" sz="1400" dirty="0">
                <a:latin typeface="+mn-ea"/>
              </a:rPr>
            </a:br>
            <a:r>
              <a:rPr lang="zh-TW" altLang="en-US" sz="1400" dirty="0">
                <a:latin typeface="+mn-ea"/>
              </a:rPr>
              <a:t>開啟跳頻機制，偵測當前</a:t>
            </a:r>
            <a:r>
              <a:rPr lang="en-US" altLang="zh-TW" sz="1400" dirty="0">
                <a:latin typeface="+mn-ea"/>
              </a:rPr>
              <a:t>Nosie</a:t>
            </a:r>
            <a:r>
              <a:rPr lang="zh-TW" altLang="en-US" sz="1400" dirty="0">
                <a:latin typeface="+mn-ea"/>
              </a:rPr>
              <a:t>干擾</a:t>
            </a:r>
            <a:r>
              <a:rPr lang="en-US" altLang="zh-TW" sz="1400" dirty="0">
                <a:latin typeface="+mn-ea"/>
              </a:rPr>
              <a:t>(</a:t>
            </a:r>
            <a:r>
              <a:rPr lang="zh-TW" altLang="en-US" sz="1400" dirty="0">
                <a:latin typeface="+mn-ea"/>
              </a:rPr>
              <a:t>是否與</a:t>
            </a:r>
            <a:r>
              <a:rPr lang="en-US" altLang="zh-TW" sz="1400" dirty="0">
                <a:latin typeface="+mn-ea"/>
              </a:rPr>
              <a:t>Touch Sensing</a:t>
            </a:r>
            <a:r>
              <a:rPr lang="zh-TW" altLang="en-US" sz="1400" dirty="0">
                <a:latin typeface="+mn-ea"/>
              </a:rPr>
              <a:t>頻率相近</a:t>
            </a:r>
            <a:r>
              <a:rPr lang="en-US" altLang="zh-TW" sz="1400" dirty="0">
                <a:latin typeface="+mn-ea"/>
              </a:rPr>
              <a:t>)</a:t>
            </a:r>
            <a:r>
              <a:rPr lang="zh-TW" altLang="en-US" sz="1400" dirty="0">
                <a:latin typeface="+mn-ea"/>
              </a:rPr>
              <a:t>，若判斷受干擾，則跳至另一個頻段</a:t>
            </a:r>
            <a:r>
              <a:rPr lang="en-US" altLang="zh-TW" sz="1400" dirty="0">
                <a:latin typeface="+mn-ea"/>
              </a:rPr>
              <a:t>f1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29KHz  </a:t>
            </a:r>
            <a:br>
              <a:rPr lang="en-US" altLang="zh-TW" sz="1400" dirty="0">
                <a:latin typeface="+mn-ea"/>
              </a:rPr>
            </a:br>
            <a:r>
              <a:rPr lang="en-US" altLang="zh-TW" sz="1400" dirty="0">
                <a:latin typeface="+mn-ea"/>
              </a:rPr>
              <a:t>(</a:t>
            </a:r>
            <a:r>
              <a:rPr lang="zh-TW" altLang="en-US" sz="1400" dirty="0">
                <a:latin typeface="+mn-ea"/>
              </a:rPr>
              <a:t>預設</a:t>
            </a:r>
            <a:r>
              <a:rPr lang="en-US" altLang="zh-TW" sz="1400" dirty="0">
                <a:latin typeface="+mn-ea"/>
              </a:rPr>
              <a:t>Touch Sensing</a:t>
            </a:r>
            <a:r>
              <a:rPr lang="zh-TW" altLang="en-US" sz="1400" dirty="0">
                <a:latin typeface="+mn-ea"/>
              </a:rPr>
              <a:t>主頻</a:t>
            </a:r>
            <a:r>
              <a:rPr lang="en-US" altLang="zh-TW" sz="1400" dirty="0">
                <a:latin typeface="+mn-ea"/>
              </a:rPr>
              <a:t>f0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46KHz</a:t>
            </a:r>
            <a:r>
              <a:rPr lang="zh-TW" altLang="en-US" sz="1400" dirty="0">
                <a:latin typeface="+mn-ea"/>
              </a:rPr>
              <a:t>，副頻</a:t>
            </a:r>
            <a:r>
              <a:rPr lang="en-US" altLang="zh-TW" sz="1400" dirty="0">
                <a:latin typeface="+mn-ea"/>
              </a:rPr>
              <a:t>f1</a:t>
            </a:r>
            <a:r>
              <a:rPr lang="zh-TW" altLang="en-US" sz="1400" dirty="0">
                <a:latin typeface="+mn-ea"/>
              </a:rPr>
              <a:t>為</a:t>
            </a:r>
            <a:r>
              <a:rPr lang="en-US" altLang="zh-TW" sz="1400" dirty="0">
                <a:latin typeface="+mn-ea"/>
              </a:rPr>
              <a:t>29kHz)</a:t>
            </a:r>
            <a:endParaRPr lang="zh-TW" altLang="en-US" sz="1400" dirty="0">
              <a:latin typeface="+mn-ea"/>
            </a:endParaRPr>
          </a:p>
          <a:p>
            <a:pPr lvl="2"/>
            <a:r>
              <a:rPr lang="zh-TW" altLang="en-US" sz="1400" b="1" dirty="0">
                <a:latin typeface="+mn-ea"/>
              </a:rPr>
              <a:t>策略</a:t>
            </a:r>
            <a:r>
              <a:rPr lang="en-US" altLang="zh-TW" sz="1400" b="1" dirty="0">
                <a:latin typeface="+mn-ea"/>
              </a:rPr>
              <a:t>2</a:t>
            </a:r>
            <a:br>
              <a:rPr lang="en-US" altLang="zh-TW" sz="1400" dirty="0">
                <a:latin typeface="+mn-ea"/>
              </a:rPr>
            </a:br>
            <a:r>
              <a:rPr lang="zh-TW" altLang="en-US" sz="1400" dirty="0">
                <a:latin typeface="+mn-ea"/>
              </a:rPr>
              <a:t>根據特定逆變器型號及材質，必須量測其干擾源的頻段，找尋其他雜訊干擾較小頻段，使其不易因相同頻率而收到干擾</a:t>
            </a:r>
            <a:endParaRPr lang="en-US" altLang="zh-TW" sz="1400" dirty="0">
              <a:latin typeface="+mn-ea"/>
            </a:endParaRPr>
          </a:p>
          <a:p>
            <a:pPr lvl="2"/>
            <a:endParaRPr lang="en-US" altLang="zh-TW" sz="1400" dirty="0">
              <a:latin typeface="+mn-ea"/>
            </a:endParaRPr>
          </a:p>
          <a:p>
            <a:pPr lvl="1"/>
            <a:r>
              <a:rPr lang="en-US" altLang="zh-TW" sz="1400" dirty="0">
                <a:latin typeface="+mn-ea"/>
              </a:rPr>
              <a:t>AC+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>
                <a:latin typeface="+mn-ea"/>
              </a:rPr>
              <a:t>DC Noise : </a:t>
            </a:r>
            <a:r>
              <a:rPr lang="zh-TW" altLang="en-US" sz="1400" dirty="0">
                <a:latin typeface="+mn-ea"/>
              </a:rPr>
              <a:t>需增加硬體改善</a:t>
            </a:r>
            <a:endParaRPr lang="en-US" altLang="zh-TW" sz="1400" dirty="0">
              <a:latin typeface="+mn-ea"/>
            </a:endParaRPr>
          </a:p>
          <a:p>
            <a:pPr lvl="2"/>
            <a:r>
              <a:rPr lang="zh-TW" altLang="en-US" sz="1400" b="1" dirty="0">
                <a:latin typeface="+mn-ea"/>
              </a:rPr>
              <a:t>策略</a:t>
            </a:r>
            <a:r>
              <a:rPr lang="en-US" altLang="zh-TW" sz="1400" b="1" dirty="0">
                <a:latin typeface="+mn-ea"/>
              </a:rPr>
              <a:t>1</a:t>
            </a:r>
            <a:br>
              <a:rPr lang="en-US" altLang="zh-TW" sz="1400" dirty="0">
                <a:latin typeface="+mn-ea"/>
              </a:rPr>
            </a:br>
            <a:r>
              <a:rPr lang="zh-TW" altLang="en-US" sz="1400" dirty="0">
                <a:latin typeface="+mn-ea"/>
              </a:rPr>
              <a:t>適當增加系統濾波係數</a:t>
            </a:r>
            <a:endParaRPr lang="en-US" altLang="zh-TW" sz="1400" dirty="0">
              <a:latin typeface="+mn-ea"/>
            </a:endParaRPr>
          </a:p>
          <a:p>
            <a:pPr lvl="2"/>
            <a:r>
              <a:rPr lang="zh-TW" altLang="en-US" sz="1400" b="1" dirty="0">
                <a:latin typeface="+mn-ea"/>
              </a:rPr>
              <a:t>策略</a:t>
            </a:r>
            <a:r>
              <a:rPr lang="en-US" altLang="zh-TW" sz="1400" b="1" dirty="0">
                <a:latin typeface="+mn-ea"/>
              </a:rPr>
              <a:t>2</a:t>
            </a:r>
            <a:br>
              <a:rPr lang="en-US" altLang="zh-TW" sz="1400" dirty="0">
                <a:latin typeface="+mn-ea"/>
              </a:rPr>
            </a:br>
            <a:r>
              <a:rPr lang="zh-TW" altLang="en-US" sz="1400" dirty="0">
                <a:latin typeface="+mn-ea"/>
              </a:rPr>
              <a:t>增加與整車</a:t>
            </a:r>
            <a:r>
              <a:rPr lang="en-US" altLang="zh-TW" sz="1400" dirty="0">
                <a:latin typeface="+mn-ea"/>
              </a:rPr>
              <a:t>GND</a:t>
            </a:r>
            <a:r>
              <a:rPr lang="zh-TW" altLang="en-US" sz="1400" dirty="0">
                <a:latin typeface="+mn-ea"/>
              </a:rPr>
              <a:t>的連接性</a:t>
            </a:r>
            <a:endParaRPr lang="en-US" altLang="zh-TW" sz="1400" dirty="0">
              <a:latin typeface="+mn-ea"/>
            </a:endParaRPr>
          </a:p>
          <a:p>
            <a:pPr lvl="2"/>
            <a:endParaRPr lang="en-US" altLang="zh-TW" sz="1400" dirty="0">
              <a:latin typeface="+mn-ea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</a:t>
            </a:r>
            <a:r>
              <a:rPr lang="zh-TW" altLang="en-US" dirty="0"/>
              <a:t>總結說明</a:t>
            </a:r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8086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B9AB509-ED33-4B40-83F5-3E564D839915}"/>
              </a:ext>
            </a:extLst>
          </p:cNvPr>
          <p:cNvSpPr txBox="1">
            <a:spLocks/>
          </p:cNvSpPr>
          <p:nvPr/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+mn-ea"/>
              </a:rPr>
              <a:t>FW</a:t>
            </a:r>
            <a:r>
              <a:rPr lang="zh-TW" altLang="en-US" sz="1600" dirty="0">
                <a:latin typeface="+mn-ea"/>
              </a:rPr>
              <a:t>改善方法對系統影響</a:t>
            </a:r>
            <a:endParaRPr lang="en-US" altLang="zh-TW" sz="1600" dirty="0">
              <a:latin typeface="+mn-ea"/>
            </a:endParaRPr>
          </a:p>
          <a:p>
            <a:pPr lvl="1"/>
            <a:r>
              <a:rPr lang="en-US" altLang="zh-TW" sz="1400" dirty="0">
                <a:latin typeface="+mn-ea"/>
              </a:rPr>
              <a:t>FW</a:t>
            </a:r>
            <a:r>
              <a:rPr lang="zh-TW" altLang="en-US" sz="1400" dirty="0">
                <a:latin typeface="+mn-ea"/>
              </a:rPr>
              <a:t>改動到</a:t>
            </a:r>
            <a:r>
              <a:rPr lang="en-US" altLang="zh-TW" sz="1400" dirty="0">
                <a:latin typeface="+mn-ea"/>
              </a:rPr>
              <a:t>Touch Sensing </a:t>
            </a:r>
            <a:r>
              <a:rPr lang="zh-TW" altLang="en-US" sz="1400" dirty="0">
                <a:latin typeface="+mn-ea"/>
              </a:rPr>
              <a:t>頻率</a:t>
            </a:r>
            <a:endParaRPr lang="en-US" altLang="zh-TW" sz="1400" dirty="0">
              <a:latin typeface="+mn-ea"/>
            </a:endParaRPr>
          </a:p>
          <a:p>
            <a:pPr lvl="2"/>
            <a:r>
              <a:rPr lang="zh-TW" altLang="en-US" sz="1200" dirty="0">
                <a:latin typeface="+mn-ea"/>
              </a:rPr>
              <a:t>可能會影響到</a:t>
            </a:r>
            <a:r>
              <a:rPr lang="en-US" altLang="zh-TW" sz="1200" dirty="0">
                <a:latin typeface="+mn-ea"/>
              </a:rPr>
              <a:t>EMI</a:t>
            </a:r>
            <a:r>
              <a:rPr lang="zh-TW" altLang="en-US" sz="1200" dirty="0">
                <a:latin typeface="+mn-ea"/>
              </a:rPr>
              <a:t>的表現，需要重新確認</a:t>
            </a:r>
            <a:endParaRPr lang="en-US" altLang="zh-TW" sz="1200" dirty="0">
              <a:latin typeface="+mn-ea"/>
            </a:endParaRPr>
          </a:p>
          <a:p>
            <a:pPr lvl="2"/>
            <a:r>
              <a:rPr lang="zh-TW" altLang="en-US" sz="1200" dirty="0">
                <a:latin typeface="+mn-ea"/>
              </a:rPr>
              <a:t>可能會影響到</a:t>
            </a:r>
            <a:r>
              <a:rPr lang="en-US" altLang="zh-TW" sz="1200" dirty="0">
                <a:latin typeface="+mn-ea"/>
              </a:rPr>
              <a:t>touch</a:t>
            </a:r>
            <a:r>
              <a:rPr lang="zh-TW" altLang="en-US" sz="1200" dirty="0">
                <a:latin typeface="+mn-ea"/>
              </a:rPr>
              <a:t>訊號量表現，需要重新調適</a:t>
            </a:r>
            <a:r>
              <a:rPr lang="en-US" altLang="zh-TW" sz="1200" dirty="0">
                <a:latin typeface="+mn-ea"/>
              </a:rPr>
              <a:t>touch performance</a:t>
            </a:r>
            <a:endParaRPr lang="en-US" altLang="zh-TW" dirty="0"/>
          </a:p>
          <a:p>
            <a:pPr lvl="2"/>
            <a:endParaRPr lang="en-US" altLang="zh-TW" sz="1600" dirty="0">
              <a:latin typeface="+mn-ea"/>
            </a:endParaRPr>
          </a:p>
          <a:p>
            <a:r>
              <a:rPr lang="en-US" altLang="zh-TW" sz="1600" dirty="0">
                <a:latin typeface="+mn-ea"/>
              </a:rPr>
              <a:t>DC</a:t>
            </a:r>
            <a:r>
              <a:rPr lang="zh-TW" altLang="en-US" sz="1600" dirty="0">
                <a:latin typeface="+mn-ea"/>
              </a:rPr>
              <a:t> </a:t>
            </a:r>
            <a:r>
              <a:rPr lang="en-US" altLang="zh-TW" sz="1600" dirty="0">
                <a:latin typeface="+mn-ea"/>
              </a:rPr>
              <a:t>noise</a:t>
            </a:r>
            <a:r>
              <a:rPr lang="zh-TW" altLang="en-US" sz="1600" dirty="0">
                <a:latin typeface="+mn-ea"/>
              </a:rPr>
              <a:t>成分，只能透過硬體部份去改善。</a:t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若只透過</a:t>
            </a:r>
            <a:r>
              <a:rPr lang="en-US" altLang="zh-TW" sz="1600" dirty="0">
                <a:latin typeface="+mn-ea"/>
              </a:rPr>
              <a:t>FW</a:t>
            </a:r>
            <a:r>
              <a:rPr lang="zh-TW" altLang="en-US" sz="1600" dirty="0">
                <a:latin typeface="+mn-ea"/>
              </a:rPr>
              <a:t>跳頻是沒有辦法避免</a:t>
            </a:r>
            <a:r>
              <a:rPr lang="en-US" altLang="zh-TW" sz="1600" dirty="0">
                <a:latin typeface="+mn-ea"/>
              </a:rPr>
              <a:t>DC</a:t>
            </a:r>
            <a:r>
              <a:rPr lang="zh-TW" altLang="en-US" sz="1600" dirty="0">
                <a:latin typeface="+mn-ea"/>
              </a:rPr>
              <a:t> </a:t>
            </a:r>
            <a:r>
              <a:rPr lang="en-US" altLang="zh-TW" sz="1600" dirty="0">
                <a:latin typeface="+mn-ea"/>
              </a:rPr>
              <a:t>Noise</a:t>
            </a:r>
            <a:r>
              <a:rPr lang="zh-TW" altLang="en-US" sz="1600" dirty="0">
                <a:latin typeface="+mn-ea"/>
              </a:rPr>
              <a:t>，跳頻只能解決相同頻率的影響，也就是</a:t>
            </a:r>
            <a:r>
              <a:rPr lang="en-US" altLang="zh-TW" sz="1600" dirty="0">
                <a:latin typeface="+mn-ea"/>
              </a:rPr>
              <a:t>AC</a:t>
            </a:r>
            <a:r>
              <a:rPr lang="zh-TW" altLang="en-US" sz="1600" dirty="0">
                <a:latin typeface="+mn-ea"/>
              </a:rPr>
              <a:t> </a:t>
            </a:r>
            <a:r>
              <a:rPr lang="en-US" altLang="zh-TW" sz="1600" dirty="0">
                <a:latin typeface="+mn-ea"/>
              </a:rPr>
              <a:t>noise</a:t>
            </a:r>
            <a:r>
              <a:rPr lang="zh-TW" altLang="en-US" sz="1600" dirty="0">
                <a:latin typeface="+mn-ea"/>
              </a:rPr>
              <a:t>成分。</a:t>
            </a:r>
            <a:br>
              <a:rPr lang="en-US" altLang="zh-TW" sz="1600" dirty="0">
                <a:latin typeface="+mn-ea"/>
              </a:rPr>
            </a:br>
            <a:endParaRPr lang="en-US" altLang="zh-TW" sz="1600" dirty="0">
              <a:latin typeface="+mn-ea"/>
            </a:endParaRPr>
          </a:p>
          <a:p>
            <a:endParaRPr lang="en-US" altLang="zh-TW" sz="1600" dirty="0">
              <a:latin typeface="+mn-ea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BCDBA95-25FF-4B0E-A3CC-8D8BAB7F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r>
              <a:rPr lang="en-US" altLang="zh-TW"/>
              <a:t>.</a:t>
            </a:r>
            <a:r>
              <a:rPr lang="zh-TW" altLang="en-US" dirty="0"/>
              <a:t>總結說明</a:t>
            </a:r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92021190-C94E-4A76-B8A8-1D9A84B5C6B1}"/>
              </a:ext>
            </a:extLst>
          </p:cNvPr>
          <p:cNvSpPr txBox="1">
            <a:spLocks/>
          </p:cNvSpPr>
          <p:nvPr/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r" defTabSz="914400" rtl="0" eaLnBrk="1" latinLnBrk="0" hangingPunct="1">
              <a:defRPr sz="1000" b="0" kern="1200">
                <a:solidFill>
                  <a:schemeClr val="tx1"/>
                </a:solidFill>
                <a:latin typeface="+mn-lt"/>
                <a:ea typeface="新細明體" panose="02020500000000000000" pitchFamily="18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5420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master9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3577" y="2142566"/>
            <a:ext cx="4763475" cy="15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302000" y="3727450"/>
            <a:ext cx="5588000" cy="64633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3600" dirty="0">
                <a:cs typeface="Arial" pitchFamily="34" charset="0"/>
              </a:rPr>
              <a:t>Drive for better vision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CATEGORY" val="Primary Field Layouts"/>
  <p:tag name="LAYOUTDISPLAYNAME" val="Two Columns"/>
  <p:tag name="ALLOWMORETHANONE" val="Yes"/>
  <p:tag name="ALLOWINCLUDEINTOC" val="Yes"/>
  <p:tag name="PAGETYPE" val="BodyPage"/>
  <p:tag name="LAYOUTNAME" val="Two Columns"/>
  <p:tag name="ALLOWPAGETITLE" val="Yes"/>
  <p:tag name="ALLOWPAGESUBTITLE" val="Yes"/>
</p:tagLst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rgbClr val="00336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rgbClr val="CC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18332</TotalTime>
  <Words>1131</Words>
  <Application>Microsoft Office PowerPoint</Application>
  <PresentationFormat>寬螢幕</PresentationFormat>
  <Paragraphs>124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宋体</vt:lpstr>
      <vt:lpstr>Arial</vt:lpstr>
      <vt:lpstr>Calibri</vt:lpstr>
      <vt:lpstr>Tahoma</vt:lpstr>
      <vt:lpstr>Times New Roman</vt:lpstr>
      <vt:lpstr>Wingdings</vt:lpstr>
      <vt:lpstr>~1086908</vt:lpstr>
      <vt:lpstr>1_~1086908</vt:lpstr>
      <vt:lpstr>PowerPoint 簡報</vt:lpstr>
      <vt:lpstr>1.問題描述</vt:lpstr>
      <vt:lpstr>2.原因分析</vt:lpstr>
      <vt:lpstr>2.原因分析</vt:lpstr>
      <vt:lpstr>2.原因分析</vt:lpstr>
      <vt:lpstr>3.電源雜訊量測 (針對Inverter – 打開前)</vt:lpstr>
      <vt:lpstr>3.電源雜訊量測 (針對Inverter – 打開後)</vt:lpstr>
      <vt:lpstr>4.Noise對於RX couple的影響 (針對Inverter – 打開前)</vt:lpstr>
      <vt:lpstr>4.Noise對於RX couple的影響 (針對Inverter – 打開後)</vt:lpstr>
      <vt:lpstr>5. Noise對於Touch的影響 </vt:lpstr>
      <vt:lpstr>6.總結說明</vt:lpstr>
      <vt:lpstr>6.總結說明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dennis_huang@himax.com.tw</dc:creator>
  <cp:lastModifiedBy>Tingying Chen(陳亭穎)</cp:lastModifiedBy>
  <cp:revision>592</cp:revision>
  <dcterms:created xsi:type="dcterms:W3CDTF">2020-02-27T02:27:42Z</dcterms:created>
  <dcterms:modified xsi:type="dcterms:W3CDTF">2022-12-15T07:30:56Z</dcterms:modified>
</cp:coreProperties>
</file>