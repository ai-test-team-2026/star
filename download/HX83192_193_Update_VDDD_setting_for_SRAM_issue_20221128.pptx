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5" r:id="rId2"/>
  </p:sldMasterIdLst>
  <p:notesMasterIdLst>
    <p:notesMasterId r:id="rId7"/>
  </p:notesMasterIdLst>
  <p:sldIdLst>
    <p:sldId id="269" r:id="rId3"/>
    <p:sldId id="2967" r:id="rId4"/>
    <p:sldId id="2969" r:id="rId5"/>
    <p:sldId id="234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DDDDDD"/>
    <a:srgbClr val="009900"/>
    <a:srgbClr val="000000"/>
    <a:srgbClr val="FACACB"/>
    <a:srgbClr val="F26B6F"/>
    <a:srgbClr val="FF6600"/>
    <a:srgbClr val="1B65B7"/>
    <a:srgbClr val="3333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7" autoAdjust="0"/>
    <p:restoredTop sz="94238" autoAdjust="0"/>
  </p:normalViewPr>
  <p:slideViewPr>
    <p:cSldViewPr snapToGrid="0">
      <p:cViewPr varScale="1">
        <p:scale>
          <a:sx n="114" d="100"/>
          <a:sy n="114" d="100"/>
        </p:scale>
        <p:origin x="678" y="84"/>
      </p:cViewPr>
      <p:guideLst>
        <p:guide pos="3840"/>
        <p:guide pos="39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AF9CA-E989-4981-A9F4-76016C93C15C}" type="datetimeFigureOut">
              <a:rPr lang="zh-TW" altLang="en-US" smtClean="0"/>
              <a:t>2022/12/14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5E237-882D-43E1-ABE9-26BF3B28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78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C0A83C-1154-49FE-9E38-94873B4CFCE0}" type="slidenum">
              <a:rPr kumimoji="1" lang="en-US" altLang="zh-TW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Arial Unicode MS" pitchFamily="34" charset="-120"/>
                <a:cs typeface="Arial Unicode MS" panose="020B0604020202020204" pitchFamily="34" charset="-120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TW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Arial Unicode MS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33425"/>
            <a:ext cx="6629400" cy="3729038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08525"/>
            <a:ext cx="5043488" cy="2635250"/>
          </a:xfrm>
          <a:noFill/>
        </p:spPr>
        <p:txBody>
          <a:bodyPr/>
          <a:lstStyle/>
          <a:p>
            <a:pPr eaLnBrk="1" hangingPunct="1"/>
            <a:endParaRPr lang="en-US" altLang="zh-CN" dirty="0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517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hangingPunct="1">
              <a:defRPr/>
            </a:pPr>
            <a:endParaRPr lang="en-GB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1" name="Line 18"/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1800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1800"/>
          </a:p>
        </p:txBody>
      </p:sp>
      <p:grpSp>
        <p:nvGrpSpPr>
          <p:cNvPr id="26" name="Group 36">
            <a:extLst>
              <a:ext uri="{FF2B5EF4-FFF2-40B4-BE49-F238E27FC236}">
                <a16:creationId xmlns:a16="http://schemas.microsoft.com/office/drawing/2014/main" id="{1B43B23C-4960-435F-AC1D-D5E816E68B2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93188" y="5821365"/>
            <a:ext cx="2379663" cy="588963"/>
            <a:chOff x="592" y="1676"/>
            <a:chExt cx="1499" cy="371"/>
          </a:xfrm>
        </p:grpSpPr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8D349F1E-C2D9-40CB-839F-B4481F6D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>
                <a:lnSpc>
                  <a:spcPts val="2000"/>
                </a:lnSpc>
                <a:defRPr/>
              </a:pPr>
              <a:r>
                <a:rPr lang="en-US" altLang="zh-TW" sz="1500" b="0" dirty="0">
                  <a:latin typeface="Arial" charset="0"/>
                  <a:cs typeface="Arial" charset="0"/>
                </a:rPr>
                <a:t>Himax Technologies, Inc.</a:t>
              </a:r>
            </a:p>
            <a:p>
              <a:pPr algn="dist">
                <a:lnSpc>
                  <a:spcPts val="2000"/>
                </a:lnSpc>
                <a:defRPr/>
              </a:pPr>
              <a:r>
                <a:rPr lang="zh-TW" altLang="en-US" sz="1600" b="0" dirty="0">
                  <a:latin typeface="Arial" charset="0"/>
                  <a:ea typeface="華康中黑體(P)-UN" pitchFamily="34" charset="-120"/>
                  <a:cs typeface="Arial" charset="0"/>
                </a:rPr>
                <a:t>奇景光電股份有限公司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BC8B5AB0-27BD-406D-AF39-56F468641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61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TW" altLang="en-US">
                <a:latin typeface="Arial" charset="0"/>
              </a:endParaRPr>
            </a:p>
          </p:txBody>
        </p:sp>
      </p:grpSp>
      <p:sp>
        <p:nvSpPr>
          <p:cNvPr id="29" name="Text Box 20">
            <a:extLst>
              <a:ext uri="{FF2B5EF4-FFF2-40B4-BE49-F238E27FC236}">
                <a16:creationId xmlns:a16="http://schemas.microsoft.com/office/drawing/2014/main" id="{17AE937D-07F0-4970-A4FF-307031DA5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17412" y="438150"/>
            <a:ext cx="309411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cs typeface="+mn-cs"/>
              </a:rPr>
              <a:t>Drive for better vision</a:t>
            </a:r>
          </a:p>
        </p:txBody>
      </p:sp>
      <p:pic>
        <p:nvPicPr>
          <p:cNvPr id="19" name="Picture 24" descr="LOGO-8">
            <a:extLst>
              <a:ext uri="{FF2B5EF4-FFF2-40B4-BE49-F238E27FC236}">
                <a16:creationId xmlns:a16="http://schemas.microsoft.com/office/drawing/2014/main" id="{3973CFE5-7F9C-4E67-8EF1-0AE3C3EF1A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0" y="1436223"/>
            <a:ext cx="3286335" cy="103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4">
            <a:extLst>
              <a:ext uri="{FF2B5EF4-FFF2-40B4-BE49-F238E27FC236}">
                <a16:creationId xmlns:a16="http://schemas.microsoft.com/office/drawing/2014/main" id="{068F1748-776A-4735-9696-0DBFD53060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40976" y="4859367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pPr algn="ctr"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33A320B-D17D-4392-A3CF-0F8162B540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018117"/>
            <a:ext cx="4572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4FEE363-884E-45BB-A8F4-4AB4A89B2B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0251" y="3567142"/>
            <a:ext cx="4572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27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101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183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79450377-474C-41F1-92FC-394B8C30B4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018117"/>
            <a:ext cx="4572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255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203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109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A27C58CA-90DA-4123-9C85-00526CCC0C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703917"/>
            <a:ext cx="4572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153</a:t>
            </a: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0B6ED69F-80F2-4059-85A3-79BD17FCA1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703917"/>
            <a:ext cx="457200" cy="457200"/>
          </a:xfrm>
          <a:prstGeom prst="rect">
            <a:avLst/>
          </a:prstGeom>
          <a:solidFill>
            <a:srgbClr val="F26B6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000" b="0" dirty="0">
                <a:latin typeface="Arial" charset="0"/>
                <a:cs typeface="Arial" charset="0"/>
              </a:rPr>
              <a:t>2</a:t>
            </a:r>
            <a:r>
              <a:rPr lang="en-US" altLang="zh-TW" sz="1000" b="0" dirty="0">
                <a:latin typeface="Arial" charset="0"/>
                <a:cs typeface="Arial" charset="0"/>
              </a:rPr>
              <a:t>42</a:t>
            </a: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cs typeface="Arial" charset="0"/>
              </a:rPr>
              <a:t>107</a:t>
            </a:r>
            <a:endParaRPr lang="en-US" altLang="zh-CN" sz="1000" b="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ea typeface="SimSun" pitchFamily="2" charset="-122"/>
                <a:cs typeface="Arial" charset="0"/>
              </a:rPr>
              <a:t>111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D892883B-0B90-456B-BF45-02349D8980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703917"/>
            <a:ext cx="4572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120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5066DBDB-1ADC-4A1B-AE26-6EB2BA1701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018117"/>
            <a:ext cx="4572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211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169025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FB44C-6645-4E61-8457-F2B80FEA1E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343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33CBA-1247-4C14-B683-643FC3A8E47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279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D2E18-42C3-4680-BC63-70782EBD825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37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8AB4-08CD-4E56-BF17-3F09C5C15FD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771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37D90-326A-4058-A0E4-7898849E073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558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8174E-B202-471B-A104-19933BDF4F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842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E5901-37B1-4700-8873-6719E1ED2D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324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6995-629D-4A27-9A6E-FAE707FB6B5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710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94B4F-C2C0-4AA7-987C-424ED860A64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729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96352" y="152401"/>
            <a:ext cx="2762249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52401"/>
            <a:ext cx="8083551" cy="61944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158BE-7149-4333-815A-701C09F391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0856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18067" y="1338263"/>
            <a:ext cx="11040533" cy="5008562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0830C9-2416-42AC-A916-AAD9879F567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9749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239933" y="1338264"/>
            <a:ext cx="5418667" cy="24272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239933" y="3917951"/>
            <a:ext cx="5418667" cy="24288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CCE99-CD70-4802-9ADA-03F0C1A0A8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101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AD31ABC-30A3-4172-9530-BFCE73318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endParaRPr lang="en-GB" altLang="zh-TW" sz="2400" b="0"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3818EDFF-6235-4D70-B856-0FC39DC8FB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EDC85CE9-87F2-435C-84DE-95281E7019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E74AB7F8-D1B7-40CA-A00C-C1532098B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412" y="438150"/>
            <a:ext cx="309411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cs typeface="+mn-cs"/>
              </a:rPr>
              <a:t>Drive for better vision</a:t>
            </a:r>
          </a:p>
        </p:txBody>
      </p: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D67E8365-D19F-4A8C-B166-84E6DF1D19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 dirty="0">
                <a:solidFill>
                  <a:srgbClr val="F0F0E1"/>
                </a:solidFill>
              </a:rPr>
              <a:t>Himax Confidential</a:t>
            </a:r>
          </a:p>
        </p:txBody>
      </p:sp>
      <p:pic>
        <p:nvPicPr>
          <p:cNvPr id="20" name="Picture 24" descr="LOGO-8">
            <a:extLst>
              <a:ext uri="{FF2B5EF4-FFF2-40B4-BE49-F238E27FC236}">
                <a16:creationId xmlns:a16="http://schemas.microsoft.com/office/drawing/2014/main" id="{F29F4CEA-AB0C-4383-AAC5-7DBA237D8C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0" y="1436223"/>
            <a:ext cx="3286335" cy="103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Group 36">
            <a:extLst>
              <a:ext uri="{FF2B5EF4-FFF2-40B4-BE49-F238E27FC236}">
                <a16:creationId xmlns:a16="http://schemas.microsoft.com/office/drawing/2014/main" id="{CB22E013-C416-434B-9ED1-226D2027645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93188" y="5821365"/>
            <a:ext cx="2379663" cy="588963"/>
            <a:chOff x="592" y="1676"/>
            <a:chExt cx="1499" cy="371"/>
          </a:xfrm>
        </p:grpSpPr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1B4A2336-B6F7-4907-BAC1-DA847157E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>
                <a:lnSpc>
                  <a:spcPts val="2000"/>
                </a:lnSpc>
                <a:defRPr/>
              </a:pPr>
              <a:r>
                <a:rPr lang="en-US" altLang="zh-TW" sz="1500" b="0" dirty="0">
                  <a:latin typeface="Arial" charset="0"/>
                  <a:cs typeface="Arial" charset="0"/>
                </a:rPr>
                <a:t>Himax Technologies, Inc.</a:t>
              </a:r>
            </a:p>
            <a:p>
              <a:pPr algn="dist">
                <a:lnSpc>
                  <a:spcPts val="2000"/>
                </a:lnSpc>
                <a:defRPr/>
              </a:pPr>
              <a:r>
                <a:rPr lang="zh-TW" altLang="en-US" sz="1600" b="0" dirty="0">
                  <a:latin typeface="Arial" charset="0"/>
                  <a:ea typeface="華康中黑體(P)-UN" pitchFamily="34" charset="-120"/>
                  <a:cs typeface="Arial" charset="0"/>
                </a:rPr>
                <a:t>奇景光電股份有限公司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D4700176-FBB1-4026-BC12-E53CB2099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61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TW" altLang="en-US">
                <a:latin typeface="Arial" charset="0"/>
              </a:endParaRP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2E2D0BE6-8CB0-40CA-903F-4E08AB3EF4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40976" y="4859367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pPr algn="ctr"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BC4AF9EE-B66E-4F0B-993C-4AB995FE28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018117"/>
            <a:ext cx="4572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6667CBCF-EF8B-42DF-AB65-907945824C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0251" y="3567142"/>
            <a:ext cx="4572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27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101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183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6BFBAE3-4A2B-4415-9185-CC6383D56B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018117"/>
            <a:ext cx="4572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255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203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109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B48D83A1-741A-43A3-B225-0EB50DB8A5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703917"/>
            <a:ext cx="4572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153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1A6F35C7-F66C-4176-A755-B4A16CC6C3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703917"/>
            <a:ext cx="457200" cy="457200"/>
          </a:xfrm>
          <a:prstGeom prst="rect">
            <a:avLst/>
          </a:prstGeom>
          <a:solidFill>
            <a:srgbClr val="F26B6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000" b="0" dirty="0">
                <a:latin typeface="Arial" charset="0"/>
                <a:cs typeface="Arial" charset="0"/>
              </a:rPr>
              <a:t>2</a:t>
            </a:r>
            <a:r>
              <a:rPr lang="en-US" altLang="zh-TW" sz="1000" b="0" dirty="0">
                <a:latin typeface="Arial" charset="0"/>
                <a:cs typeface="Arial" charset="0"/>
              </a:rPr>
              <a:t>42</a:t>
            </a: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cs typeface="Arial" charset="0"/>
              </a:rPr>
              <a:t>107</a:t>
            </a:r>
            <a:endParaRPr lang="en-US" altLang="zh-CN" sz="1000" b="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ea typeface="SimSun" pitchFamily="2" charset="-122"/>
                <a:cs typeface="Arial" charset="0"/>
              </a:rPr>
              <a:t>111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CDA94314-E4F6-47FA-BF73-2F66E520FA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703917"/>
            <a:ext cx="4572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120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42722231-D913-4653-B64C-F241D31B9C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018117"/>
            <a:ext cx="4572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211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3792234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DB19E79B-A342-4C75-A0CE-D0927915B2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827E88-67B4-437A-B8CF-DFCB100CCE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4C18F-EB8D-4FF5-AC15-34A2924EEA8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6521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74A72C37-4A2E-4240-B1A6-FAA6C2B36C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BB3E01-2800-481C-BB00-D3A41E3906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C2A30-D97C-463A-AAB1-9BA3C57695E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956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4927F82D-0B20-4721-A463-AB8FD5EDA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F33F1A8-2795-45A1-B452-48F919D9D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07C2C-9E6A-4AE7-B0C4-656FCE4355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7440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7">
            <a:extLst>
              <a:ext uri="{FF2B5EF4-FFF2-40B4-BE49-F238E27FC236}">
                <a16:creationId xmlns:a16="http://schemas.microsoft.com/office/drawing/2014/main" id="{52572AB9-A733-4860-A633-FB4A228129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0A6661-3553-4759-9991-061CBCFCA8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F2BD8-6C18-463D-85DD-A5131B18CD6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8824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7">
            <a:extLst>
              <a:ext uri="{FF2B5EF4-FFF2-40B4-BE49-F238E27FC236}">
                <a16:creationId xmlns:a16="http://schemas.microsoft.com/office/drawing/2014/main" id="{B704A404-7A84-40FB-A200-E913884B4F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2D3900-A677-45C9-AF15-0F0944C3276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B9F21-FCB5-4EF6-81C7-8758436C5F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485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7">
            <a:extLst>
              <a:ext uri="{FF2B5EF4-FFF2-40B4-BE49-F238E27FC236}">
                <a16:creationId xmlns:a16="http://schemas.microsoft.com/office/drawing/2014/main" id="{97A8FAA0-EB43-4874-87C4-FCF8D0EC59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E216D2B-B638-4D89-8634-25E6C0E3AA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ED4AC-7C60-46B4-A4F0-53A9BB6B91D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86523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4F1CBD21-6AE8-4D40-BC43-A357504CDF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41663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6" name="文字方塊 8">
            <a:extLst>
              <a:ext uri="{FF2B5EF4-FFF2-40B4-BE49-F238E27FC236}">
                <a16:creationId xmlns:a16="http://schemas.microsoft.com/office/drawing/2014/main" id="{A9B9FCD2-BA44-4FFC-BD54-8EAEE5E9CF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B4BA4C8-DD91-468A-850A-326A7C98C6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A01DC-48D3-477C-A850-3D9186A5AF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0326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3116988E-1899-4A94-84A1-1466478130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195D35-E060-43E7-95C9-6C9B60E181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AB1D0-D725-4C0B-9CC4-2D55666E071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966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A36FC8E0-A3A7-47D5-B958-32D8183128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C9B73C-61FA-4939-AA3D-E6876658535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6B909-AE4A-43D0-97B0-8E31CC0D4D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130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96352" y="152401"/>
            <a:ext cx="2762249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52401"/>
            <a:ext cx="8083551" cy="61944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EBE4B-EFE3-486F-B0BA-AB8AC4DC44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5C06E-449B-4B51-B024-8ED03807C85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313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0CE0040-9D3B-4D8F-8561-0C2047A4E1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hangingPunct="1">
              <a:defRPr/>
            </a:pPr>
            <a:endParaRPr lang="zh-TW" altLang="en-US" sz="28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4011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l" eaLnBrk="1" hangingPunct="1">
              <a:defRPr/>
            </a:pPr>
            <a:r>
              <a:rPr kumimoji="1" lang="en-US" altLang="zh-TW" sz="1200" b="1" i="1">
                <a:solidFill>
                  <a:schemeClr val="folHlink"/>
                </a:solidFill>
                <a:ea typeface="新細明體" pitchFamily="18" charset="-120"/>
              </a:rPr>
              <a:t>Himax Proprietary &amp; Confidential</a:t>
            </a:r>
          </a:p>
        </p:txBody>
      </p:sp>
      <p:pic>
        <p:nvPicPr>
          <p:cNvPr id="8" name="Picture 24" descr="LOGO-8">
            <a:extLst>
              <a:ext uri="{FF2B5EF4-FFF2-40B4-BE49-F238E27FC236}">
                <a16:creationId xmlns:a16="http://schemas.microsoft.com/office/drawing/2014/main" id="{F5074E04-4B2A-4B82-BD18-0C5D715087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37" y="6230610"/>
            <a:ext cx="2011363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46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09516A-D344-46C8-8F5E-D437FD5DA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>
            <a:extLst>
              <a:ext uri="{FF2B5EF4-FFF2-40B4-BE49-F238E27FC236}">
                <a16:creationId xmlns:a16="http://schemas.microsoft.com/office/drawing/2014/main" id="{06432C2C-B665-42CB-B1A8-277F868F1D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EC8629A-511B-4F54-A193-6631F41A8D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D4901F-F1FA-4FC3-B56B-94ACCC3E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endParaRPr lang="zh-TW" altLang="en-US" sz="2800"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F7F2E51-2D65-4A1A-BB8A-ABEE02AEC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4011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CC76B179-7BF9-4C65-AAD2-FD02C18FE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algn="l" eaLnBrk="1" hangingPunct="1">
              <a:defRPr/>
            </a:pPr>
            <a:r>
              <a:rPr kumimoji="1" lang="en-US" altLang="zh-TW" sz="1200" i="1" dirty="0">
                <a:solidFill>
                  <a:schemeClr val="folHlink"/>
                </a:solidFill>
                <a:ea typeface="新細明體" panose="02020500000000000000" pitchFamily="18" charset="-120"/>
                <a:cs typeface="+mn-cs"/>
              </a:rPr>
              <a:t>Himax Proprietary &amp; Confidential</a:t>
            </a:r>
          </a:p>
        </p:txBody>
      </p:sp>
      <p:pic>
        <p:nvPicPr>
          <p:cNvPr id="8" name="Picture 24" descr="LOGO-8">
            <a:extLst>
              <a:ext uri="{FF2B5EF4-FFF2-40B4-BE49-F238E27FC236}">
                <a16:creationId xmlns:a16="http://schemas.microsoft.com/office/drawing/2014/main" id="{93C9668F-FD6A-4681-8BFB-F0597CDDB9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37" y="6230610"/>
            <a:ext cx="2011363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63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9"/>
          <p:cNvSpPr txBox="1">
            <a:spLocks noChangeArrowheads="1"/>
          </p:cNvSpPr>
          <p:nvPr/>
        </p:nvSpPr>
        <p:spPr bwMode="auto">
          <a:xfrm>
            <a:off x="3181353" y="4440413"/>
            <a:ext cx="61436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3366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2022 / 11</a:t>
            </a:r>
          </a:p>
        </p:txBody>
      </p:sp>
      <p:sp>
        <p:nvSpPr>
          <p:cNvPr id="6147" name="文字方塊 2"/>
          <p:cNvSpPr txBox="1">
            <a:spLocks noChangeArrowheads="1"/>
          </p:cNvSpPr>
          <p:nvPr/>
        </p:nvSpPr>
        <p:spPr bwMode="auto">
          <a:xfrm>
            <a:off x="3181353" y="2935943"/>
            <a:ext cx="563968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TW" sz="2400" b="1" dirty="0">
              <a:solidFill>
                <a:srgbClr val="003366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solidFill>
                  <a:srgbClr val="00990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HX83192_193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solidFill>
                  <a:srgbClr val="00990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Update VDDD setting for SRAM issue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437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65D04-3B37-487E-A90C-753A4CFD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VDDD</a:t>
            </a:r>
            <a:r>
              <a:rPr lang="zh-TW" altLang="en-US" dirty="0"/>
              <a:t> 舊案對策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50A84D-19FF-41B0-9196-B7EC800C3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053036"/>
            <a:ext cx="11040533" cy="5389709"/>
          </a:xfrm>
        </p:spPr>
        <p:txBody>
          <a:bodyPr/>
          <a:lstStyle/>
          <a:p>
            <a:r>
              <a:rPr lang="zh-TW" altLang="en-US" sz="1400" dirty="0"/>
              <a:t>舊案對策</a:t>
            </a:r>
            <a:endParaRPr lang="en-US" altLang="zh-TW" sz="14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sz="1400" dirty="0"/>
          </a:p>
          <a:p>
            <a:endParaRPr lang="en-US" altLang="zh-TW" sz="1400" dirty="0"/>
          </a:p>
          <a:p>
            <a:r>
              <a:rPr lang="en-US" altLang="zh-TW" sz="1400" dirty="0">
                <a:latin typeface="+mn-ea"/>
              </a:rPr>
              <a:t>Case1 ~ Case3 </a:t>
            </a:r>
          </a:p>
          <a:p>
            <a:pPr lvl="1"/>
            <a:r>
              <a:rPr lang="zh-TW" altLang="en-US" sz="1200" dirty="0">
                <a:latin typeface="+mn-ea"/>
              </a:rPr>
              <a:t>有</a:t>
            </a:r>
            <a:r>
              <a:rPr lang="en-US" altLang="zh-TW" sz="1200" dirty="0">
                <a:latin typeface="+mn-ea"/>
              </a:rPr>
              <a:t>SRAM fail </a:t>
            </a:r>
            <a:r>
              <a:rPr lang="zh-TW" altLang="en-US" sz="1200" dirty="0">
                <a:latin typeface="+mn-ea"/>
              </a:rPr>
              <a:t>風險，</a:t>
            </a:r>
            <a:r>
              <a:rPr lang="en-US" altLang="zh-TW" sz="1200" dirty="0">
                <a:latin typeface="+mn-ea"/>
              </a:rPr>
              <a:t>FW update</a:t>
            </a:r>
            <a:r>
              <a:rPr lang="zh-TW" altLang="en-US" sz="1200" dirty="0">
                <a:latin typeface="+mn-ea"/>
              </a:rPr>
              <a:t>時需做</a:t>
            </a:r>
            <a:r>
              <a:rPr lang="en-US" altLang="zh-TW" sz="1200" dirty="0">
                <a:latin typeface="+mn-ea"/>
              </a:rPr>
              <a:t>Internal VDDD</a:t>
            </a:r>
            <a:r>
              <a:rPr lang="zh-TW" altLang="en-US" sz="1200" dirty="0">
                <a:latin typeface="+mn-ea"/>
              </a:rPr>
              <a:t>修正</a:t>
            </a:r>
            <a:r>
              <a:rPr lang="en-US" altLang="zh-TW" sz="1200" dirty="0">
                <a:latin typeface="+mn-ea"/>
              </a:rPr>
              <a:t>.  </a:t>
            </a:r>
          </a:p>
          <a:p>
            <a:r>
              <a:rPr lang="en-US" altLang="zh-TW" sz="1400" dirty="0">
                <a:latin typeface="+mn-ea"/>
              </a:rPr>
              <a:t>Case4 ~ Case5</a:t>
            </a:r>
          </a:p>
          <a:p>
            <a:pPr lvl="1"/>
            <a:r>
              <a:rPr lang="zh-TW" altLang="en-US" sz="1200" dirty="0">
                <a:latin typeface="+mn-ea"/>
              </a:rPr>
              <a:t>現階段</a:t>
            </a:r>
            <a:r>
              <a:rPr lang="en-US" altLang="zh-TW" sz="1200" dirty="0">
                <a:latin typeface="+mn-ea"/>
              </a:rPr>
              <a:t>design in </a:t>
            </a:r>
            <a:r>
              <a:rPr lang="zh-TW" altLang="en-US" sz="1200" dirty="0">
                <a:latin typeface="+mn-ea"/>
              </a:rPr>
              <a:t>案子如已經設定</a:t>
            </a:r>
            <a:r>
              <a:rPr lang="en-US" altLang="zh-TW" sz="1200" dirty="0">
                <a:latin typeface="+mn-ea"/>
              </a:rPr>
              <a:t>1.25V / 1.3V</a:t>
            </a:r>
            <a:r>
              <a:rPr lang="zh-TW" altLang="en-US" sz="1200" dirty="0">
                <a:latin typeface="+mn-ea"/>
              </a:rPr>
              <a:t>，就不需要再做變動</a:t>
            </a:r>
            <a:endParaRPr lang="en-US" altLang="zh-TW" sz="1200" dirty="0">
              <a:latin typeface="+mn-ea"/>
            </a:endParaRPr>
          </a:p>
          <a:p>
            <a:r>
              <a:rPr lang="en-US" altLang="zh-TW" sz="1400" dirty="0">
                <a:latin typeface="+mn-ea"/>
              </a:rPr>
              <a:t>Case6</a:t>
            </a:r>
          </a:p>
          <a:p>
            <a:pPr lvl="1"/>
            <a:r>
              <a:rPr lang="zh-TW" altLang="en-US" sz="1200" dirty="0">
                <a:latin typeface="+mn-ea"/>
              </a:rPr>
              <a:t>有</a:t>
            </a:r>
            <a:r>
              <a:rPr lang="en-US" altLang="zh-TW" sz="1200" dirty="0">
                <a:latin typeface="+mn-ea"/>
              </a:rPr>
              <a:t>SRAM fail </a:t>
            </a:r>
            <a:r>
              <a:rPr lang="zh-TW" altLang="en-US" sz="1200" dirty="0">
                <a:latin typeface="+mn-ea"/>
              </a:rPr>
              <a:t>風險，</a:t>
            </a:r>
            <a:r>
              <a:rPr lang="en-US" altLang="zh-TW" sz="1200" dirty="0">
                <a:latin typeface="+mn-ea"/>
              </a:rPr>
              <a:t>FW  update</a:t>
            </a:r>
            <a:r>
              <a:rPr lang="zh-TW" altLang="en-US" sz="1200" dirty="0">
                <a:latin typeface="+mn-ea"/>
              </a:rPr>
              <a:t>時需做</a:t>
            </a:r>
            <a:r>
              <a:rPr lang="en-US" altLang="zh-TW" sz="1200" dirty="0">
                <a:latin typeface="+mn-ea"/>
              </a:rPr>
              <a:t>Internal VDDD</a:t>
            </a:r>
            <a:r>
              <a:rPr lang="zh-TW" altLang="en-US" sz="1200" dirty="0">
                <a:latin typeface="+mn-ea"/>
              </a:rPr>
              <a:t>修正</a:t>
            </a:r>
            <a:endParaRPr lang="en-US" altLang="zh-TW" sz="1200" dirty="0">
              <a:latin typeface="+mn-ea"/>
            </a:endParaRPr>
          </a:p>
          <a:p>
            <a:pPr lvl="1"/>
            <a:r>
              <a:rPr lang="zh-TW" altLang="en-US" sz="1200" dirty="0">
                <a:latin typeface="+mn-ea"/>
              </a:rPr>
              <a:t>根據案子狀況，轉換成 </a:t>
            </a:r>
            <a:r>
              <a:rPr lang="en-US" altLang="zh-TW" sz="1200" dirty="0">
                <a:latin typeface="+mn-ea"/>
              </a:rPr>
              <a:t>Case4 </a:t>
            </a:r>
            <a:r>
              <a:rPr lang="zh-TW" altLang="en-US" sz="1200" dirty="0">
                <a:latin typeface="+mn-ea"/>
              </a:rPr>
              <a:t>或 </a:t>
            </a:r>
            <a:r>
              <a:rPr lang="en-US" altLang="zh-TW" sz="1200" dirty="0">
                <a:latin typeface="+mn-ea"/>
              </a:rPr>
              <a:t>Case5</a:t>
            </a:r>
          </a:p>
          <a:p>
            <a:pPr marL="457200" lvl="1" indent="0">
              <a:buNone/>
            </a:pPr>
            <a:endParaRPr lang="zh-TW" altLang="en-US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B9E306-0C56-469A-8C92-4D1E18980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5B3D18C-C51F-407C-A7D4-C4C22A546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637532"/>
              </p:ext>
            </p:extLst>
          </p:nvPr>
        </p:nvGraphicFramePr>
        <p:xfrm>
          <a:off x="1016236" y="1402097"/>
          <a:ext cx="9924635" cy="291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2313">
                  <a:extLst>
                    <a:ext uri="{9D8B030D-6E8A-4147-A177-3AD203B41FA5}">
                      <a16:colId xmlns:a16="http://schemas.microsoft.com/office/drawing/2014/main" val="94367799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777914309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45083259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991575610"/>
                    </a:ext>
                  </a:extLst>
                </a:gridCol>
                <a:gridCol w="2019543">
                  <a:extLst>
                    <a:ext uri="{9D8B030D-6E8A-4147-A177-3AD203B41FA5}">
                      <a16:colId xmlns:a16="http://schemas.microsoft.com/office/drawing/2014/main" val="2132776168"/>
                    </a:ext>
                  </a:extLst>
                </a:gridCol>
                <a:gridCol w="3390779">
                  <a:extLst>
                    <a:ext uri="{9D8B030D-6E8A-4147-A177-3AD203B41FA5}">
                      <a16:colId xmlns:a16="http://schemas.microsoft.com/office/drawing/2014/main" val="103080756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zh-TW" sz="1200" b="1" dirty="0">
                          <a:effectLst/>
                        </a:rPr>
                        <a:t>　</a:t>
                      </a:r>
                      <a:endParaRPr lang="zh-TW" sz="1200" b="1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VDDD</a:t>
                      </a:r>
                      <a:r>
                        <a:rPr lang="zh-TW" altLang="en-US" sz="12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類型</a:t>
                      </a:r>
                      <a:endParaRPr lang="zh-TW" sz="1200" b="1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External LDO</a:t>
                      </a:r>
                    </a:p>
                    <a:p>
                      <a:pPr algn="ctr"/>
                      <a:r>
                        <a:rPr lang="en-US" altLang="zh-TW" sz="12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(LDO</a:t>
                      </a:r>
                      <a:r>
                        <a:rPr lang="zh-TW" altLang="en-US" sz="12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的電壓</a:t>
                      </a:r>
                      <a:r>
                        <a:rPr lang="en-US" altLang="zh-TW" sz="12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lang="zh-TW" sz="1200" b="1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Internal VDDD</a:t>
                      </a:r>
                    </a:p>
                    <a:p>
                      <a:pPr algn="ctr"/>
                      <a:r>
                        <a:rPr lang="en-US" altLang="zh-TW" sz="12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(FW</a:t>
                      </a:r>
                      <a:r>
                        <a:rPr lang="zh-TW" altLang="en-US" sz="12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設定電壓</a:t>
                      </a:r>
                      <a:r>
                        <a:rPr lang="en-US" altLang="zh-TW" sz="12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lang="zh-TW" sz="1200" b="1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</a:rPr>
                        <a:t>Solution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effectLst/>
                        </a:rPr>
                        <a:t>(</a:t>
                      </a:r>
                      <a:r>
                        <a:rPr lang="zh-TW" altLang="en-US" sz="1200" b="1" dirty="0">
                          <a:effectLst/>
                        </a:rPr>
                        <a:t>變更</a:t>
                      </a:r>
                      <a:r>
                        <a:rPr lang="en-US" altLang="zh-TW" sz="1200" b="1" dirty="0">
                          <a:effectLst/>
                        </a:rPr>
                        <a:t>Internal VDDD)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Note</a:t>
                      </a:r>
                      <a:endParaRPr lang="zh-TW" sz="1200" b="1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4014270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Case1 (</a:t>
                      </a:r>
                      <a:r>
                        <a:rPr lang="zh-TW" sz="1200" dirty="0">
                          <a:effectLst/>
                        </a:rPr>
                        <a:t>舊案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外掛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LDO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提供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1.25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1.05</a:t>
                      </a:r>
                      <a:r>
                        <a:rPr lang="zh-TW" altLang="en-US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提高到 </a:t>
                      </a:r>
                      <a:r>
                        <a:rPr lang="en-US" altLang="zh-TW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</a:t>
                      </a:r>
                      <a:endParaRPr lang="zh-TW" altLang="en-US" sz="1200" b="1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實際外灌可能失效</a:t>
                      </a: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16649682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Case2 (</a:t>
                      </a:r>
                      <a:r>
                        <a:rPr lang="zh-TW" sz="1200" dirty="0">
                          <a:effectLst/>
                        </a:rPr>
                        <a:t>舊案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外掛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LDO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提供</a:t>
                      </a:r>
                      <a:endParaRPr lang="zh-TW" alt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1.15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1.15</a:t>
                      </a:r>
                      <a:r>
                        <a:rPr lang="zh-TW" altLang="en-US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提高到 </a:t>
                      </a:r>
                      <a:r>
                        <a:rPr lang="en-US" altLang="zh-TW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</a:t>
                      </a:r>
                      <a:endParaRPr lang="zh-TW" altLang="en-US" sz="1200" b="1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須注意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IC VDDD</a:t>
                      </a: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電壓是否會反灌到外部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LDO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外灌應用失效</a:t>
                      </a:r>
                      <a:endParaRPr lang="zh-TW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6939924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Case3 (</a:t>
                      </a:r>
                      <a:r>
                        <a:rPr lang="zh-TW" sz="1200" dirty="0">
                          <a:effectLst/>
                        </a:rPr>
                        <a:t>舊案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外掛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LDO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提供</a:t>
                      </a:r>
                      <a:endParaRPr lang="zh-TW" alt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1.05</a:t>
                      </a:r>
                      <a:r>
                        <a:rPr lang="zh-TW" altLang="en-US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提高到 </a:t>
                      </a:r>
                      <a:r>
                        <a:rPr lang="en-US" altLang="zh-TW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</a:t>
                      </a:r>
                      <a:endParaRPr lang="zh-TW" altLang="en-US" sz="1200" b="1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須注意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IC VDDD</a:t>
                      </a: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電壓是否會反灌到外部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LDO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外灌應用失效</a:t>
                      </a:r>
                      <a:endParaRPr lang="zh-TW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54499939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Case4 (</a:t>
                      </a:r>
                      <a:r>
                        <a:rPr lang="zh-TW" sz="1200" dirty="0">
                          <a:effectLst/>
                        </a:rPr>
                        <a:t>舊案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IC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內部提供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1.25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Keep </a:t>
                      </a:r>
                      <a:endParaRPr lang="zh-TW" altLang="en-US" sz="12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71045381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Case5 (</a:t>
                      </a:r>
                      <a:r>
                        <a:rPr lang="zh-TW" sz="1200" dirty="0">
                          <a:effectLst/>
                        </a:rPr>
                        <a:t>舊案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IC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內部提供</a:t>
                      </a:r>
                      <a:endParaRPr lang="zh-TW" alt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1.3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Keep</a:t>
                      </a:r>
                      <a:endParaRPr lang="zh-TW" altLang="en-US" sz="12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50680548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zh-TW" alt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舊案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)</a:t>
                      </a:r>
                      <a:endParaRPr lang="zh-TW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IC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內部提供</a:t>
                      </a:r>
                      <a:endParaRPr lang="zh-TW" alt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zh-TW" alt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</a:t>
                      </a:r>
                      <a:r>
                        <a:rPr lang="zh-TW" altLang="en-US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提高到 </a:t>
                      </a:r>
                      <a:r>
                        <a:rPr lang="en-US" altLang="zh-TW" sz="1200" b="1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1.25 / 1.3</a:t>
                      </a:r>
                      <a:endParaRPr lang="zh-TW" altLang="en-US" sz="1200" b="1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 根據案子狀況，轉換成 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Case4 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或 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Case5</a:t>
                      </a:r>
                      <a:endParaRPr lang="zh-TW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204345521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DE16CB03-7F26-4A82-BE0B-FEDAD84695A4}"/>
              </a:ext>
            </a:extLst>
          </p:cNvPr>
          <p:cNvSpPr txBox="1"/>
          <p:nvPr/>
        </p:nvSpPr>
        <p:spPr>
          <a:xfrm>
            <a:off x="6833658" y="144011"/>
            <a:ext cx="5224992" cy="954107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highlight>
                  <a:srgbClr val="FFFF00"/>
                </a:highlight>
              </a:rPr>
              <a:t>重點宣導</a:t>
            </a:r>
            <a:endParaRPr lang="en-US" altLang="zh-TW" sz="1400" b="1" dirty="0">
              <a:highlight>
                <a:srgbClr val="FFFF00"/>
              </a:highlight>
            </a:endParaRPr>
          </a:p>
          <a:p>
            <a:r>
              <a:rPr lang="en-US" altLang="zh-TW" sz="1400" b="1" dirty="0"/>
              <a:t>(1)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FW update </a:t>
            </a:r>
            <a:r>
              <a:rPr lang="zh-TW" altLang="en-US" sz="1400" b="1" dirty="0"/>
              <a:t>不可偷改</a:t>
            </a:r>
            <a:r>
              <a:rPr lang="en-US" altLang="zh-TW" sz="1400" b="1" dirty="0"/>
              <a:t>VDDD</a:t>
            </a:r>
            <a:r>
              <a:rPr lang="zh-TW" altLang="en-US" sz="1400" b="1" dirty="0"/>
              <a:t>電壓</a:t>
            </a:r>
            <a:r>
              <a:rPr lang="en-US" altLang="zh-TW" sz="1400" b="1" dirty="0"/>
              <a:t>, </a:t>
            </a:r>
            <a:r>
              <a:rPr lang="zh-TW" altLang="en-US" sz="1400" b="1" dirty="0"/>
              <a:t>須寫在</a:t>
            </a:r>
            <a:r>
              <a:rPr lang="en-US" altLang="zh-TW" sz="1400" b="1" dirty="0"/>
              <a:t>release note</a:t>
            </a:r>
            <a:br>
              <a:rPr lang="en-US" altLang="zh-TW" sz="1400" b="1" dirty="0"/>
            </a:br>
            <a:r>
              <a:rPr lang="en-US" altLang="zh-TW" sz="1400" b="1" dirty="0"/>
              <a:t>(2)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FW </a:t>
            </a:r>
            <a:r>
              <a:rPr lang="zh-TW" altLang="en-US" sz="1400" b="1" dirty="0"/>
              <a:t>發布前</a:t>
            </a:r>
            <a:r>
              <a:rPr lang="en-US" altLang="zh-TW" sz="1400" b="1" dirty="0"/>
              <a:t>,</a:t>
            </a:r>
            <a:r>
              <a:rPr lang="zh-TW" altLang="en-US" sz="1400" b="1" dirty="0"/>
              <a:t>須與</a:t>
            </a:r>
            <a:r>
              <a:rPr lang="en-US" altLang="zh-TW" sz="1400" b="1" dirty="0"/>
              <a:t>SE / PM </a:t>
            </a:r>
            <a:r>
              <a:rPr lang="zh-TW" altLang="en-US" sz="1400" b="1" dirty="0"/>
              <a:t>先行確認目前案子進展</a:t>
            </a:r>
            <a:endParaRPr lang="en-US" altLang="zh-TW" sz="1400" b="1" dirty="0"/>
          </a:p>
          <a:p>
            <a:r>
              <a:rPr lang="en-US" altLang="zh-TW" sz="1400" b="1" dirty="0"/>
              <a:t>(3)</a:t>
            </a:r>
            <a:r>
              <a:rPr lang="zh-TW" altLang="en-US" sz="1400" b="1" dirty="0"/>
              <a:t> 現階段對策是以</a:t>
            </a:r>
            <a:r>
              <a:rPr lang="en-US" altLang="zh-TW" sz="1400" b="1" dirty="0"/>
              <a:t>SRAM function </a:t>
            </a:r>
            <a:r>
              <a:rPr lang="zh-TW" altLang="en-US" sz="1400" b="1" dirty="0"/>
              <a:t>正常為主，降溫需求是其次</a:t>
            </a:r>
          </a:p>
        </p:txBody>
      </p:sp>
    </p:spTree>
    <p:extLst>
      <p:ext uri="{BB962C8B-B14F-4D97-AF65-F5344CB8AC3E}">
        <p14:creationId xmlns:p14="http://schemas.microsoft.com/office/powerpoint/2010/main" val="375264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65D04-3B37-487E-A90C-753A4CFD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VDDD</a:t>
            </a:r>
            <a:r>
              <a:rPr lang="zh-TW" altLang="en-US" dirty="0"/>
              <a:t> 新案對策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50A84D-19FF-41B0-9196-B7EC800C3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053036"/>
            <a:ext cx="11040533" cy="5389709"/>
          </a:xfrm>
        </p:spPr>
        <p:txBody>
          <a:bodyPr/>
          <a:lstStyle/>
          <a:p>
            <a:r>
              <a:rPr lang="zh-TW" altLang="en-US" sz="1400" dirty="0"/>
              <a:t>新案對策</a:t>
            </a:r>
            <a:endParaRPr lang="en-US" altLang="zh-TW" sz="14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sz="1400" dirty="0"/>
          </a:p>
          <a:p>
            <a:endParaRPr lang="en-US" altLang="zh-TW" sz="1400" dirty="0"/>
          </a:p>
          <a:p>
            <a:r>
              <a:rPr lang="en-US" altLang="zh-TW" sz="1400" dirty="0">
                <a:latin typeface="+mn-ea"/>
              </a:rPr>
              <a:t>Case1 (</a:t>
            </a:r>
            <a:r>
              <a:rPr lang="zh-TW" altLang="en-US" sz="1200" dirty="0">
                <a:latin typeface="+mn-ea"/>
              </a:rPr>
              <a:t>新案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外灌</a:t>
            </a:r>
            <a:r>
              <a:rPr lang="zh-TW" altLang="en-US" sz="1200" dirty="0">
                <a:latin typeface="+mn-ea"/>
              </a:rPr>
              <a:t>應用</a:t>
            </a:r>
            <a:r>
              <a:rPr lang="en-US" altLang="zh-TW" sz="1200" dirty="0">
                <a:latin typeface="+mn-ea"/>
              </a:rPr>
              <a:t>) </a:t>
            </a:r>
          </a:p>
          <a:p>
            <a:pPr lvl="1"/>
            <a:r>
              <a:rPr lang="en-US" altLang="zh-TW" sz="1200" dirty="0">
                <a:effectLst/>
                <a:latin typeface="+mn-ea"/>
              </a:rPr>
              <a:t>External LDO</a:t>
            </a:r>
            <a:r>
              <a:rPr lang="zh-TW" altLang="en-US" sz="1200" dirty="0">
                <a:effectLst/>
                <a:latin typeface="+mn-ea"/>
              </a:rPr>
              <a:t>提供電壓</a:t>
            </a:r>
            <a:r>
              <a:rPr lang="zh-TW" altLang="en-US" sz="1200" dirty="0">
                <a:latin typeface="+mn-ea"/>
              </a:rPr>
              <a:t>一律是</a:t>
            </a:r>
            <a:r>
              <a:rPr lang="en-US" altLang="zh-TW" sz="1200" dirty="0">
                <a:latin typeface="+mn-ea"/>
              </a:rPr>
              <a:t>1.3V</a:t>
            </a:r>
          </a:p>
          <a:p>
            <a:pPr lvl="1"/>
            <a:r>
              <a:rPr lang="en-US" altLang="zh-TW" sz="1200" dirty="0">
                <a:latin typeface="+mn-ea"/>
              </a:rPr>
              <a:t>Internal VDDD</a:t>
            </a:r>
            <a:r>
              <a:rPr lang="zh-TW" altLang="en-US" sz="1200" dirty="0">
                <a:latin typeface="+mn-ea"/>
              </a:rPr>
              <a:t>設定電壓一律是</a:t>
            </a:r>
            <a:r>
              <a:rPr lang="en-US" altLang="zh-TW" sz="1200" dirty="0">
                <a:latin typeface="+mn-ea"/>
              </a:rPr>
              <a:t>1.2V</a:t>
            </a:r>
          </a:p>
          <a:p>
            <a:pPr lvl="1"/>
            <a:endParaRPr lang="en-US" altLang="zh-TW" sz="1200" dirty="0">
              <a:latin typeface="+mn-ea"/>
            </a:endParaRPr>
          </a:p>
          <a:p>
            <a:r>
              <a:rPr lang="en-US" altLang="zh-TW" sz="1400" dirty="0">
                <a:latin typeface="+mn-ea"/>
              </a:rPr>
              <a:t>Case2 (</a:t>
            </a:r>
            <a:r>
              <a:rPr lang="zh-TW" altLang="en-US" sz="1200" dirty="0">
                <a:latin typeface="+mn-ea"/>
              </a:rPr>
              <a:t>新案</a:t>
            </a:r>
            <a:r>
              <a:rPr lang="zh-TW" altLang="en-US" sz="1200" dirty="0">
                <a:highlight>
                  <a:srgbClr val="00FF00"/>
                </a:highlight>
                <a:latin typeface="+mn-ea"/>
              </a:rPr>
              <a:t>內建</a:t>
            </a:r>
            <a:r>
              <a:rPr lang="zh-TW" altLang="en-US" sz="1200" dirty="0">
                <a:latin typeface="+mn-ea"/>
              </a:rPr>
              <a:t>應用</a:t>
            </a:r>
            <a:r>
              <a:rPr lang="en-US" altLang="zh-TW" sz="1200" dirty="0">
                <a:latin typeface="+mn-ea"/>
              </a:rPr>
              <a:t>) </a:t>
            </a:r>
          </a:p>
          <a:p>
            <a:pPr lvl="1"/>
            <a:r>
              <a:rPr lang="en-US" altLang="zh-TW" sz="1200" dirty="0">
                <a:latin typeface="+mn-ea"/>
              </a:rPr>
              <a:t>Internal VDDD</a:t>
            </a:r>
            <a:r>
              <a:rPr lang="zh-TW" altLang="en-US" sz="1200" dirty="0">
                <a:latin typeface="+mn-ea"/>
              </a:rPr>
              <a:t>設定電壓一律是</a:t>
            </a:r>
            <a:r>
              <a:rPr lang="en-US" altLang="zh-TW" sz="1200" dirty="0">
                <a:latin typeface="+mn-ea"/>
              </a:rPr>
              <a:t>1.3V</a:t>
            </a:r>
          </a:p>
          <a:p>
            <a:pPr marL="457200" lvl="1" indent="0">
              <a:buNone/>
            </a:pPr>
            <a:endParaRPr lang="zh-TW" altLang="en-US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B9E306-0C56-469A-8C92-4D1E18980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5B3D18C-C51F-407C-A7D4-C4C22A546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978533"/>
              </p:ext>
            </p:extLst>
          </p:nvPr>
        </p:nvGraphicFramePr>
        <p:xfrm>
          <a:off x="1016236" y="1402097"/>
          <a:ext cx="7905092" cy="133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2313">
                  <a:extLst>
                    <a:ext uri="{9D8B030D-6E8A-4147-A177-3AD203B41FA5}">
                      <a16:colId xmlns:a16="http://schemas.microsoft.com/office/drawing/2014/main" val="94367799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777914309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45083259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991575610"/>
                    </a:ext>
                  </a:extLst>
                </a:gridCol>
                <a:gridCol w="3390779">
                  <a:extLst>
                    <a:ext uri="{9D8B030D-6E8A-4147-A177-3AD203B41FA5}">
                      <a16:colId xmlns:a16="http://schemas.microsoft.com/office/drawing/2014/main" val="103080756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VDDD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類型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External LDO</a:t>
                      </a:r>
                    </a:p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(LDO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的電壓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Internal VDDD</a:t>
                      </a:r>
                    </a:p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(FW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設定電壓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Note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4014270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Case1 (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新</a:t>
                      </a: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案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外掛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LDO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提供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.2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新案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外灌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應用</a:t>
                      </a: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16649682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Case</a:t>
                      </a:r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新</a:t>
                      </a:r>
                      <a:r>
                        <a:rPr lang="zh-TW" sz="1200" dirty="0">
                          <a:effectLst/>
                          <a:latin typeface="+mn-ea"/>
                          <a:ea typeface="+mn-ea"/>
                        </a:rPr>
                        <a:t>案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IC</a:t>
                      </a:r>
                      <a:r>
                        <a:rPr lang="zh-TW" altLang="en-US" sz="1200" dirty="0">
                          <a:effectLst/>
                          <a:latin typeface="+mn-ea"/>
                          <a:ea typeface="+mn-ea"/>
                        </a:rPr>
                        <a:t>內部提供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+mn-ea"/>
                          <a:ea typeface="+mn-ea"/>
                        </a:rPr>
                        <a:t>1.3</a:t>
                      </a:r>
                      <a:endParaRPr lang="zh-TW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新案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+mn-cs"/>
                        </a:rPr>
                        <a:t>內建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應用</a:t>
                      </a:r>
                      <a:endParaRPr lang="zh-TW" altLang="zh-TW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710453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6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master9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3577" y="2142566"/>
            <a:ext cx="4763475" cy="151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302000" y="3727450"/>
            <a:ext cx="5588000" cy="64633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3600" dirty="0">
                <a:cs typeface="Arial" pitchFamily="34" charset="0"/>
              </a:rPr>
              <a:t>Drive for better vision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CATEGORY" val="Primary Field Layouts"/>
  <p:tag name="LAYOUTDISPLAYNAME" val="Two Columns"/>
  <p:tag name="ALLOWMORETHANONE" val="Yes"/>
  <p:tag name="ALLOWINCLUDEINTOC" val="Yes"/>
  <p:tag name="PAGETYPE" val="BodyPage"/>
  <p:tag name="LAYOUTNAME" val="Two Columns"/>
  <p:tag name="ALLOWPAGETITLE" val="Yes"/>
  <p:tag name="ALLOWPAGESUBTITLE" val="Yes"/>
</p:tagLst>
</file>

<file path=ppt/theme/theme1.xml><?xml version="1.0" encoding="utf-8"?>
<a:theme xmlns:a="http://schemas.openxmlformats.org/drawingml/2006/main" name="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Arial Unicode MS" pitchFamily="34" charset="-120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rgbClr val="00336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itchFamily="34" charset="-12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rgbClr val="CC33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2536</TotalTime>
  <Words>372</Words>
  <Application>Microsoft Office PowerPoint</Application>
  <PresentationFormat>寬螢幕</PresentationFormat>
  <Paragraphs>110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Arial</vt:lpstr>
      <vt:lpstr>Calibri</vt:lpstr>
      <vt:lpstr>Tahoma</vt:lpstr>
      <vt:lpstr>Times New Roman</vt:lpstr>
      <vt:lpstr>Wingdings</vt:lpstr>
      <vt:lpstr>~1086908</vt:lpstr>
      <vt:lpstr>1_~1086908</vt:lpstr>
      <vt:lpstr>PowerPoint 簡報</vt:lpstr>
      <vt:lpstr>VDDD 舊案對策</vt:lpstr>
      <vt:lpstr>VDDD 新案對策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 Lin(林昱享)</dc:creator>
  <cp:lastModifiedBy>Dennis Huang(黃得祐)</cp:lastModifiedBy>
  <cp:revision>3740</cp:revision>
  <dcterms:created xsi:type="dcterms:W3CDTF">2020-02-27T02:27:42Z</dcterms:created>
  <dcterms:modified xsi:type="dcterms:W3CDTF">2022-12-14T06:09:32Z</dcterms:modified>
</cp:coreProperties>
</file>