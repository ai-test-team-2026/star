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  <p:sldMasterId id="2147483675" r:id="rId2"/>
  </p:sldMasterIdLst>
  <p:notesMasterIdLst>
    <p:notesMasterId r:id="rId11"/>
  </p:notesMasterIdLst>
  <p:sldIdLst>
    <p:sldId id="269" r:id="rId3"/>
    <p:sldId id="2382" r:id="rId4"/>
    <p:sldId id="2351" r:id="rId5"/>
    <p:sldId id="2350" r:id="rId6"/>
    <p:sldId id="2383" r:id="rId7"/>
    <p:sldId id="2386" r:id="rId8"/>
    <p:sldId id="2384" r:id="rId9"/>
    <p:sldId id="2340" r:id="rId10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pos="39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33"/>
    <a:srgbClr val="333333"/>
    <a:srgbClr val="FF9999"/>
    <a:srgbClr val="DDDDDD"/>
    <a:srgbClr val="009900"/>
    <a:srgbClr val="FF6600"/>
    <a:srgbClr val="F26B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78" autoAdjust="0"/>
    <p:restoredTop sz="94235" autoAdjust="0"/>
  </p:normalViewPr>
  <p:slideViewPr>
    <p:cSldViewPr snapToGrid="0">
      <p:cViewPr varScale="1">
        <p:scale>
          <a:sx n="72" d="100"/>
          <a:sy n="72" d="100"/>
        </p:scale>
        <p:origin x="624" y="54"/>
      </p:cViewPr>
      <p:guideLst>
        <p:guide pos="3840"/>
        <p:guide pos="3940"/>
        <p:guide orient="horz" pos="216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E63AF9CA-E989-4981-A9F4-76016C93C15C}" type="datetimeFigureOut">
              <a:rPr lang="zh-TW" altLang="en-US" smtClean="0"/>
              <a:t>2022/1/13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B735E237-882D-43E1-ABE9-26BF3B2898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9780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pPr defTabSz="1035474" fontAlgn="base">
              <a:spcBef>
                <a:spcPct val="0"/>
              </a:spcBef>
              <a:spcAft>
                <a:spcPct val="0"/>
              </a:spcAft>
              <a:defRPr/>
            </a:pPr>
            <a:fld id="{16C0A83C-1154-49FE-9E38-94873B4CFCE0}" type="slidenum">
              <a:rPr kumimoji="1" lang="en-US" altLang="zh-TW" sz="1400">
                <a:solidFill>
                  <a:srgbClr val="000000"/>
                </a:solidFill>
                <a:latin typeface="Tahoma" panose="020B0604030504040204" pitchFamily="34" charset="0"/>
                <a:ea typeface="Arial Unicode MS" pitchFamily="34" charset="-120"/>
                <a:cs typeface="Arial Unicode MS" panose="020B0604020202020204" pitchFamily="34" charset="-120"/>
              </a:rPr>
              <a:pPr defTabSz="1035474"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kumimoji="1" lang="en-US" altLang="zh-TW" sz="1400">
              <a:solidFill>
                <a:srgbClr val="000000"/>
              </a:solidFill>
              <a:latin typeface="Tahoma" panose="020B0604030504040204" pitchFamily="34" charset="0"/>
              <a:ea typeface="Arial Unicode MS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193675" y="820738"/>
            <a:ext cx="7416800" cy="4173537"/>
          </a:xfrm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7342" y="5270115"/>
            <a:ext cx="5224447" cy="2949559"/>
          </a:xfrm>
          <a:noFill/>
        </p:spPr>
        <p:txBody>
          <a:bodyPr/>
          <a:lstStyle/>
          <a:p>
            <a:pPr eaLnBrk="1" hangingPunct="1"/>
            <a:endParaRPr lang="en-US" altLang="zh-CN">
              <a:ea typeface="SimSun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95171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2336800" cy="4876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9pPr>
          </a:lstStyle>
          <a:p>
            <a:pPr algn="ctr" eaLnBrk="1" hangingPunct="1">
              <a:defRPr/>
            </a:pPr>
            <a:endParaRPr lang="en-GB" altLang="zh-TW" sz="2400"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11" name="Line 18"/>
          <p:cNvSpPr>
            <a:spLocks noChangeShapeType="1"/>
          </p:cNvSpPr>
          <p:nvPr/>
        </p:nvSpPr>
        <p:spPr bwMode="auto">
          <a:xfrm flipV="1">
            <a:off x="846667" y="660400"/>
            <a:ext cx="6045200" cy="25400"/>
          </a:xfrm>
          <a:prstGeom prst="line">
            <a:avLst/>
          </a:prstGeom>
          <a:noFill/>
          <a:ln w="44450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TW" altLang="en-US" sz="1800"/>
          </a:p>
        </p:txBody>
      </p:sp>
      <p:sp>
        <p:nvSpPr>
          <p:cNvPr id="12" name="Line 19"/>
          <p:cNvSpPr>
            <a:spLocks noChangeShapeType="1"/>
          </p:cNvSpPr>
          <p:nvPr/>
        </p:nvSpPr>
        <p:spPr bwMode="auto">
          <a:xfrm flipV="1">
            <a:off x="11243734" y="660400"/>
            <a:ext cx="626533" cy="12700"/>
          </a:xfrm>
          <a:prstGeom prst="line">
            <a:avLst/>
          </a:prstGeom>
          <a:noFill/>
          <a:ln w="44450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TW" altLang="en-US" sz="1800"/>
          </a:p>
        </p:txBody>
      </p:sp>
      <p:grpSp>
        <p:nvGrpSpPr>
          <p:cNvPr id="26" name="Group 36">
            <a:extLst>
              <a:ext uri="{FF2B5EF4-FFF2-40B4-BE49-F238E27FC236}">
                <a16:creationId xmlns:a16="http://schemas.microsoft.com/office/drawing/2014/main" id="{1B43B23C-4960-435F-AC1D-D5E816E68B2C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8993188" y="5821365"/>
            <a:ext cx="2379663" cy="588963"/>
            <a:chOff x="592" y="1676"/>
            <a:chExt cx="1499" cy="371"/>
          </a:xfrm>
        </p:grpSpPr>
        <p:sp>
          <p:nvSpPr>
            <p:cNvPr id="27" name="Text Box 37">
              <a:extLst>
                <a:ext uri="{FF2B5EF4-FFF2-40B4-BE49-F238E27FC236}">
                  <a16:creationId xmlns:a16="http://schemas.microsoft.com/office/drawing/2014/main" id="{8D349F1E-C2D9-40CB-839F-B4481F6DC6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2" y="1676"/>
              <a:ext cx="1499" cy="37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dist">
                <a:lnSpc>
                  <a:spcPts val="2000"/>
                </a:lnSpc>
                <a:defRPr/>
              </a:pPr>
              <a:r>
                <a:rPr lang="en-US" altLang="zh-TW" sz="1500" b="0" dirty="0">
                  <a:latin typeface="Arial" charset="0"/>
                  <a:cs typeface="Arial" charset="0"/>
                </a:rPr>
                <a:t>Himax Technologies, Inc.</a:t>
              </a:r>
            </a:p>
            <a:p>
              <a:pPr algn="dist">
                <a:lnSpc>
                  <a:spcPts val="2000"/>
                </a:lnSpc>
                <a:defRPr/>
              </a:pPr>
              <a:r>
                <a:rPr lang="zh-TW" altLang="en-US" sz="1600" b="0" dirty="0">
                  <a:latin typeface="Arial" charset="0"/>
                  <a:ea typeface="華康中黑體(P)-UN" pitchFamily="34" charset="-120"/>
                  <a:cs typeface="Arial" charset="0"/>
                </a:rPr>
                <a:t>奇景光電股份有限公司</a:t>
              </a:r>
            </a:p>
          </p:txBody>
        </p:sp>
        <p:sp>
          <p:nvSpPr>
            <p:cNvPr id="28" name="Line 38">
              <a:extLst>
                <a:ext uri="{FF2B5EF4-FFF2-40B4-BE49-F238E27FC236}">
                  <a16:creationId xmlns:a16="http://schemas.microsoft.com/office/drawing/2014/main" id="{BC8B5AB0-27BD-406D-AF39-56F468641E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66" y="1861"/>
              <a:ext cx="1347" cy="0"/>
            </a:xfrm>
            <a:prstGeom prst="line">
              <a:avLst/>
            </a:prstGeom>
            <a:noFill/>
            <a:ln w="6350">
              <a:solidFill>
                <a:srgbClr val="00336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TW" altLang="en-US">
                <a:latin typeface="Arial" charset="0"/>
              </a:endParaRPr>
            </a:p>
          </p:txBody>
        </p:sp>
      </p:grpSp>
      <p:sp>
        <p:nvSpPr>
          <p:cNvPr id="29" name="Text Box 20">
            <a:extLst>
              <a:ext uri="{FF2B5EF4-FFF2-40B4-BE49-F238E27FC236}">
                <a16:creationId xmlns:a16="http://schemas.microsoft.com/office/drawing/2014/main" id="{17AE937D-07F0-4970-A4FF-307031DA57D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517412" y="438150"/>
            <a:ext cx="3094117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1pPr>
            <a:lvl2pPr marL="742950" indent="-285750"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2pPr>
            <a:lvl3pPr marL="1143000" indent="-228600"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3pPr>
            <a:lvl4pPr marL="1600200" indent="-228600"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4pPr>
            <a:lvl5pPr marL="2057400" indent="-228600"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9pPr>
          </a:lstStyle>
          <a:p>
            <a:pPr eaLnBrk="1" hangingPunct="1">
              <a:defRPr/>
            </a:pPr>
            <a:r>
              <a:rPr lang="en-US" altLang="zh-TW" sz="2400" b="0" dirty="0">
                <a:cs typeface="+mn-cs"/>
              </a:rPr>
              <a:t>Drive for better vision</a:t>
            </a:r>
          </a:p>
        </p:txBody>
      </p:sp>
      <p:pic>
        <p:nvPicPr>
          <p:cNvPr id="19" name="Picture 24" descr="LOGO-8">
            <a:extLst>
              <a:ext uri="{FF2B5EF4-FFF2-40B4-BE49-F238E27FC236}">
                <a16:creationId xmlns:a16="http://schemas.microsoft.com/office/drawing/2014/main" id="{3973CFE5-7F9C-4E67-8EF1-0AE3C3EF1AB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2520" y="1436223"/>
            <a:ext cx="3286335" cy="1034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Rectangle 4">
            <a:extLst>
              <a:ext uri="{FF2B5EF4-FFF2-40B4-BE49-F238E27FC236}">
                <a16:creationId xmlns:a16="http://schemas.microsoft.com/office/drawing/2014/main" id="{068F1748-776A-4735-9696-0DBFD530605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2140976" y="4859367"/>
            <a:ext cx="1854200" cy="1447800"/>
          </a:xfrm>
          <a:prstGeom prst="rect">
            <a:avLst/>
          </a:prstGeom>
          <a:solidFill>
            <a:schemeClr val="bg1"/>
          </a:solidFill>
          <a:ln w="317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lIns="45720" rIns="27432" anchor="ctr">
            <a:spAutoFit/>
          </a:bodyPr>
          <a:lstStyle/>
          <a:p>
            <a:pPr algn="ctr">
              <a:defRPr/>
            </a:pPr>
            <a:endParaRPr lang="zh-TW" altLang="en-US">
              <a:latin typeface="Arial" charset="0"/>
            </a:endParaRPr>
          </a:p>
        </p:txBody>
      </p:sp>
      <p:sp>
        <p:nvSpPr>
          <p:cNvPr id="20" name="Rectangle 5">
            <a:extLst>
              <a:ext uri="{FF2B5EF4-FFF2-40B4-BE49-F238E27FC236}">
                <a16:creationId xmlns:a16="http://schemas.microsoft.com/office/drawing/2014/main" id="{233A320B-D17D-4392-A3CF-0F8162B5409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2010801" y="5018117"/>
            <a:ext cx="457200" cy="457200"/>
          </a:xfrm>
          <a:prstGeom prst="rect">
            <a:avLst/>
          </a:prstGeom>
          <a:solidFill>
            <a:srgbClr val="003366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9pPr>
          </a:lstStyle>
          <a:p>
            <a:pPr algn="ctr" eaLnBrk="1" hangingPunct="1"/>
            <a:r>
              <a:rPr lang="en-US" altLang="zh-TW" sz="1000" b="0">
                <a:solidFill>
                  <a:schemeClr val="bg1"/>
                </a:solidFill>
                <a:cs typeface="Arial" panose="020B0604020202020204" pitchFamily="34" charset="0"/>
              </a:rPr>
              <a:t>0</a:t>
            </a:r>
          </a:p>
          <a:p>
            <a:pPr algn="ctr" eaLnBrk="1" hangingPunct="1"/>
            <a:r>
              <a:rPr lang="en-US" altLang="zh-TW" sz="1000" b="0">
                <a:solidFill>
                  <a:schemeClr val="bg1"/>
                </a:solidFill>
                <a:cs typeface="Arial" panose="020B0604020202020204" pitchFamily="34" charset="0"/>
              </a:rPr>
              <a:t>51</a:t>
            </a:r>
          </a:p>
          <a:p>
            <a:pPr algn="ctr" eaLnBrk="1" hangingPunct="1"/>
            <a:r>
              <a:rPr lang="en-US" altLang="zh-TW" sz="1000" b="0">
                <a:solidFill>
                  <a:schemeClr val="bg1"/>
                </a:solidFill>
                <a:cs typeface="Arial" panose="020B0604020202020204" pitchFamily="34" charset="0"/>
              </a:rPr>
              <a:t>102</a:t>
            </a:r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54FEE363-884E-45BB-A8F4-4AB4A89B2B0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1420251" y="3567142"/>
            <a:ext cx="457200" cy="457200"/>
          </a:xfrm>
          <a:prstGeom prst="rect">
            <a:avLst/>
          </a:prstGeom>
          <a:solidFill>
            <a:srgbClr val="1B65B7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 sz="1000" b="0" dirty="0">
                <a:solidFill>
                  <a:schemeClr val="bg1"/>
                </a:solidFill>
                <a:latin typeface="Arial" charset="0"/>
                <a:cs typeface="Arial" charset="0"/>
              </a:rPr>
              <a:t>27</a:t>
            </a:r>
          </a:p>
          <a:p>
            <a:pPr algn="ctr">
              <a:defRPr/>
            </a:pPr>
            <a:r>
              <a:rPr lang="en-US" altLang="zh-TW" sz="1000" b="0" dirty="0">
                <a:solidFill>
                  <a:schemeClr val="bg1"/>
                </a:solidFill>
                <a:latin typeface="Arial" charset="0"/>
                <a:cs typeface="Arial" charset="0"/>
              </a:rPr>
              <a:t>101</a:t>
            </a:r>
          </a:p>
          <a:p>
            <a:pPr algn="ctr">
              <a:defRPr/>
            </a:pPr>
            <a:r>
              <a:rPr lang="en-US" altLang="zh-TW" sz="1000" b="0" dirty="0">
                <a:solidFill>
                  <a:schemeClr val="bg1"/>
                </a:solidFill>
                <a:latin typeface="Arial" charset="0"/>
                <a:cs typeface="Arial" charset="0"/>
              </a:rPr>
              <a:t>183</a:t>
            </a:r>
          </a:p>
        </p:txBody>
      </p:sp>
      <p:sp>
        <p:nvSpPr>
          <p:cNvPr id="22" name="Rectangle 7">
            <a:extLst>
              <a:ext uri="{FF2B5EF4-FFF2-40B4-BE49-F238E27FC236}">
                <a16:creationId xmlns:a16="http://schemas.microsoft.com/office/drawing/2014/main" id="{79450377-474C-41F1-92FC-394B8C30B4A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859864" y="5018117"/>
            <a:ext cx="457200" cy="457200"/>
          </a:xfrm>
          <a:prstGeom prst="rect">
            <a:avLst/>
          </a:prstGeom>
          <a:solidFill>
            <a:srgbClr val="FFCB6D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255</a:t>
            </a:r>
          </a:p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203</a:t>
            </a:r>
          </a:p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109</a:t>
            </a:r>
          </a:p>
        </p:txBody>
      </p:sp>
      <p:sp>
        <p:nvSpPr>
          <p:cNvPr id="23" name="Rectangle 8">
            <a:extLst>
              <a:ext uri="{FF2B5EF4-FFF2-40B4-BE49-F238E27FC236}">
                <a16:creationId xmlns:a16="http://schemas.microsoft.com/office/drawing/2014/main" id="{A27C58CA-90DA-4123-9C85-00526CCC0C0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2010801" y="5703917"/>
            <a:ext cx="457200" cy="457200"/>
          </a:xfrm>
          <a:prstGeom prst="rect">
            <a:avLst/>
          </a:prstGeom>
          <a:solidFill>
            <a:srgbClr val="CCCC9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204</a:t>
            </a:r>
          </a:p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204</a:t>
            </a:r>
          </a:p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153</a:t>
            </a:r>
          </a:p>
        </p:txBody>
      </p:sp>
      <p:sp>
        <p:nvSpPr>
          <p:cNvPr id="24" name="Rectangle 9">
            <a:extLst>
              <a:ext uri="{FF2B5EF4-FFF2-40B4-BE49-F238E27FC236}">
                <a16:creationId xmlns:a16="http://schemas.microsoft.com/office/drawing/2014/main" id="{0B6ED69F-80F2-4059-85A3-79BD17FCA1E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1436126" y="5703917"/>
            <a:ext cx="457200" cy="457200"/>
          </a:xfrm>
          <a:prstGeom prst="rect">
            <a:avLst/>
          </a:prstGeom>
          <a:solidFill>
            <a:srgbClr val="F26B6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CN" sz="1000" b="0" dirty="0">
                <a:latin typeface="Arial" charset="0"/>
                <a:cs typeface="Arial" charset="0"/>
              </a:rPr>
              <a:t>2</a:t>
            </a:r>
            <a:r>
              <a:rPr lang="en-US" altLang="zh-TW" sz="1000" b="0" dirty="0">
                <a:latin typeface="Arial" charset="0"/>
                <a:cs typeface="Arial" charset="0"/>
              </a:rPr>
              <a:t>42</a:t>
            </a:r>
          </a:p>
          <a:p>
            <a:pPr algn="ctr">
              <a:defRPr/>
            </a:pPr>
            <a:r>
              <a:rPr lang="en-US" altLang="zh-TW" sz="1000" b="0" dirty="0">
                <a:latin typeface="Arial" charset="0"/>
                <a:cs typeface="Arial" charset="0"/>
              </a:rPr>
              <a:t>107</a:t>
            </a:r>
            <a:endParaRPr lang="en-US" altLang="zh-CN" sz="1000" b="0" dirty="0">
              <a:latin typeface="Arial" charset="0"/>
              <a:cs typeface="Arial" charset="0"/>
            </a:endParaRPr>
          </a:p>
          <a:p>
            <a:pPr algn="ctr">
              <a:defRPr/>
            </a:pPr>
            <a:r>
              <a:rPr lang="en-US" altLang="zh-TW" sz="1000" b="0" dirty="0">
                <a:latin typeface="Arial" charset="0"/>
                <a:ea typeface="SimSun" pitchFamily="2" charset="-122"/>
                <a:cs typeface="Arial" charset="0"/>
              </a:rPr>
              <a:t>111</a:t>
            </a:r>
          </a:p>
        </p:txBody>
      </p:sp>
      <p:sp>
        <p:nvSpPr>
          <p:cNvPr id="25" name="Rectangle 10">
            <a:extLst>
              <a:ext uri="{FF2B5EF4-FFF2-40B4-BE49-F238E27FC236}">
                <a16:creationId xmlns:a16="http://schemas.microsoft.com/office/drawing/2014/main" id="{D892883B-0B90-456B-BF45-02349D8980D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859864" y="5703917"/>
            <a:ext cx="457200" cy="457200"/>
          </a:xfrm>
          <a:prstGeom prst="rect">
            <a:avLst/>
          </a:prstGeom>
          <a:solidFill>
            <a:srgbClr val="78828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120</a:t>
            </a:r>
          </a:p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130</a:t>
            </a:r>
          </a:p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130</a:t>
            </a:r>
          </a:p>
        </p:txBody>
      </p:sp>
      <p:sp>
        <p:nvSpPr>
          <p:cNvPr id="30" name="Rectangle 11">
            <a:extLst>
              <a:ext uri="{FF2B5EF4-FFF2-40B4-BE49-F238E27FC236}">
                <a16:creationId xmlns:a16="http://schemas.microsoft.com/office/drawing/2014/main" id="{5066DBDB-1ADC-4A1B-AE26-6EB2BA1701E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1436126" y="5018117"/>
            <a:ext cx="457200" cy="457200"/>
          </a:xfrm>
          <a:prstGeom prst="rect">
            <a:avLst/>
          </a:prstGeom>
          <a:solidFill>
            <a:srgbClr val="86D3E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134</a:t>
            </a:r>
          </a:p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211</a:t>
            </a:r>
          </a:p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226</a:t>
            </a:r>
          </a:p>
        </p:txBody>
      </p:sp>
    </p:spTree>
    <p:extLst>
      <p:ext uri="{BB962C8B-B14F-4D97-AF65-F5344CB8AC3E}">
        <p14:creationId xmlns:p14="http://schemas.microsoft.com/office/powerpoint/2010/main" val="1690253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FFB44C-6645-4E61-8457-F2B80FEA1EA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53434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F33CBA-1247-4C14-B683-643FC3A8E47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12791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18066" y="1338263"/>
            <a:ext cx="5418667" cy="50085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239933" y="1338263"/>
            <a:ext cx="5418667" cy="50085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9D2E18-42C3-4680-BC63-70782EBD825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43759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E68AB4-08CD-4E56-BF17-3F09C5C15FD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37712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837D90-326A-4058-A0E4-7898849E073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25580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08174E-B202-471B-A104-19933BDF4FE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18429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4E5901-37B1-4700-8873-6719E1ED2DB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43243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ED6995-629D-4A27-9A6E-FAE707FB6B5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47101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094B4F-C2C0-4AA7-987C-424ED860A64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27292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96352" y="152401"/>
            <a:ext cx="2762249" cy="61944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1" y="152401"/>
            <a:ext cx="8083551" cy="61944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B158BE-7149-4333-815A-701C09F391A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808566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1143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618067" y="1338263"/>
            <a:ext cx="11040533" cy="5008562"/>
          </a:xfrm>
        </p:spPr>
        <p:txBody>
          <a:bodyPr/>
          <a:lstStyle/>
          <a:p>
            <a:pPr lvl="0"/>
            <a:endParaRPr lang="zh-TW" altLang="en-US" noProof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0830C9-2416-42AC-A916-AAD9879F567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897498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標題，文字及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1143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618066" y="1338263"/>
            <a:ext cx="5418667" cy="500856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6239933" y="1338264"/>
            <a:ext cx="5418667" cy="242728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3"/>
          </p:nvPr>
        </p:nvSpPr>
        <p:spPr>
          <a:xfrm>
            <a:off x="6239933" y="3917951"/>
            <a:ext cx="5418667" cy="242887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8CCE99-CD70-4802-9ADA-03F0C1A0A83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010165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0AD31ABC-30A3-4172-9530-BFCE73318D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336800" cy="4876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>
            <a:lvl1pPr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1pPr>
            <a:lvl2pPr marL="742950" indent="-285750"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2pPr>
            <a:lvl3pPr marL="1143000" indent="-228600"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3pPr>
            <a:lvl4pPr marL="1600200" indent="-228600"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4pPr>
            <a:lvl5pPr marL="2057400" indent="-228600"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9pPr>
          </a:lstStyle>
          <a:p>
            <a:pPr eaLnBrk="1" hangingPunct="1">
              <a:defRPr/>
            </a:pPr>
            <a:endParaRPr lang="en-GB" altLang="zh-TW" sz="2400" b="0">
              <a:latin typeface="Times New Roman" panose="02020603050405020304" pitchFamily="18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1" name="Line 18">
            <a:extLst>
              <a:ext uri="{FF2B5EF4-FFF2-40B4-BE49-F238E27FC236}">
                <a16:creationId xmlns:a16="http://schemas.microsoft.com/office/drawing/2014/main" id="{3818EDFF-6235-4D70-B856-0FC39DC8FB4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6667" y="660400"/>
            <a:ext cx="6045200" cy="25400"/>
          </a:xfrm>
          <a:prstGeom prst="line">
            <a:avLst/>
          </a:prstGeom>
          <a:noFill/>
          <a:ln w="4445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800"/>
          </a:p>
        </p:txBody>
      </p:sp>
      <p:sp>
        <p:nvSpPr>
          <p:cNvPr id="12" name="Line 19">
            <a:extLst>
              <a:ext uri="{FF2B5EF4-FFF2-40B4-BE49-F238E27FC236}">
                <a16:creationId xmlns:a16="http://schemas.microsoft.com/office/drawing/2014/main" id="{EDC85CE9-87F2-435C-84DE-95281E7019B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243734" y="660400"/>
            <a:ext cx="626533" cy="12700"/>
          </a:xfrm>
          <a:prstGeom prst="line">
            <a:avLst/>
          </a:prstGeom>
          <a:noFill/>
          <a:ln w="4445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800"/>
          </a:p>
        </p:txBody>
      </p:sp>
      <p:sp>
        <p:nvSpPr>
          <p:cNvPr id="13" name="Text Box 20">
            <a:extLst>
              <a:ext uri="{FF2B5EF4-FFF2-40B4-BE49-F238E27FC236}">
                <a16:creationId xmlns:a16="http://schemas.microsoft.com/office/drawing/2014/main" id="{E74AB7F8-D1B7-40CA-A00C-C1532098B3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7412" y="438150"/>
            <a:ext cx="3094117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1pPr>
            <a:lvl2pPr marL="742950" indent="-285750"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2pPr>
            <a:lvl3pPr marL="1143000" indent="-228600"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3pPr>
            <a:lvl4pPr marL="1600200" indent="-228600"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4pPr>
            <a:lvl5pPr marL="2057400" indent="-228600"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9pPr>
          </a:lstStyle>
          <a:p>
            <a:pPr eaLnBrk="1" hangingPunct="1">
              <a:defRPr/>
            </a:pPr>
            <a:r>
              <a:rPr lang="en-US" altLang="zh-TW" sz="2400" b="0" dirty="0">
                <a:cs typeface="+mn-cs"/>
              </a:rPr>
              <a:t>Drive for better vision</a:t>
            </a:r>
          </a:p>
        </p:txBody>
      </p:sp>
      <p:sp>
        <p:nvSpPr>
          <p:cNvPr id="18" name="文字方塊 23">
            <a:extLst>
              <a:ext uri="{FF2B5EF4-FFF2-40B4-BE49-F238E27FC236}">
                <a16:creationId xmlns:a16="http://schemas.microsoft.com/office/drawing/2014/main" id="{D67E8365-D19F-4A8C-B166-84E6DF1D1977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19893987">
            <a:off x="283634" y="3133725"/>
            <a:ext cx="1162473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9pPr>
          </a:lstStyle>
          <a:p>
            <a:pPr algn="ctr"/>
            <a:r>
              <a:rPr lang="en-US" altLang="zh-TW" sz="7200" b="0" dirty="0">
                <a:solidFill>
                  <a:srgbClr val="F0F0E1"/>
                </a:solidFill>
              </a:rPr>
              <a:t>Himax Confidential</a:t>
            </a:r>
          </a:p>
        </p:txBody>
      </p:sp>
      <p:pic>
        <p:nvPicPr>
          <p:cNvPr id="20" name="Picture 24" descr="LOGO-8">
            <a:extLst>
              <a:ext uri="{FF2B5EF4-FFF2-40B4-BE49-F238E27FC236}">
                <a16:creationId xmlns:a16="http://schemas.microsoft.com/office/drawing/2014/main" id="{F29F4CEA-AB0C-4383-AAC5-7DBA237D8C1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2520" y="1436223"/>
            <a:ext cx="3286335" cy="1034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6" name="Group 36">
            <a:extLst>
              <a:ext uri="{FF2B5EF4-FFF2-40B4-BE49-F238E27FC236}">
                <a16:creationId xmlns:a16="http://schemas.microsoft.com/office/drawing/2014/main" id="{CB22E013-C416-434B-9ED1-226D20276459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8993188" y="5821365"/>
            <a:ext cx="2379663" cy="588963"/>
            <a:chOff x="592" y="1676"/>
            <a:chExt cx="1499" cy="371"/>
          </a:xfrm>
        </p:grpSpPr>
        <p:sp>
          <p:nvSpPr>
            <p:cNvPr id="27" name="Text Box 37">
              <a:extLst>
                <a:ext uri="{FF2B5EF4-FFF2-40B4-BE49-F238E27FC236}">
                  <a16:creationId xmlns:a16="http://schemas.microsoft.com/office/drawing/2014/main" id="{1B4A2336-B6F7-4907-BAC1-DA847157E6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2" y="1676"/>
              <a:ext cx="1499" cy="37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dist">
                <a:lnSpc>
                  <a:spcPts val="2000"/>
                </a:lnSpc>
                <a:defRPr/>
              </a:pPr>
              <a:r>
                <a:rPr lang="en-US" altLang="zh-TW" sz="1500" b="0" dirty="0">
                  <a:latin typeface="Arial" charset="0"/>
                  <a:cs typeface="Arial" charset="0"/>
                </a:rPr>
                <a:t>Himax Technologies, Inc.</a:t>
              </a:r>
            </a:p>
            <a:p>
              <a:pPr algn="dist">
                <a:lnSpc>
                  <a:spcPts val="2000"/>
                </a:lnSpc>
                <a:defRPr/>
              </a:pPr>
              <a:r>
                <a:rPr lang="zh-TW" altLang="en-US" sz="1600" b="0" dirty="0">
                  <a:latin typeface="Arial" charset="0"/>
                  <a:ea typeface="華康中黑體(P)-UN" pitchFamily="34" charset="-120"/>
                  <a:cs typeface="Arial" charset="0"/>
                </a:rPr>
                <a:t>奇景光電股份有限公司</a:t>
              </a:r>
            </a:p>
          </p:txBody>
        </p:sp>
        <p:sp>
          <p:nvSpPr>
            <p:cNvPr id="28" name="Line 38">
              <a:extLst>
                <a:ext uri="{FF2B5EF4-FFF2-40B4-BE49-F238E27FC236}">
                  <a16:creationId xmlns:a16="http://schemas.microsoft.com/office/drawing/2014/main" id="{D4700176-FBB1-4026-BC12-E53CB2099B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66" y="1861"/>
              <a:ext cx="1347" cy="0"/>
            </a:xfrm>
            <a:prstGeom prst="line">
              <a:avLst/>
            </a:prstGeom>
            <a:noFill/>
            <a:ln w="6350">
              <a:solidFill>
                <a:srgbClr val="00336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TW" altLang="en-US">
                <a:latin typeface="Arial" charset="0"/>
              </a:endParaRPr>
            </a:p>
          </p:txBody>
        </p:sp>
      </p:grpSp>
      <p:sp>
        <p:nvSpPr>
          <p:cNvPr id="19" name="Rectangle 4">
            <a:extLst>
              <a:ext uri="{FF2B5EF4-FFF2-40B4-BE49-F238E27FC236}">
                <a16:creationId xmlns:a16="http://schemas.microsoft.com/office/drawing/2014/main" id="{2E2D0BE6-8CB0-40CA-903F-4E08AB3EF4E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2140976" y="4859367"/>
            <a:ext cx="1854200" cy="1447800"/>
          </a:xfrm>
          <a:prstGeom prst="rect">
            <a:avLst/>
          </a:prstGeom>
          <a:solidFill>
            <a:schemeClr val="bg1"/>
          </a:solidFill>
          <a:ln w="317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lIns="45720" rIns="27432" anchor="ctr">
            <a:spAutoFit/>
          </a:bodyPr>
          <a:lstStyle/>
          <a:p>
            <a:pPr algn="ctr">
              <a:defRPr/>
            </a:pPr>
            <a:endParaRPr lang="zh-TW" altLang="en-US">
              <a:latin typeface="Arial" charset="0"/>
            </a:endParaRPr>
          </a:p>
        </p:txBody>
      </p:sp>
      <p:sp>
        <p:nvSpPr>
          <p:cNvPr id="21" name="Rectangle 5">
            <a:extLst>
              <a:ext uri="{FF2B5EF4-FFF2-40B4-BE49-F238E27FC236}">
                <a16:creationId xmlns:a16="http://schemas.microsoft.com/office/drawing/2014/main" id="{BC4AF9EE-B66E-4F0B-993C-4AB995FE282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2010801" y="5018117"/>
            <a:ext cx="457200" cy="457200"/>
          </a:xfrm>
          <a:prstGeom prst="rect">
            <a:avLst/>
          </a:prstGeom>
          <a:solidFill>
            <a:srgbClr val="003366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9pPr>
          </a:lstStyle>
          <a:p>
            <a:pPr algn="ctr" eaLnBrk="1" hangingPunct="1"/>
            <a:r>
              <a:rPr lang="en-US" altLang="zh-TW" sz="1000" b="0">
                <a:solidFill>
                  <a:schemeClr val="bg1"/>
                </a:solidFill>
                <a:cs typeface="Arial" panose="020B0604020202020204" pitchFamily="34" charset="0"/>
              </a:rPr>
              <a:t>0</a:t>
            </a:r>
          </a:p>
          <a:p>
            <a:pPr algn="ctr" eaLnBrk="1" hangingPunct="1"/>
            <a:r>
              <a:rPr lang="en-US" altLang="zh-TW" sz="1000" b="0">
                <a:solidFill>
                  <a:schemeClr val="bg1"/>
                </a:solidFill>
                <a:cs typeface="Arial" panose="020B0604020202020204" pitchFamily="34" charset="0"/>
              </a:rPr>
              <a:t>51</a:t>
            </a:r>
          </a:p>
          <a:p>
            <a:pPr algn="ctr" eaLnBrk="1" hangingPunct="1"/>
            <a:r>
              <a:rPr lang="en-US" altLang="zh-TW" sz="1000" b="0">
                <a:solidFill>
                  <a:schemeClr val="bg1"/>
                </a:solidFill>
                <a:cs typeface="Arial" panose="020B0604020202020204" pitchFamily="34" charset="0"/>
              </a:rPr>
              <a:t>102</a:t>
            </a:r>
          </a:p>
        </p:txBody>
      </p:sp>
      <p:sp>
        <p:nvSpPr>
          <p:cNvPr id="22" name="Rectangle 6">
            <a:extLst>
              <a:ext uri="{FF2B5EF4-FFF2-40B4-BE49-F238E27FC236}">
                <a16:creationId xmlns:a16="http://schemas.microsoft.com/office/drawing/2014/main" id="{6667CBCF-EF8B-42DF-AB65-907945824C7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1420251" y="3567142"/>
            <a:ext cx="457200" cy="457200"/>
          </a:xfrm>
          <a:prstGeom prst="rect">
            <a:avLst/>
          </a:prstGeom>
          <a:solidFill>
            <a:srgbClr val="1B65B7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 sz="1000" b="0" dirty="0">
                <a:solidFill>
                  <a:schemeClr val="bg1"/>
                </a:solidFill>
                <a:latin typeface="Arial" charset="0"/>
                <a:cs typeface="Arial" charset="0"/>
              </a:rPr>
              <a:t>27</a:t>
            </a:r>
          </a:p>
          <a:p>
            <a:pPr algn="ctr">
              <a:defRPr/>
            </a:pPr>
            <a:r>
              <a:rPr lang="en-US" altLang="zh-TW" sz="1000" b="0" dirty="0">
                <a:solidFill>
                  <a:schemeClr val="bg1"/>
                </a:solidFill>
                <a:latin typeface="Arial" charset="0"/>
                <a:cs typeface="Arial" charset="0"/>
              </a:rPr>
              <a:t>101</a:t>
            </a:r>
          </a:p>
          <a:p>
            <a:pPr algn="ctr">
              <a:defRPr/>
            </a:pPr>
            <a:r>
              <a:rPr lang="en-US" altLang="zh-TW" sz="1000" b="0" dirty="0">
                <a:solidFill>
                  <a:schemeClr val="bg1"/>
                </a:solidFill>
                <a:latin typeface="Arial" charset="0"/>
                <a:cs typeface="Arial" charset="0"/>
              </a:rPr>
              <a:t>183</a:t>
            </a:r>
          </a:p>
        </p:txBody>
      </p:sp>
      <p:sp>
        <p:nvSpPr>
          <p:cNvPr id="23" name="Rectangle 7">
            <a:extLst>
              <a:ext uri="{FF2B5EF4-FFF2-40B4-BE49-F238E27FC236}">
                <a16:creationId xmlns:a16="http://schemas.microsoft.com/office/drawing/2014/main" id="{D6BFBAE3-4A2B-4415-9185-CC6383D56B2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859864" y="5018117"/>
            <a:ext cx="457200" cy="457200"/>
          </a:xfrm>
          <a:prstGeom prst="rect">
            <a:avLst/>
          </a:prstGeom>
          <a:solidFill>
            <a:srgbClr val="FFCB6D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255</a:t>
            </a:r>
          </a:p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203</a:t>
            </a:r>
          </a:p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109</a:t>
            </a:r>
          </a:p>
        </p:txBody>
      </p:sp>
      <p:sp>
        <p:nvSpPr>
          <p:cNvPr id="24" name="Rectangle 8">
            <a:extLst>
              <a:ext uri="{FF2B5EF4-FFF2-40B4-BE49-F238E27FC236}">
                <a16:creationId xmlns:a16="http://schemas.microsoft.com/office/drawing/2014/main" id="{B48D83A1-741A-43A3-B225-0EB50DB8A5B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2010801" y="5703917"/>
            <a:ext cx="457200" cy="457200"/>
          </a:xfrm>
          <a:prstGeom prst="rect">
            <a:avLst/>
          </a:prstGeom>
          <a:solidFill>
            <a:srgbClr val="CCCC9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204</a:t>
            </a:r>
          </a:p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204</a:t>
            </a:r>
          </a:p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153</a:t>
            </a:r>
          </a:p>
        </p:txBody>
      </p:sp>
      <p:sp>
        <p:nvSpPr>
          <p:cNvPr id="25" name="Rectangle 9">
            <a:extLst>
              <a:ext uri="{FF2B5EF4-FFF2-40B4-BE49-F238E27FC236}">
                <a16:creationId xmlns:a16="http://schemas.microsoft.com/office/drawing/2014/main" id="{1A6F35C7-F66C-4176-A755-B4A16CC6C3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1436126" y="5703917"/>
            <a:ext cx="457200" cy="457200"/>
          </a:xfrm>
          <a:prstGeom prst="rect">
            <a:avLst/>
          </a:prstGeom>
          <a:solidFill>
            <a:srgbClr val="F26B6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CN" sz="1000" b="0" dirty="0">
                <a:latin typeface="Arial" charset="0"/>
                <a:cs typeface="Arial" charset="0"/>
              </a:rPr>
              <a:t>2</a:t>
            </a:r>
            <a:r>
              <a:rPr lang="en-US" altLang="zh-TW" sz="1000" b="0" dirty="0">
                <a:latin typeface="Arial" charset="0"/>
                <a:cs typeface="Arial" charset="0"/>
              </a:rPr>
              <a:t>42</a:t>
            </a:r>
          </a:p>
          <a:p>
            <a:pPr algn="ctr">
              <a:defRPr/>
            </a:pPr>
            <a:r>
              <a:rPr lang="en-US" altLang="zh-TW" sz="1000" b="0" dirty="0">
                <a:latin typeface="Arial" charset="0"/>
                <a:cs typeface="Arial" charset="0"/>
              </a:rPr>
              <a:t>107</a:t>
            </a:r>
            <a:endParaRPr lang="en-US" altLang="zh-CN" sz="1000" b="0" dirty="0">
              <a:latin typeface="Arial" charset="0"/>
              <a:cs typeface="Arial" charset="0"/>
            </a:endParaRPr>
          </a:p>
          <a:p>
            <a:pPr algn="ctr">
              <a:defRPr/>
            </a:pPr>
            <a:r>
              <a:rPr lang="en-US" altLang="zh-TW" sz="1000" b="0" dirty="0">
                <a:latin typeface="Arial" charset="0"/>
                <a:ea typeface="SimSun" pitchFamily="2" charset="-122"/>
                <a:cs typeface="Arial" charset="0"/>
              </a:rPr>
              <a:t>111</a:t>
            </a:r>
          </a:p>
        </p:txBody>
      </p:sp>
      <p:sp>
        <p:nvSpPr>
          <p:cNvPr id="29" name="Rectangle 10">
            <a:extLst>
              <a:ext uri="{FF2B5EF4-FFF2-40B4-BE49-F238E27FC236}">
                <a16:creationId xmlns:a16="http://schemas.microsoft.com/office/drawing/2014/main" id="{CDA94314-E4F6-47FA-BF73-2F66E520FA8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859864" y="5703917"/>
            <a:ext cx="457200" cy="457200"/>
          </a:xfrm>
          <a:prstGeom prst="rect">
            <a:avLst/>
          </a:prstGeom>
          <a:solidFill>
            <a:srgbClr val="78828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120</a:t>
            </a:r>
          </a:p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130</a:t>
            </a:r>
          </a:p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130</a:t>
            </a:r>
          </a:p>
        </p:txBody>
      </p:sp>
      <p:sp>
        <p:nvSpPr>
          <p:cNvPr id="30" name="Rectangle 11">
            <a:extLst>
              <a:ext uri="{FF2B5EF4-FFF2-40B4-BE49-F238E27FC236}">
                <a16:creationId xmlns:a16="http://schemas.microsoft.com/office/drawing/2014/main" id="{42722231-D913-4653-B64C-F241D31B9C4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1436126" y="5018117"/>
            <a:ext cx="457200" cy="457200"/>
          </a:xfrm>
          <a:prstGeom prst="rect">
            <a:avLst/>
          </a:prstGeom>
          <a:solidFill>
            <a:srgbClr val="86D3E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134</a:t>
            </a:r>
          </a:p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211</a:t>
            </a:r>
          </a:p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226</a:t>
            </a:r>
          </a:p>
        </p:txBody>
      </p:sp>
    </p:spTree>
    <p:extLst>
      <p:ext uri="{BB962C8B-B14F-4D97-AF65-F5344CB8AC3E}">
        <p14:creationId xmlns:p14="http://schemas.microsoft.com/office/powerpoint/2010/main" val="37922345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7">
            <a:extLst>
              <a:ext uri="{FF2B5EF4-FFF2-40B4-BE49-F238E27FC236}">
                <a16:creationId xmlns:a16="http://schemas.microsoft.com/office/drawing/2014/main" id="{DB19E79B-A342-4C75-A0CE-D0927915B2B5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19893987">
            <a:off x="283634" y="3133725"/>
            <a:ext cx="1162473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9pPr>
          </a:lstStyle>
          <a:p>
            <a:pPr algn="ctr"/>
            <a:r>
              <a:rPr lang="en-US" altLang="zh-TW" sz="7200" b="0">
                <a:solidFill>
                  <a:srgbClr val="F0F0E1"/>
                </a:solidFill>
              </a:rPr>
              <a:t>Himax Confidential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2827E88-67B4-437A-B8CF-DFCB100CCE1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84C18F-EB8D-4FF5-AC15-34A2924EEA8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465219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7">
            <a:extLst>
              <a:ext uri="{FF2B5EF4-FFF2-40B4-BE49-F238E27FC236}">
                <a16:creationId xmlns:a16="http://schemas.microsoft.com/office/drawing/2014/main" id="{74A72C37-4A2E-4240-B1A6-FAA6C2B36C9C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19893987">
            <a:off x="283634" y="3133725"/>
            <a:ext cx="1162473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9pPr>
          </a:lstStyle>
          <a:p>
            <a:pPr algn="ctr"/>
            <a:r>
              <a:rPr lang="en-US" altLang="zh-TW" sz="7200" b="0">
                <a:solidFill>
                  <a:srgbClr val="F0F0E1"/>
                </a:solidFill>
              </a:rPr>
              <a:t>Himax Confidential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8BB3E01-2800-481C-BB00-D3A41E39066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CC2A30-D97C-463A-AAB1-9BA3C57695E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395629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7">
            <a:extLst>
              <a:ext uri="{FF2B5EF4-FFF2-40B4-BE49-F238E27FC236}">
                <a16:creationId xmlns:a16="http://schemas.microsoft.com/office/drawing/2014/main" id="{4927F82D-0B20-4721-A463-AB8FD5EDA7BE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19893987">
            <a:off x="283634" y="3133725"/>
            <a:ext cx="1162473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9pPr>
          </a:lstStyle>
          <a:p>
            <a:pPr algn="ctr"/>
            <a:r>
              <a:rPr lang="en-US" altLang="zh-TW" sz="7200" b="0">
                <a:solidFill>
                  <a:srgbClr val="F0F0E1"/>
                </a:solidFill>
              </a:rPr>
              <a:t>Himax Confidential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18066" y="1338263"/>
            <a:ext cx="5418667" cy="500856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239933" y="1338263"/>
            <a:ext cx="5418667" cy="500856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F33F1A8-2795-45A1-B452-48F919D9D5E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907C2C-9E6A-4AE7-B0C4-656FCE43553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774408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方塊 7">
            <a:extLst>
              <a:ext uri="{FF2B5EF4-FFF2-40B4-BE49-F238E27FC236}">
                <a16:creationId xmlns:a16="http://schemas.microsoft.com/office/drawing/2014/main" id="{52572AB9-A733-4860-A633-FB4A2281294F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19893987">
            <a:off x="283634" y="3133725"/>
            <a:ext cx="1162473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9pPr>
          </a:lstStyle>
          <a:p>
            <a:pPr algn="ctr"/>
            <a:r>
              <a:rPr lang="en-US" altLang="zh-TW" sz="7200" b="0">
                <a:solidFill>
                  <a:srgbClr val="F0F0E1"/>
                </a:solidFill>
              </a:rPr>
              <a:t>Himax Confidential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30A6661-3553-4759-9991-061CBCFCA8E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6F2BD8-6C18-463D-85DD-A5131B18CD6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988245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7">
            <a:extLst>
              <a:ext uri="{FF2B5EF4-FFF2-40B4-BE49-F238E27FC236}">
                <a16:creationId xmlns:a16="http://schemas.microsoft.com/office/drawing/2014/main" id="{B704A404-7A84-40FB-A200-E913884B4F1A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19893987">
            <a:off x="283634" y="3133725"/>
            <a:ext cx="1162473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9pPr>
          </a:lstStyle>
          <a:p>
            <a:pPr algn="ctr"/>
            <a:r>
              <a:rPr lang="en-US" altLang="zh-TW" sz="7200" b="0">
                <a:solidFill>
                  <a:srgbClr val="F0F0E1"/>
                </a:solidFill>
              </a:rPr>
              <a:t>Himax Confidential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2D3900-A677-45C9-AF15-0F0944C3276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0B9F21-FCB5-4EF6-81C7-8758436C5F4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248539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7">
            <a:extLst>
              <a:ext uri="{FF2B5EF4-FFF2-40B4-BE49-F238E27FC236}">
                <a16:creationId xmlns:a16="http://schemas.microsoft.com/office/drawing/2014/main" id="{97A8FAA0-EB43-4874-87C4-FCF8D0EC59C7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19893987">
            <a:off x="283634" y="3133725"/>
            <a:ext cx="1162473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9pPr>
          </a:lstStyle>
          <a:p>
            <a:pPr algn="ctr"/>
            <a:r>
              <a:rPr lang="en-US" altLang="zh-TW" sz="7200" b="0">
                <a:solidFill>
                  <a:srgbClr val="F0F0E1"/>
                </a:solidFill>
              </a:rPr>
              <a:t>Himax Confidential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9E216D2B-B638-4D89-8634-25E6C0E3AA9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6ED4AC-7C60-46B4-A4F0-53A9BB6B91D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886523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7">
            <a:extLst>
              <a:ext uri="{FF2B5EF4-FFF2-40B4-BE49-F238E27FC236}">
                <a16:creationId xmlns:a16="http://schemas.microsoft.com/office/drawing/2014/main" id="{4F1CBD21-6AE8-4D40-BC43-A357504CDFCA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19893987">
            <a:off x="283634" y="3141663"/>
            <a:ext cx="1162473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9pPr>
          </a:lstStyle>
          <a:p>
            <a:pPr algn="ctr"/>
            <a:r>
              <a:rPr lang="en-US" altLang="zh-TW" sz="7200" b="0">
                <a:solidFill>
                  <a:srgbClr val="F0F0E1"/>
                </a:solidFill>
              </a:rPr>
              <a:t>Himax Confidential</a:t>
            </a:r>
          </a:p>
        </p:txBody>
      </p:sp>
      <p:sp>
        <p:nvSpPr>
          <p:cNvPr id="6" name="文字方塊 8">
            <a:extLst>
              <a:ext uri="{FF2B5EF4-FFF2-40B4-BE49-F238E27FC236}">
                <a16:creationId xmlns:a16="http://schemas.microsoft.com/office/drawing/2014/main" id="{A9B9FCD2-BA44-4FFC-BD54-8EAEE5E9CF7D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19893987">
            <a:off x="283634" y="3133725"/>
            <a:ext cx="1162473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9pPr>
          </a:lstStyle>
          <a:p>
            <a:pPr algn="ctr"/>
            <a:r>
              <a:rPr lang="en-US" altLang="zh-TW" sz="7200" b="0">
                <a:solidFill>
                  <a:srgbClr val="F0F0E1"/>
                </a:solidFill>
              </a:rPr>
              <a:t>Himax Confidential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1B4BA4C8-DD91-468A-850A-326A7C98C6D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DA01DC-48D3-477C-A850-3D9186A5AF6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203261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7">
            <a:extLst>
              <a:ext uri="{FF2B5EF4-FFF2-40B4-BE49-F238E27FC236}">
                <a16:creationId xmlns:a16="http://schemas.microsoft.com/office/drawing/2014/main" id="{3116988E-1899-4A94-84A1-146647813066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19893987">
            <a:off x="283634" y="3133725"/>
            <a:ext cx="1162473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9pPr>
          </a:lstStyle>
          <a:p>
            <a:pPr algn="ctr"/>
            <a:r>
              <a:rPr lang="en-US" altLang="zh-TW" sz="7200" b="0">
                <a:solidFill>
                  <a:srgbClr val="F0F0E1"/>
                </a:solidFill>
              </a:rPr>
              <a:t>Himax Confidential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5195D35-E060-43E7-95C9-6C9B60E1815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2AB1D0-D725-4C0B-9CC4-2D55666E071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8896662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7">
            <a:extLst>
              <a:ext uri="{FF2B5EF4-FFF2-40B4-BE49-F238E27FC236}">
                <a16:creationId xmlns:a16="http://schemas.microsoft.com/office/drawing/2014/main" id="{A36FC8E0-A3A7-47D5-B958-32D8183128BB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19893987">
            <a:off x="283634" y="3133725"/>
            <a:ext cx="1162473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9pPr>
          </a:lstStyle>
          <a:p>
            <a:pPr algn="ctr"/>
            <a:r>
              <a:rPr lang="en-US" altLang="zh-TW" sz="7200" b="0">
                <a:solidFill>
                  <a:srgbClr val="F0F0E1"/>
                </a:solidFill>
              </a:rPr>
              <a:t>Himax Confidential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5C9B73C-61FA-4939-AA3D-E6876658535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76B909-AE4A-43D0-97B0-8E31CC0D4D0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813039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96352" y="152401"/>
            <a:ext cx="2762249" cy="61944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1" y="152401"/>
            <a:ext cx="8083551" cy="6194425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1EBE4B-EFE3-486F-B0BA-AB8AC4DC449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35C06E-449B-4B51-B024-8ED03807C85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93133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8067" y="1338263"/>
            <a:ext cx="11040533" cy="5008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</p:txBody>
      </p:sp>
      <p:sp>
        <p:nvSpPr>
          <p:cNvPr id="302080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030133" y="6527800"/>
            <a:ext cx="2540000" cy="4191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fld id="{F0CE0040-9D3B-4D8F-8561-0C2047A4E1E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12192000" cy="939800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9pPr>
          </a:lstStyle>
          <a:p>
            <a:pPr algn="ctr" eaLnBrk="1" hangingPunct="1">
              <a:defRPr/>
            </a:pPr>
            <a:endParaRPr lang="zh-TW" altLang="en-US" sz="280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44011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/>
              <a:t>Click to edit Master title style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19864"/>
            <a:ext cx="2595582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9pPr>
          </a:lstStyle>
          <a:p>
            <a:pPr algn="l" eaLnBrk="1" hangingPunct="1">
              <a:defRPr/>
            </a:pPr>
            <a:r>
              <a:rPr kumimoji="1" lang="en-US" altLang="zh-TW" sz="1200" b="1" i="1">
                <a:solidFill>
                  <a:schemeClr val="folHlink"/>
                </a:solidFill>
                <a:ea typeface="新細明體" pitchFamily="18" charset="-120"/>
              </a:rPr>
              <a:t>Himax Proprietary &amp; Confidential</a:t>
            </a:r>
          </a:p>
        </p:txBody>
      </p:sp>
      <p:pic>
        <p:nvPicPr>
          <p:cNvPr id="8" name="Picture 24" descr="LOGO-8">
            <a:extLst>
              <a:ext uri="{FF2B5EF4-FFF2-40B4-BE49-F238E27FC236}">
                <a16:creationId xmlns:a16="http://schemas.microsoft.com/office/drawing/2014/main" id="{F5074E04-4B2A-4B82-BD18-0C5D715087C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0637" y="6230610"/>
            <a:ext cx="2011363" cy="63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29463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itchFamily="34" charset="0"/>
          <a:cs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itchFamily="34" charset="0"/>
          <a:cs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itchFamily="34" charset="0"/>
          <a:cs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itchFamily="34" charset="0"/>
          <a:cs typeface="Aria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itchFamily="34" charset="0"/>
          <a:cs typeface="Aria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itchFamily="34" charset="0"/>
          <a:cs typeface="Aria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itchFamily="34" charset="0"/>
          <a:cs typeface="Aria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itchFamily="34" charset="0"/>
          <a:cs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itchFamily="2" charset="2"/>
        <a:buChar char="v"/>
        <a:defRPr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50000"/>
        <a:buFont typeface="Wingdings" pitchFamily="2" charset="2"/>
        <a:buChar char="§"/>
        <a:defRPr sz="16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F09516A-D344-46C8-8F5E-D437FD5DA3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18067" y="1338263"/>
            <a:ext cx="11040533" cy="5008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</p:txBody>
      </p:sp>
      <p:sp>
        <p:nvSpPr>
          <p:cNvPr id="3020803" name="Rectangle 3">
            <a:extLst>
              <a:ext uri="{FF2B5EF4-FFF2-40B4-BE49-F238E27FC236}">
                <a16:creationId xmlns:a16="http://schemas.microsoft.com/office/drawing/2014/main" id="{06432C2C-B665-42CB-B1A8-277F868F1D0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030133" y="6527800"/>
            <a:ext cx="2540000" cy="4191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b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DEC8629A-511B-4F54-A193-6631F41A8D5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3D4901F-F1FA-4FC3-B56B-94ACCC3E94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939800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txBody>
          <a:bodyPr wrap="none" anchor="ctr"/>
          <a:lstStyle>
            <a:lvl1pPr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1pPr>
            <a:lvl2pPr marL="742950" indent="-285750"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2pPr>
            <a:lvl3pPr marL="1143000" indent="-228600"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3pPr>
            <a:lvl4pPr marL="1600200" indent="-228600"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4pPr>
            <a:lvl5pPr marL="2057400" indent="-228600"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9pPr>
          </a:lstStyle>
          <a:p>
            <a:pPr eaLnBrk="1" hangingPunct="1">
              <a:defRPr/>
            </a:pPr>
            <a:endParaRPr lang="zh-TW" altLang="en-US" sz="2800">
              <a:cs typeface="+mn-cs"/>
            </a:endParaRP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F7F2E51-2D65-4A1A-BB8A-ABEE02AEC9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44011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/>
              <a:t>Click to edit Master title style</a:t>
            </a:r>
          </a:p>
        </p:txBody>
      </p:sp>
      <p:sp>
        <p:nvSpPr>
          <p:cNvPr id="1031" name="Text Box 7">
            <a:extLst>
              <a:ext uri="{FF2B5EF4-FFF2-40B4-BE49-F238E27FC236}">
                <a16:creationId xmlns:a16="http://schemas.microsoft.com/office/drawing/2014/main" id="{CC76B179-7BF9-4C65-AAD2-FD02C18FEC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19864"/>
            <a:ext cx="2595582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1pPr>
            <a:lvl2pPr marL="742950" indent="-285750"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2pPr>
            <a:lvl3pPr marL="1143000" indent="-228600"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3pPr>
            <a:lvl4pPr marL="1600200" indent="-228600"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4pPr>
            <a:lvl5pPr marL="2057400" indent="-228600"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9pPr>
          </a:lstStyle>
          <a:p>
            <a:pPr algn="l" eaLnBrk="1" hangingPunct="1">
              <a:defRPr/>
            </a:pPr>
            <a:r>
              <a:rPr kumimoji="1" lang="en-US" altLang="zh-TW" sz="1200" i="1" dirty="0">
                <a:solidFill>
                  <a:schemeClr val="folHlink"/>
                </a:solidFill>
                <a:ea typeface="新細明體" panose="02020500000000000000" pitchFamily="18" charset="-120"/>
                <a:cs typeface="+mn-cs"/>
              </a:rPr>
              <a:t>Himax Proprietary &amp; Confidential</a:t>
            </a:r>
          </a:p>
        </p:txBody>
      </p:sp>
      <p:pic>
        <p:nvPicPr>
          <p:cNvPr id="8" name="Picture 24" descr="LOGO-8">
            <a:extLst>
              <a:ext uri="{FF2B5EF4-FFF2-40B4-BE49-F238E27FC236}">
                <a16:creationId xmlns:a16="http://schemas.microsoft.com/office/drawing/2014/main" id="{93C9668F-FD6A-4681-8BFB-F0597CDDB9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0637" y="6230610"/>
            <a:ext cx="2011363" cy="63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70636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l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v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5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19"/>
          <p:cNvSpPr txBox="1">
            <a:spLocks noChangeArrowheads="1"/>
          </p:cNvSpPr>
          <p:nvPr/>
        </p:nvSpPr>
        <p:spPr bwMode="auto">
          <a:xfrm>
            <a:off x="3181353" y="4466292"/>
            <a:ext cx="6143625" cy="6463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TW" b="1" dirty="0">
                <a:solidFill>
                  <a:srgbClr val="003366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rPr>
              <a:t>2021/07/15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TW" b="1" dirty="0">
                <a:solidFill>
                  <a:srgbClr val="003366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rPr>
              <a:t>Stella Huang</a:t>
            </a:r>
          </a:p>
        </p:txBody>
      </p:sp>
      <p:sp>
        <p:nvSpPr>
          <p:cNvPr id="6147" name="文字方塊 2"/>
          <p:cNvSpPr txBox="1">
            <a:spLocks noChangeArrowheads="1"/>
          </p:cNvSpPr>
          <p:nvPr/>
        </p:nvSpPr>
        <p:spPr bwMode="auto">
          <a:xfrm>
            <a:off x="3181353" y="2935943"/>
            <a:ext cx="4939173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TW" sz="2400" b="1" dirty="0">
              <a:solidFill>
                <a:srgbClr val="003366"/>
              </a:solidFill>
              <a:latin typeface="Arial" panose="020B0604020202020204" pitchFamily="34" charset="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TW" sz="2400" b="1" dirty="0">
                <a:solidFill>
                  <a:srgbClr val="008000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rPr>
              <a:t>HX83192 FW EMS &amp; ESD pattern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44379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3722744-88BA-4802-95E3-684A98C4E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ESD, EMS tuning -- Pattern – </a:t>
            </a:r>
            <a:r>
              <a:rPr lang="en-US" altLang="zh-TW" dirty="0" err="1"/>
              <a:t>Sensed_block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7E79A38-959D-4769-8DCE-56E7884E28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84C18F-EB8D-4FF5-AC15-34A2924EEA8A}" type="slidenum">
              <a:rPr lang="en-US" altLang="zh-TW" smtClean="0"/>
              <a:pPr>
                <a:defRPr/>
              </a:pPr>
              <a:t>2</a:t>
            </a:fld>
            <a:endParaRPr lang="en-US" altLang="zh-TW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952C21C-630C-4BB2-8972-C9DF4A65DD9A}"/>
              </a:ext>
            </a:extLst>
          </p:cNvPr>
          <p:cNvSpPr/>
          <p:nvPr/>
        </p:nvSpPr>
        <p:spPr bwMode="auto">
          <a:xfrm>
            <a:off x="609600" y="1666354"/>
            <a:ext cx="4147930" cy="1891748"/>
          </a:xfrm>
          <a:prstGeom prst="rect">
            <a:avLst/>
          </a:prstGeom>
          <a:noFill/>
          <a:ln w="381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Arial Unicode MS" pitchFamily="34" charset="-120"/>
              <a:cs typeface="Arial" panose="020B0604020202020204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FBC254C-D4E6-4B52-8E74-FE63718AC42E}"/>
              </a:ext>
            </a:extLst>
          </p:cNvPr>
          <p:cNvSpPr/>
          <p:nvPr/>
        </p:nvSpPr>
        <p:spPr bwMode="auto">
          <a:xfrm>
            <a:off x="1205948" y="1666354"/>
            <a:ext cx="1046922" cy="1891748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Arial Unicode MS" pitchFamily="34" charset="-120"/>
              <a:cs typeface="Arial" panose="020B0604020202020204" pitchFamily="34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5B8345C-C7BA-4A18-9867-A4235976E787}"/>
              </a:ext>
            </a:extLst>
          </p:cNvPr>
          <p:cNvSpPr txBox="1"/>
          <p:nvPr/>
        </p:nvSpPr>
        <p:spPr>
          <a:xfrm>
            <a:off x="106017" y="2582001"/>
            <a:ext cx="5035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/>
              <a:t>RX</a:t>
            </a:r>
            <a:endParaRPr lang="zh-TW" altLang="en-US" sz="1600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C3B6FAFA-8479-4B0E-BC8F-A115442E41A9}"/>
              </a:ext>
            </a:extLst>
          </p:cNvPr>
          <p:cNvSpPr txBox="1"/>
          <p:nvPr/>
        </p:nvSpPr>
        <p:spPr>
          <a:xfrm>
            <a:off x="4996068" y="1816359"/>
            <a:ext cx="4598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FAE</a:t>
            </a:r>
            <a:r>
              <a:rPr lang="zh-TW" altLang="en-US" dirty="0"/>
              <a:t>可定義</a:t>
            </a:r>
            <a:r>
              <a:rPr lang="en-US" altLang="zh-TW" dirty="0"/>
              <a:t>: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4EAB5E26-9C5B-461D-BED9-2D3AF29D6F23}"/>
              </a:ext>
            </a:extLst>
          </p:cNvPr>
          <p:cNvSpPr txBox="1"/>
          <p:nvPr/>
        </p:nvSpPr>
        <p:spPr>
          <a:xfrm>
            <a:off x="2610679" y="1327800"/>
            <a:ext cx="5035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/>
              <a:t>TX</a:t>
            </a:r>
            <a:endParaRPr lang="zh-TW" altLang="en-US" sz="1600" dirty="0"/>
          </a:p>
        </p:txBody>
      </p:sp>
      <p:graphicFrame>
        <p:nvGraphicFramePr>
          <p:cNvPr id="11" name="表格 9">
            <a:extLst>
              <a:ext uri="{FF2B5EF4-FFF2-40B4-BE49-F238E27FC236}">
                <a16:creationId xmlns:a16="http://schemas.microsoft.com/office/drawing/2014/main" id="{CA47D91E-954F-4D39-9427-3373792A13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7075800"/>
              </p:ext>
            </p:extLst>
          </p:nvPr>
        </p:nvGraphicFramePr>
        <p:xfrm>
          <a:off x="609600" y="3945172"/>
          <a:ext cx="8128000" cy="7416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431234">
                  <a:extLst>
                    <a:ext uri="{9D8B030D-6E8A-4147-A177-3AD203B41FA5}">
                      <a16:colId xmlns:a16="http://schemas.microsoft.com/office/drawing/2014/main" val="4274735524"/>
                    </a:ext>
                  </a:extLst>
                </a:gridCol>
                <a:gridCol w="6696766">
                  <a:extLst>
                    <a:ext uri="{9D8B030D-6E8A-4147-A177-3AD203B41FA5}">
                      <a16:colId xmlns:a16="http://schemas.microsoft.com/office/drawing/2014/main" val="27944631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Condition 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Description</a:t>
                      </a:r>
                      <a:endParaRPr lang="zh-TW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192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600" dirty="0"/>
                        <a:t>當</a:t>
                      </a:r>
                      <a:r>
                        <a:rPr lang="en-US" altLang="zh-TW" sz="1600" dirty="0"/>
                        <a:t>Sensed</a:t>
                      </a:r>
                      <a:r>
                        <a:rPr lang="zh-TW" altLang="en-US" sz="1600" dirty="0"/>
                        <a:t> </a:t>
                      </a:r>
                      <a:r>
                        <a:rPr lang="en-US" altLang="zh-TW" sz="1600" dirty="0"/>
                        <a:t>block</a:t>
                      </a:r>
                      <a:r>
                        <a:rPr lang="zh-TW" altLang="en-US" sz="1600" dirty="0"/>
                        <a:t> 數目超過</a:t>
                      </a:r>
                      <a:r>
                        <a:rPr lang="en-US" altLang="zh-TW" sz="1600" dirty="0" err="1"/>
                        <a:t>Max_sensed_block</a:t>
                      </a:r>
                      <a:r>
                        <a:rPr lang="zh-TW" altLang="en-US" sz="1600" dirty="0"/>
                        <a:t>時，成立</a:t>
                      </a:r>
                      <a:endParaRPr lang="en-US" altLang="zh-TW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8308807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85B0C625-E500-4379-8639-5F8BF751363D}"/>
              </a:ext>
            </a:extLst>
          </p:cNvPr>
          <p:cNvSpPr txBox="1"/>
          <p:nvPr/>
        </p:nvSpPr>
        <p:spPr>
          <a:xfrm>
            <a:off x="2084272" y="4822314"/>
            <a:ext cx="5330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當</a:t>
            </a:r>
            <a:r>
              <a:rPr lang="en-US" altLang="zh-TW" dirty="0">
                <a:solidFill>
                  <a:srgbClr val="FF0000"/>
                </a:solidFill>
              </a:rPr>
              <a:t>Condition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en-US" altLang="zh-TW" dirty="0">
                <a:solidFill>
                  <a:srgbClr val="FF0000"/>
                </a:solidFill>
              </a:rPr>
              <a:t>1</a:t>
            </a:r>
            <a:r>
              <a:rPr lang="zh-TW" altLang="en-US" dirty="0">
                <a:solidFill>
                  <a:srgbClr val="FF0000"/>
                </a:solidFill>
              </a:rPr>
              <a:t> 成立時，做鬼點保護 </a:t>
            </a:r>
            <a:r>
              <a:rPr lang="en-US" altLang="zh-TW" dirty="0">
                <a:solidFill>
                  <a:srgbClr val="FF0000"/>
                </a:solidFill>
              </a:rPr>
              <a:t>(Level 1)</a:t>
            </a:r>
            <a:endParaRPr lang="zh-TW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13" name="表格 9">
            <a:extLst>
              <a:ext uri="{FF2B5EF4-FFF2-40B4-BE49-F238E27FC236}">
                <a16:creationId xmlns:a16="http://schemas.microsoft.com/office/drawing/2014/main" id="{E298576D-B024-4CC2-830B-013B8C345FCA}"/>
              </a:ext>
            </a:extLst>
          </p:cNvPr>
          <p:cNvGraphicFramePr>
            <a:graphicFrameLocks noGrp="1"/>
          </p:cNvGraphicFramePr>
          <p:nvPr/>
        </p:nvGraphicFramePr>
        <p:xfrm>
          <a:off x="5102086" y="2185691"/>
          <a:ext cx="6309144" cy="8890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981772">
                  <a:extLst>
                    <a:ext uri="{9D8B030D-6E8A-4147-A177-3AD203B41FA5}">
                      <a16:colId xmlns:a16="http://schemas.microsoft.com/office/drawing/2014/main" val="2124734952"/>
                    </a:ext>
                  </a:extLst>
                </a:gridCol>
                <a:gridCol w="2809461">
                  <a:extLst>
                    <a:ext uri="{9D8B030D-6E8A-4147-A177-3AD203B41FA5}">
                      <a16:colId xmlns:a16="http://schemas.microsoft.com/office/drawing/2014/main" val="2794463128"/>
                    </a:ext>
                  </a:extLst>
                </a:gridCol>
                <a:gridCol w="2517911">
                  <a:extLst>
                    <a:ext uri="{9D8B030D-6E8A-4147-A177-3AD203B41FA5}">
                      <a16:colId xmlns:a16="http://schemas.microsoft.com/office/drawing/2014/main" val="35485303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Size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Name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Address</a:t>
                      </a: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192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2-byte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err="1"/>
                        <a:t>Max_sensed_block</a:t>
                      </a:r>
                      <a:endParaRPr lang="en-US" altLang="zh-TW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Rfeh_9C (low)</a:t>
                      </a:r>
                    </a:p>
                    <a:p>
                      <a:r>
                        <a:rPr lang="en-US" altLang="zh-TW" sz="1400" dirty="0"/>
                        <a:t>Rfeh_9D (high)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8308807"/>
                  </a:ext>
                </a:extLst>
              </a:tr>
            </a:tbl>
          </a:graphicData>
        </a:graphic>
      </p:graphicFrame>
      <p:sp>
        <p:nvSpPr>
          <p:cNvPr id="3" name="文字方塊 2">
            <a:extLst>
              <a:ext uri="{FF2B5EF4-FFF2-40B4-BE49-F238E27FC236}">
                <a16:creationId xmlns:a16="http://schemas.microsoft.com/office/drawing/2014/main" id="{454E9564-4B2A-4A8C-A699-BCA90A38B968}"/>
              </a:ext>
            </a:extLst>
          </p:cNvPr>
          <p:cNvSpPr txBox="1"/>
          <p:nvPr/>
        </p:nvSpPr>
        <p:spPr>
          <a:xfrm>
            <a:off x="609600" y="118517"/>
            <a:ext cx="2769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>
                <a:solidFill>
                  <a:schemeClr val="bg1">
                    <a:lumMod val="50000"/>
                  </a:schemeClr>
                </a:solidFill>
              </a:rPr>
              <a:t>Parameter_table</a:t>
            </a:r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: 0x8091</a:t>
            </a:r>
            <a:endParaRPr lang="zh-TW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F1C3371A-B7E7-4885-9C15-64DF3784508D}"/>
              </a:ext>
            </a:extLst>
          </p:cNvPr>
          <p:cNvSpPr txBox="1"/>
          <p:nvPr/>
        </p:nvSpPr>
        <p:spPr>
          <a:xfrm>
            <a:off x="5062329" y="3140599"/>
            <a:ext cx="5330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當</a:t>
            </a:r>
            <a:r>
              <a:rPr lang="en-US" altLang="zh-TW" dirty="0" err="1">
                <a:solidFill>
                  <a:srgbClr val="FF0000"/>
                </a:solidFill>
              </a:rPr>
              <a:t>Max_sensed_block</a:t>
            </a:r>
            <a:r>
              <a:rPr lang="zh-TW" altLang="en-US" dirty="0">
                <a:solidFill>
                  <a:srgbClr val="FF0000"/>
                </a:solidFill>
              </a:rPr>
              <a:t>為</a:t>
            </a:r>
            <a:r>
              <a:rPr lang="en-US" altLang="zh-TW" dirty="0">
                <a:solidFill>
                  <a:srgbClr val="FF0000"/>
                </a:solidFill>
              </a:rPr>
              <a:t>0</a:t>
            </a:r>
            <a:r>
              <a:rPr lang="zh-TW" altLang="en-US" dirty="0">
                <a:solidFill>
                  <a:srgbClr val="FF0000"/>
                </a:solidFill>
              </a:rPr>
              <a:t>時，此功能關閉</a:t>
            </a:r>
            <a:endParaRPr lang="en-US" altLang="zh-TW" dirty="0">
              <a:solidFill>
                <a:srgbClr val="FF0000"/>
              </a:solidFill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3D766854-3282-4951-AC0A-F2A52795D56F}"/>
              </a:ext>
            </a:extLst>
          </p:cNvPr>
          <p:cNvSpPr txBox="1"/>
          <p:nvPr/>
        </p:nvSpPr>
        <p:spPr>
          <a:xfrm>
            <a:off x="8001272" y="1844960"/>
            <a:ext cx="36636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solidFill>
                  <a:srgbClr val="C00000"/>
                </a:solidFill>
              </a:rPr>
              <a:t>Function EN </a:t>
            </a:r>
            <a:r>
              <a:rPr lang="en-US" altLang="zh-TW" sz="1400" b="1" dirty="0">
                <a:solidFill>
                  <a:srgbClr val="C00000"/>
                </a:solidFill>
              </a:rPr>
              <a:t>ESD_DETECTION </a:t>
            </a:r>
            <a:r>
              <a:rPr lang="zh-TW" altLang="en-US" sz="1400" dirty="0">
                <a:solidFill>
                  <a:srgbClr val="C00000"/>
                </a:solidFill>
              </a:rPr>
              <a:t>須為</a:t>
            </a:r>
            <a:r>
              <a:rPr lang="en-US" altLang="zh-TW" sz="1400" dirty="0">
                <a:solidFill>
                  <a:srgbClr val="C00000"/>
                </a:solidFill>
              </a:rPr>
              <a:t>0x01</a:t>
            </a:r>
            <a:endParaRPr lang="zh-TW" altLang="en-US" sz="1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1426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E9A350-032B-4AFD-9F6B-FE3C130A3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ESD, EMS tuning --</a:t>
            </a:r>
            <a:r>
              <a:rPr lang="zh-TW" altLang="en-US" dirty="0"/>
              <a:t> </a:t>
            </a:r>
            <a:r>
              <a:rPr lang="en-US" altLang="zh-TW" dirty="0"/>
              <a:t>Pattern – Data process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4D24C4F-5CF9-4928-BF61-9789FB08B4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84C18F-EB8D-4FF5-AC15-34A2924EEA8A}" type="slidenum">
              <a:rPr lang="en-US" altLang="zh-TW" smtClean="0"/>
              <a:pPr>
                <a:defRPr/>
              </a:pPr>
              <a:t>3</a:t>
            </a:fld>
            <a:endParaRPr lang="en-US" altLang="zh-TW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CE4D01E-6B2A-4ECE-B346-F9AD3E5635CF}"/>
              </a:ext>
            </a:extLst>
          </p:cNvPr>
          <p:cNvSpPr/>
          <p:nvPr/>
        </p:nvSpPr>
        <p:spPr bwMode="auto">
          <a:xfrm>
            <a:off x="609600" y="1666354"/>
            <a:ext cx="4147930" cy="1891748"/>
          </a:xfrm>
          <a:prstGeom prst="rect">
            <a:avLst/>
          </a:prstGeom>
          <a:noFill/>
          <a:ln w="381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Arial Unicode MS" pitchFamily="34" charset="-120"/>
              <a:cs typeface="Arial" panose="020B0604020202020204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01937E5-D954-41CB-9E62-5A6F88B16AC2}"/>
              </a:ext>
            </a:extLst>
          </p:cNvPr>
          <p:cNvSpPr/>
          <p:nvPr/>
        </p:nvSpPr>
        <p:spPr bwMode="auto">
          <a:xfrm>
            <a:off x="1378226" y="1666354"/>
            <a:ext cx="225287" cy="1891748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Arial Unicode MS" pitchFamily="34" charset="-120"/>
              <a:cs typeface="Arial" panose="020B0604020202020204" pitchFamily="34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380D20F-F5EC-4167-90D3-D550138531E8}"/>
              </a:ext>
            </a:extLst>
          </p:cNvPr>
          <p:cNvSpPr txBox="1"/>
          <p:nvPr/>
        </p:nvSpPr>
        <p:spPr>
          <a:xfrm>
            <a:off x="1285461" y="1275309"/>
            <a:ext cx="3180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Max Diff </a:t>
            </a:r>
            <a:r>
              <a:rPr lang="zh-TW" altLang="en-US" dirty="0"/>
              <a:t>的</a:t>
            </a:r>
            <a:r>
              <a:rPr lang="en-US" altLang="zh-TW" dirty="0"/>
              <a:t>column</a:t>
            </a:r>
            <a:r>
              <a:rPr lang="zh-TW" altLang="en-US" dirty="0"/>
              <a:t>位置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A156792-7EE0-4F4C-9DDC-CA705BEA6095}"/>
              </a:ext>
            </a:extLst>
          </p:cNvPr>
          <p:cNvSpPr txBox="1"/>
          <p:nvPr/>
        </p:nvSpPr>
        <p:spPr>
          <a:xfrm>
            <a:off x="106017" y="2582001"/>
            <a:ext cx="5035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/>
              <a:t>RX</a:t>
            </a:r>
            <a:endParaRPr lang="zh-TW" altLang="en-US" sz="1600" dirty="0"/>
          </a:p>
        </p:txBody>
      </p:sp>
      <p:graphicFrame>
        <p:nvGraphicFramePr>
          <p:cNvPr id="9" name="表格 9">
            <a:extLst>
              <a:ext uri="{FF2B5EF4-FFF2-40B4-BE49-F238E27FC236}">
                <a16:creationId xmlns:a16="http://schemas.microsoft.com/office/drawing/2014/main" id="{0A2C1ECE-7144-482E-98F8-1BFE3A340D89}"/>
              </a:ext>
            </a:extLst>
          </p:cNvPr>
          <p:cNvGraphicFramePr>
            <a:graphicFrameLocks noGrp="1"/>
          </p:cNvGraphicFramePr>
          <p:nvPr/>
        </p:nvGraphicFramePr>
        <p:xfrm>
          <a:off x="556592" y="3937445"/>
          <a:ext cx="8128000" cy="13817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431234">
                  <a:extLst>
                    <a:ext uri="{9D8B030D-6E8A-4147-A177-3AD203B41FA5}">
                      <a16:colId xmlns:a16="http://schemas.microsoft.com/office/drawing/2014/main" val="4274735524"/>
                    </a:ext>
                  </a:extLst>
                </a:gridCol>
                <a:gridCol w="6696766">
                  <a:extLst>
                    <a:ext uri="{9D8B030D-6E8A-4147-A177-3AD203B41FA5}">
                      <a16:colId xmlns:a16="http://schemas.microsoft.com/office/drawing/2014/main" val="27944631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Condition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Description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192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當黃色區域的平均值超過</a:t>
                      </a:r>
                      <a:r>
                        <a:rPr lang="en-US" altLang="zh-TW" dirty="0" err="1"/>
                        <a:t>column_mean_thx</a:t>
                      </a:r>
                      <a:r>
                        <a:rPr lang="zh-TW" altLang="en-US" dirty="0"/>
                        <a:t>時，成立</a:t>
                      </a:r>
                      <a:endParaRPr lang="en-US" altLang="zh-TW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83088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紀錄在黃色區域，</a:t>
                      </a:r>
                      <a:r>
                        <a:rPr lang="en-US" altLang="zh-TW" dirty="0"/>
                        <a:t>delta </a:t>
                      </a:r>
                      <a:r>
                        <a:rPr lang="zh-TW" altLang="en-US" dirty="0"/>
                        <a:t>值超過</a:t>
                      </a:r>
                      <a:r>
                        <a:rPr lang="en-US" altLang="zh-TW" dirty="0" err="1"/>
                        <a:t>column_mean_thx</a:t>
                      </a:r>
                      <a:r>
                        <a:rPr lang="zh-TW" altLang="en-US" dirty="0"/>
                        <a:t>的個數，</a:t>
                      </a:r>
                      <a:endParaRPr lang="en-US" altLang="zh-TW" dirty="0"/>
                    </a:p>
                    <a:p>
                      <a:r>
                        <a:rPr lang="zh-TW" altLang="en-US" dirty="0"/>
                        <a:t>當此個數超過</a:t>
                      </a:r>
                      <a:r>
                        <a:rPr lang="en-US" altLang="zh-TW" dirty="0" err="1"/>
                        <a:t>column_block_thx</a:t>
                      </a:r>
                      <a:r>
                        <a:rPr lang="zh-TW" altLang="en-US" dirty="0"/>
                        <a:t>個時，成立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7809814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4877BB04-C845-4332-8309-1FFB08D81025}"/>
              </a:ext>
            </a:extLst>
          </p:cNvPr>
          <p:cNvSpPr txBox="1"/>
          <p:nvPr/>
        </p:nvSpPr>
        <p:spPr>
          <a:xfrm>
            <a:off x="1955432" y="5398025"/>
            <a:ext cx="6729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當</a:t>
            </a:r>
            <a:r>
              <a:rPr lang="en-US" altLang="zh-TW" dirty="0">
                <a:solidFill>
                  <a:srgbClr val="FF0000"/>
                </a:solidFill>
              </a:rPr>
              <a:t>Condition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en-US" altLang="zh-TW" dirty="0">
                <a:solidFill>
                  <a:srgbClr val="FF0000"/>
                </a:solidFill>
              </a:rPr>
              <a:t>1</a:t>
            </a:r>
            <a:r>
              <a:rPr lang="zh-TW" altLang="en-US" dirty="0">
                <a:solidFill>
                  <a:srgbClr val="FF0000"/>
                </a:solidFill>
              </a:rPr>
              <a:t> 和 </a:t>
            </a:r>
            <a:r>
              <a:rPr lang="en-US" altLang="zh-TW" dirty="0">
                <a:solidFill>
                  <a:srgbClr val="FF0000"/>
                </a:solidFill>
              </a:rPr>
              <a:t>2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b="1" dirty="0">
                <a:solidFill>
                  <a:srgbClr val="FF0000"/>
                </a:solidFill>
              </a:rPr>
              <a:t>同時</a:t>
            </a:r>
            <a:r>
              <a:rPr lang="zh-TW" altLang="en-US" dirty="0">
                <a:solidFill>
                  <a:srgbClr val="FF0000"/>
                </a:solidFill>
              </a:rPr>
              <a:t>成立時，做鬼點保護 </a:t>
            </a:r>
            <a:r>
              <a:rPr lang="en-US" altLang="zh-TW" dirty="0">
                <a:solidFill>
                  <a:srgbClr val="FF0000"/>
                </a:solidFill>
              </a:rPr>
              <a:t>(Level 1)</a:t>
            </a:r>
            <a:endParaRPr lang="zh-TW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13" name="表格 9">
            <a:extLst>
              <a:ext uri="{FF2B5EF4-FFF2-40B4-BE49-F238E27FC236}">
                <a16:creationId xmlns:a16="http://schemas.microsoft.com/office/drawing/2014/main" id="{CC701C6B-E8DC-43A8-998F-DCD96150707B}"/>
              </a:ext>
            </a:extLst>
          </p:cNvPr>
          <p:cNvGraphicFramePr>
            <a:graphicFrameLocks noGrp="1"/>
          </p:cNvGraphicFramePr>
          <p:nvPr/>
        </p:nvGraphicFramePr>
        <p:xfrm>
          <a:off x="5088834" y="1978131"/>
          <a:ext cx="6309144" cy="125984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981772">
                  <a:extLst>
                    <a:ext uri="{9D8B030D-6E8A-4147-A177-3AD203B41FA5}">
                      <a16:colId xmlns:a16="http://schemas.microsoft.com/office/drawing/2014/main" val="2124734952"/>
                    </a:ext>
                  </a:extLst>
                </a:gridCol>
                <a:gridCol w="2809461">
                  <a:extLst>
                    <a:ext uri="{9D8B030D-6E8A-4147-A177-3AD203B41FA5}">
                      <a16:colId xmlns:a16="http://schemas.microsoft.com/office/drawing/2014/main" val="2794463128"/>
                    </a:ext>
                  </a:extLst>
                </a:gridCol>
                <a:gridCol w="2517911">
                  <a:extLst>
                    <a:ext uri="{9D8B030D-6E8A-4147-A177-3AD203B41FA5}">
                      <a16:colId xmlns:a16="http://schemas.microsoft.com/office/drawing/2014/main" val="35485303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Size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Name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Address</a:t>
                      </a: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192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2-byte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err="1"/>
                        <a:t>column_mean_thx</a:t>
                      </a:r>
                      <a:r>
                        <a:rPr lang="en-US" altLang="zh-TW" sz="14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Rfeh_9E (low)</a:t>
                      </a:r>
                    </a:p>
                    <a:p>
                      <a:r>
                        <a:rPr lang="en-US" altLang="zh-TW" sz="1400" dirty="0"/>
                        <a:t>Rfeh_9F (high)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83088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1-byte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err="1"/>
                        <a:t>column_block_thx</a:t>
                      </a:r>
                      <a:r>
                        <a:rPr lang="en-US" altLang="zh-TW" sz="14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Rfeh_A0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5205034"/>
                  </a:ext>
                </a:extLst>
              </a:tr>
            </a:tbl>
          </a:graphicData>
        </a:graphic>
      </p:graphicFrame>
      <p:sp>
        <p:nvSpPr>
          <p:cNvPr id="14" name="文字方塊 13">
            <a:extLst>
              <a:ext uri="{FF2B5EF4-FFF2-40B4-BE49-F238E27FC236}">
                <a16:creationId xmlns:a16="http://schemas.microsoft.com/office/drawing/2014/main" id="{4C9F722C-E51B-4BD8-BA37-A02DD8E4FFCF}"/>
              </a:ext>
            </a:extLst>
          </p:cNvPr>
          <p:cNvSpPr txBox="1"/>
          <p:nvPr/>
        </p:nvSpPr>
        <p:spPr>
          <a:xfrm>
            <a:off x="4986499" y="1597524"/>
            <a:ext cx="4598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FAE</a:t>
            </a:r>
            <a:r>
              <a:rPr lang="zh-TW" altLang="en-US" dirty="0"/>
              <a:t>可定義</a:t>
            </a:r>
            <a:r>
              <a:rPr lang="en-US" altLang="zh-TW" dirty="0"/>
              <a:t>: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E400AE4C-8707-40A3-A931-7BE81FF4627E}"/>
              </a:ext>
            </a:extLst>
          </p:cNvPr>
          <p:cNvSpPr txBox="1"/>
          <p:nvPr/>
        </p:nvSpPr>
        <p:spPr>
          <a:xfrm>
            <a:off x="609600" y="118517"/>
            <a:ext cx="2769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>
                <a:solidFill>
                  <a:schemeClr val="bg1">
                    <a:lumMod val="50000"/>
                  </a:schemeClr>
                </a:solidFill>
              </a:rPr>
              <a:t>Parameter_table</a:t>
            </a:r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: 0x8091</a:t>
            </a:r>
            <a:endParaRPr lang="zh-TW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CC485422-0BEC-4212-8DFD-E1D0092161C5}"/>
              </a:ext>
            </a:extLst>
          </p:cNvPr>
          <p:cNvSpPr txBox="1"/>
          <p:nvPr/>
        </p:nvSpPr>
        <p:spPr>
          <a:xfrm>
            <a:off x="4986501" y="3247982"/>
            <a:ext cx="5330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當</a:t>
            </a:r>
            <a:r>
              <a:rPr lang="en-US" altLang="zh-TW" dirty="0" err="1">
                <a:solidFill>
                  <a:srgbClr val="FF0000"/>
                </a:solidFill>
              </a:rPr>
              <a:t>column_mean_thx</a:t>
            </a:r>
            <a:r>
              <a:rPr lang="zh-TW" altLang="en-US" dirty="0">
                <a:solidFill>
                  <a:srgbClr val="FF0000"/>
                </a:solidFill>
              </a:rPr>
              <a:t>為</a:t>
            </a:r>
            <a:r>
              <a:rPr lang="en-US" altLang="zh-TW" dirty="0">
                <a:solidFill>
                  <a:srgbClr val="FF0000"/>
                </a:solidFill>
              </a:rPr>
              <a:t>0</a:t>
            </a:r>
            <a:r>
              <a:rPr lang="zh-TW" altLang="en-US" dirty="0">
                <a:solidFill>
                  <a:srgbClr val="FF0000"/>
                </a:solidFill>
              </a:rPr>
              <a:t>時，此功能關閉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E24AEA00-35FF-40ED-8514-E118E9701813}"/>
              </a:ext>
            </a:extLst>
          </p:cNvPr>
          <p:cNvSpPr txBox="1"/>
          <p:nvPr/>
        </p:nvSpPr>
        <p:spPr>
          <a:xfrm>
            <a:off x="7982134" y="1575644"/>
            <a:ext cx="36636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solidFill>
                  <a:srgbClr val="C00000"/>
                </a:solidFill>
              </a:rPr>
              <a:t>Function EN </a:t>
            </a:r>
            <a:r>
              <a:rPr lang="en-US" altLang="zh-TW" sz="1400" b="1" dirty="0">
                <a:solidFill>
                  <a:srgbClr val="C00000"/>
                </a:solidFill>
              </a:rPr>
              <a:t>ESD_DETECTION </a:t>
            </a:r>
            <a:r>
              <a:rPr lang="zh-TW" altLang="en-US" sz="1400" dirty="0">
                <a:solidFill>
                  <a:srgbClr val="C00000"/>
                </a:solidFill>
              </a:rPr>
              <a:t>須為</a:t>
            </a:r>
            <a:r>
              <a:rPr lang="en-US" altLang="zh-TW" sz="1400" dirty="0">
                <a:solidFill>
                  <a:srgbClr val="C00000"/>
                </a:solidFill>
              </a:rPr>
              <a:t>0x01</a:t>
            </a:r>
            <a:endParaRPr lang="zh-TW" altLang="en-US" sz="1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1785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4CFF61-E880-4B06-9DEB-70370E001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EMS Example -- TEMCELL 15kV 0623 Log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A0D1D619-9C08-46BF-9388-DD705B1E2C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0104" y="1287011"/>
            <a:ext cx="11471792" cy="3160701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51FCBB9-0E1D-4C09-8FB5-D2A6A17762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84C18F-EB8D-4FF5-AC15-34A2924EEA8A}" type="slidenum">
              <a:rPr lang="en-US" altLang="zh-TW" smtClean="0"/>
              <a:pPr>
                <a:defRPr/>
              </a:pPr>
              <a:t>4</a:t>
            </a:fld>
            <a:endParaRPr lang="en-US" altLang="zh-TW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AC4A7E8-263C-4376-B1B7-FBB211D3069C}"/>
              </a:ext>
            </a:extLst>
          </p:cNvPr>
          <p:cNvSpPr txBox="1"/>
          <p:nvPr/>
        </p:nvSpPr>
        <p:spPr>
          <a:xfrm>
            <a:off x="360104" y="4568399"/>
            <a:ext cx="5735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en-US" altLang="zh-TW" sz="1200" dirty="0"/>
              <a:t>&gt; 160 (Signal thx) sensed block num: 95 </a:t>
            </a:r>
            <a:r>
              <a:rPr lang="en-US" altLang="zh-TW" sz="1200" b="1" dirty="0">
                <a:solidFill>
                  <a:srgbClr val="FF0000"/>
                </a:solidFill>
              </a:rPr>
              <a:t>(less than a mux) </a:t>
            </a:r>
            <a:r>
              <a:rPr lang="en-US" altLang="zh-TW" sz="1200" dirty="0">
                <a:sym typeface="Wingdings" panose="05000000000000000000" pitchFamily="2" charset="2"/>
              </a:rPr>
              <a:t> Enter Palm</a:t>
            </a:r>
          </a:p>
          <a:p>
            <a:pPr marL="228600" indent="-228600">
              <a:buAutoNum type="arabicPeriod"/>
            </a:pPr>
            <a:r>
              <a:rPr lang="en-US" altLang="zh-TW" sz="1200" dirty="0">
                <a:sym typeface="Wingdings" panose="05000000000000000000" pitchFamily="2" charset="2"/>
              </a:rPr>
              <a:t>Max Delta is 179 on (X3, Y16)</a:t>
            </a:r>
          </a:p>
          <a:p>
            <a:pPr marL="228600" indent="-228600">
              <a:buAutoNum type="arabicPeriod"/>
            </a:pPr>
            <a:r>
              <a:rPr lang="en-US" altLang="zh-TW" sz="1200" dirty="0">
                <a:sym typeface="Wingdings" panose="05000000000000000000" pitchFamily="2" charset="2"/>
              </a:rPr>
              <a:t>The mean on X3 is about 161</a:t>
            </a:r>
            <a:endParaRPr lang="zh-TW" altLang="en-US" sz="12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54FE6DB-32CA-4C82-9424-122E7BA386F6}"/>
              </a:ext>
            </a:extLst>
          </p:cNvPr>
          <p:cNvSpPr/>
          <p:nvPr/>
        </p:nvSpPr>
        <p:spPr bwMode="auto">
          <a:xfrm>
            <a:off x="3140765" y="1643270"/>
            <a:ext cx="481497" cy="2804442"/>
          </a:xfrm>
          <a:prstGeom prst="rect">
            <a:avLst/>
          </a:prstGeom>
          <a:noFill/>
          <a:ln w="381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Arial Unicode MS" pitchFamily="34" charset="-120"/>
              <a:cs typeface="Arial" panose="020B0604020202020204" pitchFamily="34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29BBEAB8-A252-4C43-B023-73A8C9C72AA5}"/>
              </a:ext>
            </a:extLst>
          </p:cNvPr>
          <p:cNvSpPr txBox="1"/>
          <p:nvPr/>
        </p:nvSpPr>
        <p:spPr>
          <a:xfrm>
            <a:off x="360104" y="5292059"/>
            <a:ext cx="71989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Add ESD pattern: </a:t>
            </a:r>
          </a:p>
          <a:p>
            <a:r>
              <a:rPr lang="en-US" altLang="zh-TW" sz="1200" b="1" dirty="0">
                <a:solidFill>
                  <a:srgbClr val="FF0000"/>
                </a:solidFill>
                <a:highlight>
                  <a:srgbClr val="FFFF00"/>
                </a:highlight>
              </a:rPr>
              <a:t>On the max delta column, when it satisfies both (a) and (b), enter ghost point protection </a:t>
            </a:r>
          </a:p>
          <a:p>
            <a:pPr marL="228600" indent="-228600">
              <a:buAutoNum type="alphaLcParenR"/>
            </a:pPr>
            <a:r>
              <a:rPr lang="en-US" altLang="zh-TW" sz="1200" dirty="0"/>
              <a:t>Column mean &gt; 150</a:t>
            </a:r>
          </a:p>
          <a:p>
            <a:pPr marL="228600" indent="-228600">
              <a:buAutoNum type="alphaLcParenR"/>
            </a:pPr>
            <a:r>
              <a:rPr lang="en-US" altLang="zh-TW" sz="1200" dirty="0"/>
              <a:t>#(delta &gt; 150) &gt; 3*RX/4</a:t>
            </a:r>
          </a:p>
        </p:txBody>
      </p:sp>
    </p:spTree>
    <p:extLst>
      <p:ext uri="{BB962C8B-B14F-4D97-AF65-F5344CB8AC3E}">
        <p14:creationId xmlns:p14="http://schemas.microsoft.com/office/powerpoint/2010/main" val="4218127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E9A350-032B-4AFD-9F6B-FE3C130A3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ESD, EMS tuning --</a:t>
            </a:r>
            <a:r>
              <a:rPr lang="zh-TW" altLang="en-US" dirty="0"/>
              <a:t> </a:t>
            </a:r>
            <a:r>
              <a:rPr lang="en-US" altLang="zh-TW" dirty="0"/>
              <a:t>Pattern – Max Delta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4D24C4F-5CF9-4928-BF61-9789FB08B4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84C18F-EB8D-4FF5-AC15-34A2924EEA8A}" type="slidenum">
              <a:rPr lang="en-US" altLang="zh-TW" smtClean="0"/>
              <a:pPr>
                <a:defRPr/>
              </a:pPr>
              <a:t>5</a:t>
            </a:fld>
            <a:endParaRPr lang="en-US" altLang="zh-TW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CE4D01E-6B2A-4ECE-B346-F9AD3E5635CF}"/>
              </a:ext>
            </a:extLst>
          </p:cNvPr>
          <p:cNvSpPr/>
          <p:nvPr/>
        </p:nvSpPr>
        <p:spPr bwMode="auto">
          <a:xfrm>
            <a:off x="609600" y="1666354"/>
            <a:ext cx="4147930" cy="1891748"/>
          </a:xfrm>
          <a:prstGeom prst="rect">
            <a:avLst/>
          </a:prstGeom>
          <a:noFill/>
          <a:ln w="381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Arial Unicode MS" pitchFamily="34" charset="-120"/>
              <a:cs typeface="Arial" panose="020B0604020202020204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01937E5-D954-41CB-9E62-5A6F88B16AC2}"/>
              </a:ext>
            </a:extLst>
          </p:cNvPr>
          <p:cNvSpPr/>
          <p:nvPr/>
        </p:nvSpPr>
        <p:spPr bwMode="auto">
          <a:xfrm>
            <a:off x="1285462" y="2582001"/>
            <a:ext cx="131858" cy="117518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Arial Unicode MS" pitchFamily="34" charset="-120"/>
              <a:cs typeface="Arial" panose="020B0604020202020204" pitchFamily="34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380D20F-F5EC-4167-90D3-D550138531E8}"/>
              </a:ext>
            </a:extLst>
          </p:cNvPr>
          <p:cNvSpPr txBox="1"/>
          <p:nvPr/>
        </p:nvSpPr>
        <p:spPr>
          <a:xfrm>
            <a:off x="1285461" y="1275309"/>
            <a:ext cx="3180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Max Delta </a:t>
            </a:r>
            <a:r>
              <a:rPr lang="zh-TW" altLang="en-US" dirty="0"/>
              <a:t>的大小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A156792-7EE0-4F4C-9DDC-CA705BEA6095}"/>
              </a:ext>
            </a:extLst>
          </p:cNvPr>
          <p:cNvSpPr txBox="1"/>
          <p:nvPr/>
        </p:nvSpPr>
        <p:spPr>
          <a:xfrm>
            <a:off x="106017" y="2582001"/>
            <a:ext cx="5035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/>
              <a:t>RX</a:t>
            </a:r>
            <a:endParaRPr lang="zh-TW" altLang="en-US" sz="1600" dirty="0"/>
          </a:p>
        </p:txBody>
      </p:sp>
      <p:graphicFrame>
        <p:nvGraphicFramePr>
          <p:cNvPr id="9" name="表格 9">
            <a:extLst>
              <a:ext uri="{FF2B5EF4-FFF2-40B4-BE49-F238E27FC236}">
                <a16:creationId xmlns:a16="http://schemas.microsoft.com/office/drawing/2014/main" id="{0A2C1ECE-7144-482E-98F8-1BFE3A340D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9321274"/>
              </p:ext>
            </p:extLst>
          </p:nvPr>
        </p:nvGraphicFramePr>
        <p:xfrm>
          <a:off x="556592" y="3937445"/>
          <a:ext cx="8128000" cy="7416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431234">
                  <a:extLst>
                    <a:ext uri="{9D8B030D-6E8A-4147-A177-3AD203B41FA5}">
                      <a16:colId xmlns:a16="http://schemas.microsoft.com/office/drawing/2014/main" val="4274735524"/>
                    </a:ext>
                  </a:extLst>
                </a:gridCol>
                <a:gridCol w="6696766">
                  <a:extLst>
                    <a:ext uri="{9D8B030D-6E8A-4147-A177-3AD203B41FA5}">
                      <a16:colId xmlns:a16="http://schemas.microsoft.com/office/drawing/2014/main" val="27944631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Condition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Description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192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當</a:t>
                      </a:r>
                      <a:r>
                        <a:rPr lang="en-US" altLang="zh-TW" dirty="0"/>
                        <a:t>max delta</a:t>
                      </a:r>
                      <a:r>
                        <a:rPr lang="zh-TW" altLang="en-US" dirty="0"/>
                        <a:t>超過</a:t>
                      </a:r>
                      <a:r>
                        <a:rPr lang="en-US" altLang="zh-TW" dirty="0" err="1"/>
                        <a:t>esd_max_delta</a:t>
                      </a:r>
                      <a:r>
                        <a:rPr lang="zh-TW" altLang="en-US" dirty="0"/>
                        <a:t>時，成立</a:t>
                      </a:r>
                      <a:endParaRPr lang="en-US" altLang="zh-TW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8308807"/>
                  </a:ext>
                </a:extLst>
              </a:tr>
            </a:tbl>
          </a:graphicData>
        </a:graphic>
      </p:graphicFrame>
      <p:graphicFrame>
        <p:nvGraphicFramePr>
          <p:cNvPr id="13" name="表格 9">
            <a:extLst>
              <a:ext uri="{FF2B5EF4-FFF2-40B4-BE49-F238E27FC236}">
                <a16:creationId xmlns:a16="http://schemas.microsoft.com/office/drawing/2014/main" id="{CC701C6B-E8DC-43A8-998F-DCD9615070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0141366"/>
              </p:ext>
            </p:extLst>
          </p:nvPr>
        </p:nvGraphicFramePr>
        <p:xfrm>
          <a:off x="5088834" y="1978131"/>
          <a:ext cx="6309144" cy="8890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981772">
                  <a:extLst>
                    <a:ext uri="{9D8B030D-6E8A-4147-A177-3AD203B41FA5}">
                      <a16:colId xmlns:a16="http://schemas.microsoft.com/office/drawing/2014/main" val="2124734952"/>
                    </a:ext>
                  </a:extLst>
                </a:gridCol>
                <a:gridCol w="2809461">
                  <a:extLst>
                    <a:ext uri="{9D8B030D-6E8A-4147-A177-3AD203B41FA5}">
                      <a16:colId xmlns:a16="http://schemas.microsoft.com/office/drawing/2014/main" val="2794463128"/>
                    </a:ext>
                  </a:extLst>
                </a:gridCol>
                <a:gridCol w="2517911">
                  <a:extLst>
                    <a:ext uri="{9D8B030D-6E8A-4147-A177-3AD203B41FA5}">
                      <a16:colId xmlns:a16="http://schemas.microsoft.com/office/drawing/2014/main" val="35485303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Size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Name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Address</a:t>
                      </a: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192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2-byte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esd_max_delta</a:t>
                      </a:r>
                      <a:endParaRPr lang="en-US" altLang="zh-TW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Rfeh_A1 (low)</a:t>
                      </a:r>
                    </a:p>
                    <a:p>
                      <a:r>
                        <a:rPr lang="en-US" altLang="zh-TW" sz="1400" dirty="0"/>
                        <a:t>Rfeh_A2 (high)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8308807"/>
                  </a:ext>
                </a:extLst>
              </a:tr>
            </a:tbl>
          </a:graphicData>
        </a:graphic>
      </p:graphicFrame>
      <p:sp>
        <p:nvSpPr>
          <p:cNvPr id="14" name="文字方塊 13">
            <a:extLst>
              <a:ext uri="{FF2B5EF4-FFF2-40B4-BE49-F238E27FC236}">
                <a16:creationId xmlns:a16="http://schemas.microsoft.com/office/drawing/2014/main" id="{4C9F722C-E51B-4BD8-BA37-A02DD8E4FFCF}"/>
              </a:ext>
            </a:extLst>
          </p:cNvPr>
          <p:cNvSpPr txBox="1"/>
          <p:nvPr/>
        </p:nvSpPr>
        <p:spPr>
          <a:xfrm>
            <a:off x="4986499" y="1597524"/>
            <a:ext cx="4598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FAE</a:t>
            </a:r>
            <a:r>
              <a:rPr lang="zh-TW" altLang="en-US" dirty="0"/>
              <a:t>可定義</a:t>
            </a:r>
            <a:r>
              <a:rPr lang="en-US" altLang="zh-TW" dirty="0"/>
              <a:t>: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E400AE4C-8707-40A3-A931-7BE81FF4627E}"/>
              </a:ext>
            </a:extLst>
          </p:cNvPr>
          <p:cNvSpPr txBox="1"/>
          <p:nvPr/>
        </p:nvSpPr>
        <p:spPr>
          <a:xfrm>
            <a:off x="609600" y="118517"/>
            <a:ext cx="2769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>
                <a:solidFill>
                  <a:schemeClr val="bg1">
                    <a:lumMod val="50000"/>
                  </a:schemeClr>
                </a:solidFill>
              </a:rPr>
              <a:t>Parameter_table</a:t>
            </a:r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: 0x8092</a:t>
            </a:r>
            <a:endParaRPr lang="zh-TW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CC485422-0BEC-4212-8DFD-E1D0092161C5}"/>
              </a:ext>
            </a:extLst>
          </p:cNvPr>
          <p:cNvSpPr txBox="1"/>
          <p:nvPr/>
        </p:nvSpPr>
        <p:spPr>
          <a:xfrm>
            <a:off x="4986499" y="2953735"/>
            <a:ext cx="5330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當</a:t>
            </a:r>
            <a:r>
              <a:rPr lang="en-US" altLang="zh-TW" dirty="0" err="1">
                <a:solidFill>
                  <a:srgbClr val="FF0000"/>
                </a:solidFill>
              </a:rPr>
              <a:t>esd_max_delta</a:t>
            </a:r>
            <a:r>
              <a:rPr lang="zh-TW" altLang="en-US" dirty="0">
                <a:solidFill>
                  <a:srgbClr val="FF0000"/>
                </a:solidFill>
              </a:rPr>
              <a:t>為</a:t>
            </a:r>
            <a:r>
              <a:rPr lang="en-US" altLang="zh-TW" dirty="0">
                <a:solidFill>
                  <a:srgbClr val="FF0000"/>
                </a:solidFill>
              </a:rPr>
              <a:t>0</a:t>
            </a:r>
            <a:r>
              <a:rPr lang="zh-TW" altLang="en-US" dirty="0">
                <a:solidFill>
                  <a:srgbClr val="FF0000"/>
                </a:solidFill>
              </a:rPr>
              <a:t>時，此功能關閉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E24AEA00-35FF-40ED-8514-E118E9701813}"/>
              </a:ext>
            </a:extLst>
          </p:cNvPr>
          <p:cNvSpPr txBox="1"/>
          <p:nvPr/>
        </p:nvSpPr>
        <p:spPr>
          <a:xfrm>
            <a:off x="7982134" y="1575644"/>
            <a:ext cx="36636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solidFill>
                  <a:srgbClr val="C00000"/>
                </a:solidFill>
              </a:rPr>
              <a:t>Function EN </a:t>
            </a:r>
            <a:r>
              <a:rPr lang="en-US" altLang="zh-TW" sz="1400" b="1" dirty="0">
                <a:solidFill>
                  <a:srgbClr val="C00000"/>
                </a:solidFill>
              </a:rPr>
              <a:t>ESD_DETECTION </a:t>
            </a:r>
            <a:r>
              <a:rPr lang="zh-TW" altLang="en-US" sz="1400" dirty="0">
                <a:solidFill>
                  <a:srgbClr val="C00000"/>
                </a:solidFill>
              </a:rPr>
              <a:t>須為</a:t>
            </a:r>
            <a:r>
              <a:rPr lang="en-US" altLang="zh-TW" sz="1400" dirty="0">
                <a:solidFill>
                  <a:srgbClr val="C00000"/>
                </a:solidFill>
              </a:rPr>
              <a:t>0x01</a:t>
            </a:r>
            <a:endParaRPr lang="zh-TW" altLang="en-US" sz="1400" dirty="0">
              <a:solidFill>
                <a:srgbClr val="C00000"/>
              </a:solidFill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D811D06F-46D6-4A83-A1FC-286283A97E4A}"/>
              </a:ext>
            </a:extLst>
          </p:cNvPr>
          <p:cNvSpPr txBox="1"/>
          <p:nvPr/>
        </p:nvSpPr>
        <p:spPr>
          <a:xfrm>
            <a:off x="2084272" y="4822314"/>
            <a:ext cx="5330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當</a:t>
            </a:r>
            <a:r>
              <a:rPr lang="en-US" altLang="zh-TW" dirty="0">
                <a:solidFill>
                  <a:srgbClr val="FF0000"/>
                </a:solidFill>
              </a:rPr>
              <a:t>Condition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en-US" altLang="zh-TW" dirty="0">
                <a:solidFill>
                  <a:srgbClr val="FF0000"/>
                </a:solidFill>
              </a:rPr>
              <a:t>1</a:t>
            </a:r>
            <a:r>
              <a:rPr lang="zh-TW" altLang="en-US" dirty="0">
                <a:solidFill>
                  <a:srgbClr val="FF0000"/>
                </a:solidFill>
              </a:rPr>
              <a:t> 成立時，做鬼點保護 </a:t>
            </a:r>
            <a:r>
              <a:rPr lang="en-US" altLang="zh-TW" dirty="0">
                <a:solidFill>
                  <a:srgbClr val="FF0000"/>
                </a:solidFill>
              </a:rPr>
              <a:t>(Level 1)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2384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E9A350-032B-4AFD-9F6B-FE3C130A3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ESD, EMS tuning --</a:t>
            </a:r>
            <a:r>
              <a:rPr lang="zh-TW" altLang="en-US" dirty="0"/>
              <a:t> </a:t>
            </a:r>
            <a:r>
              <a:rPr lang="en-US" altLang="zh-TW" dirty="0"/>
              <a:t>Pattern – One block debounce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4D24C4F-5CF9-4928-BF61-9789FB08B4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84C18F-EB8D-4FF5-AC15-34A2924EEA8A}" type="slidenum">
              <a:rPr lang="en-US" altLang="zh-TW" smtClean="0"/>
              <a:pPr>
                <a:defRPr/>
              </a:pPr>
              <a:t>6</a:t>
            </a:fld>
            <a:endParaRPr lang="en-US" altLang="zh-TW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CE4D01E-6B2A-4ECE-B346-F9AD3E5635CF}"/>
              </a:ext>
            </a:extLst>
          </p:cNvPr>
          <p:cNvSpPr/>
          <p:nvPr/>
        </p:nvSpPr>
        <p:spPr bwMode="auto">
          <a:xfrm>
            <a:off x="609600" y="1666354"/>
            <a:ext cx="4147930" cy="1891748"/>
          </a:xfrm>
          <a:prstGeom prst="rect">
            <a:avLst/>
          </a:prstGeom>
          <a:noFill/>
          <a:ln w="381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Arial Unicode MS" pitchFamily="34" charset="-120"/>
              <a:cs typeface="Arial" panose="020B0604020202020204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01937E5-D954-41CB-9E62-5A6F88B16AC2}"/>
              </a:ext>
            </a:extLst>
          </p:cNvPr>
          <p:cNvSpPr/>
          <p:nvPr/>
        </p:nvSpPr>
        <p:spPr bwMode="auto">
          <a:xfrm>
            <a:off x="2191473" y="2287923"/>
            <a:ext cx="131858" cy="117518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Arial Unicode MS" pitchFamily="34" charset="-120"/>
              <a:cs typeface="Arial" panose="020B0604020202020204" pitchFamily="34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A156792-7EE0-4F4C-9DDC-CA705BEA6095}"/>
              </a:ext>
            </a:extLst>
          </p:cNvPr>
          <p:cNvSpPr txBox="1"/>
          <p:nvPr/>
        </p:nvSpPr>
        <p:spPr>
          <a:xfrm>
            <a:off x="106017" y="2582001"/>
            <a:ext cx="5035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/>
              <a:t>RX</a:t>
            </a:r>
            <a:endParaRPr lang="zh-TW" altLang="en-US" sz="1600" dirty="0"/>
          </a:p>
        </p:txBody>
      </p:sp>
      <p:graphicFrame>
        <p:nvGraphicFramePr>
          <p:cNvPr id="9" name="表格 9">
            <a:extLst>
              <a:ext uri="{FF2B5EF4-FFF2-40B4-BE49-F238E27FC236}">
                <a16:creationId xmlns:a16="http://schemas.microsoft.com/office/drawing/2014/main" id="{0A2C1ECE-7144-482E-98F8-1BFE3A340D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5194823"/>
              </p:ext>
            </p:extLst>
          </p:nvPr>
        </p:nvGraphicFramePr>
        <p:xfrm>
          <a:off x="556592" y="3937445"/>
          <a:ext cx="9636032" cy="7416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696779">
                  <a:extLst>
                    <a:ext uri="{9D8B030D-6E8A-4147-A177-3AD203B41FA5}">
                      <a16:colId xmlns:a16="http://schemas.microsoft.com/office/drawing/2014/main" val="4274735524"/>
                    </a:ext>
                  </a:extLst>
                </a:gridCol>
                <a:gridCol w="7939253">
                  <a:extLst>
                    <a:ext uri="{9D8B030D-6E8A-4147-A177-3AD203B41FA5}">
                      <a16:colId xmlns:a16="http://schemas.microsoft.com/office/drawing/2014/main" val="27944631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Condition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Description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192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當該點的</a:t>
                      </a:r>
                      <a:r>
                        <a:rPr lang="en-US" altLang="zh-TW" dirty="0"/>
                        <a:t>sensed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block</a:t>
                      </a:r>
                      <a:r>
                        <a:rPr lang="zh-TW" altLang="en-US" dirty="0"/>
                        <a:t>只有</a:t>
                      </a:r>
                      <a:r>
                        <a:rPr lang="en-US" altLang="zh-TW" dirty="0"/>
                        <a:t>1</a:t>
                      </a:r>
                      <a:r>
                        <a:rPr lang="zh-TW" altLang="en-US" dirty="0"/>
                        <a:t>個時，</a:t>
                      </a:r>
                      <a:r>
                        <a:rPr lang="en-US" altLang="zh-TW" dirty="0"/>
                        <a:t>weight </a:t>
                      </a:r>
                      <a:r>
                        <a:rPr lang="zh-TW" altLang="en-US" dirty="0"/>
                        <a:t>會看</a:t>
                      </a:r>
                      <a:r>
                        <a:rPr lang="en-US" altLang="zh-TW" dirty="0"/>
                        <a:t>Rfeh_16B * Rfeh_0F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8308807"/>
                  </a:ext>
                </a:extLst>
              </a:tr>
            </a:tbl>
          </a:graphicData>
        </a:graphic>
      </p:graphicFrame>
      <p:graphicFrame>
        <p:nvGraphicFramePr>
          <p:cNvPr id="13" name="表格 9">
            <a:extLst>
              <a:ext uri="{FF2B5EF4-FFF2-40B4-BE49-F238E27FC236}">
                <a16:creationId xmlns:a16="http://schemas.microsoft.com/office/drawing/2014/main" id="{CC701C6B-E8DC-43A8-998F-DCD9615070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4798409"/>
              </p:ext>
            </p:extLst>
          </p:nvPr>
        </p:nvGraphicFramePr>
        <p:xfrm>
          <a:off x="5088834" y="1978131"/>
          <a:ext cx="6309144" cy="11125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981772">
                  <a:extLst>
                    <a:ext uri="{9D8B030D-6E8A-4147-A177-3AD203B41FA5}">
                      <a16:colId xmlns:a16="http://schemas.microsoft.com/office/drawing/2014/main" val="2124734952"/>
                    </a:ext>
                  </a:extLst>
                </a:gridCol>
                <a:gridCol w="2809461">
                  <a:extLst>
                    <a:ext uri="{9D8B030D-6E8A-4147-A177-3AD203B41FA5}">
                      <a16:colId xmlns:a16="http://schemas.microsoft.com/office/drawing/2014/main" val="2794463128"/>
                    </a:ext>
                  </a:extLst>
                </a:gridCol>
                <a:gridCol w="2517911">
                  <a:extLst>
                    <a:ext uri="{9D8B030D-6E8A-4147-A177-3AD203B41FA5}">
                      <a16:colId xmlns:a16="http://schemas.microsoft.com/office/drawing/2014/main" val="35485303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Size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Name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Address</a:t>
                      </a: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192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1-byte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esd_debounce_block</a:t>
                      </a:r>
                      <a:endParaRPr lang="en-US" altLang="zh-TW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err="1"/>
                        <a:t>Rfeh_AB</a:t>
                      </a:r>
                      <a:endParaRPr lang="en-US" altLang="zh-TW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91610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1-byte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one_block_wet_th</a:t>
                      </a:r>
                      <a:endParaRPr lang="en-US" altLang="zh-TW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Rfeh_16B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8308807"/>
                  </a:ext>
                </a:extLst>
              </a:tr>
            </a:tbl>
          </a:graphicData>
        </a:graphic>
      </p:graphicFrame>
      <p:sp>
        <p:nvSpPr>
          <p:cNvPr id="14" name="文字方塊 13">
            <a:extLst>
              <a:ext uri="{FF2B5EF4-FFF2-40B4-BE49-F238E27FC236}">
                <a16:creationId xmlns:a16="http://schemas.microsoft.com/office/drawing/2014/main" id="{4C9F722C-E51B-4BD8-BA37-A02DD8E4FFCF}"/>
              </a:ext>
            </a:extLst>
          </p:cNvPr>
          <p:cNvSpPr txBox="1"/>
          <p:nvPr/>
        </p:nvSpPr>
        <p:spPr>
          <a:xfrm>
            <a:off x="4986499" y="1597524"/>
            <a:ext cx="4598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FAE</a:t>
            </a:r>
            <a:r>
              <a:rPr lang="zh-TW" altLang="en-US" dirty="0"/>
              <a:t>可定義</a:t>
            </a:r>
            <a:r>
              <a:rPr lang="en-US" altLang="zh-TW" dirty="0"/>
              <a:t>: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E400AE4C-8707-40A3-A931-7BE81FF4627E}"/>
              </a:ext>
            </a:extLst>
          </p:cNvPr>
          <p:cNvSpPr txBox="1"/>
          <p:nvPr/>
        </p:nvSpPr>
        <p:spPr>
          <a:xfrm>
            <a:off x="609600" y="118517"/>
            <a:ext cx="2769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>
                <a:solidFill>
                  <a:schemeClr val="bg1">
                    <a:lumMod val="50000"/>
                  </a:schemeClr>
                </a:solidFill>
              </a:rPr>
              <a:t>Parameter_table</a:t>
            </a:r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: 0x8096</a:t>
            </a:r>
            <a:endParaRPr lang="zh-TW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CC485422-0BEC-4212-8DFD-E1D0092161C5}"/>
              </a:ext>
            </a:extLst>
          </p:cNvPr>
          <p:cNvSpPr txBox="1"/>
          <p:nvPr/>
        </p:nvSpPr>
        <p:spPr>
          <a:xfrm>
            <a:off x="5088834" y="3244334"/>
            <a:ext cx="5330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當</a:t>
            </a:r>
            <a:r>
              <a:rPr lang="en-US" altLang="zh-TW" dirty="0" err="1">
                <a:solidFill>
                  <a:srgbClr val="FF0000"/>
                </a:solidFill>
              </a:rPr>
              <a:t>esd_debounce_block</a:t>
            </a:r>
            <a:r>
              <a:rPr lang="zh-TW" altLang="en-US" dirty="0">
                <a:solidFill>
                  <a:srgbClr val="FF0000"/>
                </a:solidFill>
              </a:rPr>
              <a:t>為</a:t>
            </a:r>
            <a:r>
              <a:rPr lang="en-US" altLang="zh-TW" dirty="0">
                <a:solidFill>
                  <a:srgbClr val="FF0000"/>
                </a:solidFill>
              </a:rPr>
              <a:t>0</a:t>
            </a:r>
            <a:r>
              <a:rPr lang="zh-TW" altLang="en-US" dirty="0">
                <a:solidFill>
                  <a:srgbClr val="FF0000"/>
                </a:solidFill>
              </a:rPr>
              <a:t>時，此功能關閉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E24AEA00-35FF-40ED-8514-E118E9701813}"/>
              </a:ext>
            </a:extLst>
          </p:cNvPr>
          <p:cNvSpPr txBox="1"/>
          <p:nvPr/>
        </p:nvSpPr>
        <p:spPr>
          <a:xfrm>
            <a:off x="7982134" y="1575644"/>
            <a:ext cx="36636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solidFill>
                  <a:srgbClr val="C00000"/>
                </a:solidFill>
              </a:rPr>
              <a:t>Function EN </a:t>
            </a:r>
            <a:r>
              <a:rPr lang="en-US" altLang="zh-TW" sz="1400" b="1" dirty="0">
                <a:solidFill>
                  <a:srgbClr val="C00000"/>
                </a:solidFill>
              </a:rPr>
              <a:t>ESD_DETECTION </a:t>
            </a:r>
            <a:r>
              <a:rPr lang="zh-TW" altLang="en-US" sz="1400" dirty="0">
                <a:solidFill>
                  <a:srgbClr val="C00000"/>
                </a:solidFill>
              </a:rPr>
              <a:t>須為</a:t>
            </a:r>
            <a:r>
              <a:rPr lang="en-US" altLang="zh-TW" sz="1400" dirty="0">
                <a:solidFill>
                  <a:srgbClr val="C00000"/>
                </a:solidFill>
              </a:rPr>
              <a:t>0x01</a:t>
            </a:r>
            <a:endParaRPr lang="zh-TW" altLang="en-US" sz="1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9093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E9A350-032B-4AFD-9F6B-FE3C130A3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ESD, EMS tuning --</a:t>
            </a:r>
            <a:r>
              <a:rPr lang="zh-TW" altLang="en-US" dirty="0"/>
              <a:t> </a:t>
            </a:r>
            <a:r>
              <a:rPr lang="en-US" altLang="zh-TW" dirty="0"/>
              <a:t>Pattern – Horizontal Mapping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4D24C4F-5CF9-4928-BF61-9789FB08B4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84C18F-EB8D-4FF5-AC15-34A2924EEA8A}" type="slidenum">
              <a:rPr lang="en-US" altLang="zh-TW" smtClean="0"/>
              <a:pPr>
                <a:defRPr/>
              </a:pPr>
              <a:t>7</a:t>
            </a:fld>
            <a:endParaRPr lang="en-US" altLang="zh-TW"/>
          </a:p>
        </p:txBody>
      </p:sp>
      <p:graphicFrame>
        <p:nvGraphicFramePr>
          <p:cNvPr id="9" name="表格 9">
            <a:extLst>
              <a:ext uri="{FF2B5EF4-FFF2-40B4-BE49-F238E27FC236}">
                <a16:creationId xmlns:a16="http://schemas.microsoft.com/office/drawing/2014/main" id="{0A2C1ECE-7144-482E-98F8-1BFE3A340D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1833320"/>
              </p:ext>
            </p:extLst>
          </p:nvPr>
        </p:nvGraphicFramePr>
        <p:xfrm>
          <a:off x="261930" y="5404291"/>
          <a:ext cx="8714290" cy="5181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534473">
                  <a:extLst>
                    <a:ext uri="{9D8B030D-6E8A-4147-A177-3AD203B41FA5}">
                      <a16:colId xmlns:a16="http://schemas.microsoft.com/office/drawing/2014/main" val="4274735524"/>
                    </a:ext>
                  </a:extLst>
                </a:gridCol>
                <a:gridCol w="7179817">
                  <a:extLst>
                    <a:ext uri="{9D8B030D-6E8A-4147-A177-3AD203B41FA5}">
                      <a16:colId xmlns:a16="http://schemas.microsoft.com/office/drawing/2014/main" val="2794463128"/>
                    </a:ext>
                  </a:extLst>
                </a:gridCol>
              </a:tblGrid>
              <a:tr h="183998">
                <a:tc>
                  <a:txBody>
                    <a:bodyPr/>
                    <a:lstStyle/>
                    <a:p>
                      <a:r>
                        <a:rPr lang="en-US" altLang="zh-TW" sz="1100" dirty="0"/>
                        <a:t>Condition 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100" dirty="0"/>
                        <a:t>Description</a:t>
                      </a:r>
                      <a:endParaRPr lang="zh-TW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192159"/>
                  </a:ext>
                </a:extLst>
              </a:tr>
              <a:tr h="183998">
                <a:tc>
                  <a:txBody>
                    <a:bodyPr/>
                    <a:lstStyle/>
                    <a:p>
                      <a:r>
                        <a:rPr lang="en-US" altLang="zh-TW" sz="1100" dirty="0"/>
                        <a:t>1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100" dirty="0"/>
                        <a:t>某一</a:t>
                      </a:r>
                      <a:r>
                        <a:rPr lang="en-US" altLang="zh-TW" sz="1100" dirty="0"/>
                        <a:t>mux</a:t>
                      </a:r>
                      <a:r>
                        <a:rPr lang="zh-TW" altLang="en-US" sz="1100" dirty="0"/>
                        <a:t>的</a:t>
                      </a:r>
                      <a:r>
                        <a:rPr lang="en-US" altLang="zh-TW" sz="1100" dirty="0"/>
                        <a:t>column</a:t>
                      </a:r>
                      <a:r>
                        <a:rPr lang="zh-TW" altLang="en-US" sz="1100" dirty="0"/>
                        <a:t>值超過</a:t>
                      </a:r>
                      <a:r>
                        <a:rPr lang="en-US" altLang="zh-TW" sz="1100" dirty="0" err="1"/>
                        <a:t>esd_hor_a_block_thx</a:t>
                      </a:r>
                      <a:r>
                        <a:rPr lang="zh-TW" altLang="en-US" sz="1100" dirty="0"/>
                        <a:t>時，</a:t>
                      </a:r>
                      <a:r>
                        <a:rPr lang="en-US" altLang="zh-TW" sz="1100" dirty="0"/>
                        <a:t>count++</a:t>
                      </a:r>
                      <a:r>
                        <a:rPr lang="zh-TW" altLang="en-US" sz="1100" dirty="0"/>
                        <a:t>，當</a:t>
                      </a:r>
                      <a:r>
                        <a:rPr lang="en-US" altLang="zh-TW" sz="1100" dirty="0"/>
                        <a:t>count</a:t>
                      </a:r>
                      <a:r>
                        <a:rPr lang="zh-TW" altLang="en-US" sz="1100" dirty="0"/>
                        <a:t>大於</a:t>
                      </a:r>
                      <a:r>
                        <a:rPr lang="en-US" altLang="zh-TW" sz="11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esd_hor_a_mux_block_count</a:t>
                      </a:r>
                      <a:r>
                        <a:rPr lang="zh-TW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時，成立</a:t>
                      </a:r>
                      <a:endParaRPr lang="en-US" altLang="zh-TW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0907481"/>
                  </a:ext>
                </a:extLst>
              </a:tr>
            </a:tbl>
          </a:graphicData>
        </a:graphic>
      </p:graphicFrame>
      <p:graphicFrame>
        <p:nvGraphicFramePr>
          <p:cNvPr id="13" name="表格 9">
            <a:extLst>
              <a:ext uri="{FF2B5EF4-FFF2-40B4-BE49-F238E27FC236}">
                <a16:creationId xmlns:a16="http://schemas.microsoft.com/office/drawing/2014/main" id="{CC701C6B-E8DC-43A8-998F-DCD9615070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9396875"/>
              </p:ext>
            </p:extLst>
          </p:nvPr>
        </p:nvGraphicFramePr>
        <p:xfrm>
          <a:off x="6741517" y="1999501"/>
          <a:ext cx="5042166" cy="105664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599562">
                  <a:extLst>
                    <a:ext uri="{9D8B030D-6E8A-4147-A177-3AD203B41FA5}">
                      <a16:colId xmlns:a16="http://schemas.microsoft.com/office/drawing/2014/main" val="2124734952"/>
                    </a:ext>
                  </a:extLst>
                </a:gridCol>
                <a:gridCol w="2717321">
                  <a:extLst>
                    <a:ext uri="{9D8B030D-6E8A-4147-A177-3AD203B41FA5}">
                      <a16:colId xmlns:a16="http://schemas.microsoft.com/office/drawing/2014/main" val="2794463128"/>
                    </a:ext>
                  </a:extLst>
                </a:gridCol>
                <a:gridCol w="1725283">
                  <a:extLst>
                    <a:ext uri="{9D8B030D-6E8A-4147-A177-3AD203B41FA5}">
                      <a16:colId xmlns:a16="http://schemas.microsoft.com/office/drawing/2014/main" val="3548530378"/>
                    </a:ext>
                  </a:extLst>
                </a:gridCol>
              </a:tblGrid>
              <a:tr h="226114">
                <a:tc>
                  <a:txBody>
                    <a:bodyPr/>
                    <a:lstStyle/>
                    <a:p>
                      <a:r>
                        <a:rPr lang="en-US" altLang="zh-TW" sz="1100" dirty="0"/>
                        <a:t>Size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100" dirty="0"/>
                        <a:t>Name</a:t>
                      </a:r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100" dirty="0"/>
                        <a:t>Address</a:t>
                      </a:r>
                      <a:endParaRPr lang="zh-TW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192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100" dirty="0"/>
                        <a:t>1-byte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100" dirty="0" err="1"/>
                        <a:t>esd_hor_a_mux_col_block_count</a:t>
                      </a:r>
                      <a:endParaRPr lang="en-US" altLang="zh-TW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100" dirty="0"/>
                        <a:t>Rfeh_A5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182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100" dirty="0"/>
                        <a:t>2-byte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dirty="0" err="1"/>
                        <a:t>esd_hor_a_mux_col_block_thx</a:t>
                      </a:r>
                      <a:endParaRPr lang="en-US" altLang="zh-TW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100" dirty="0"/>
                        <a:t>Rfeh_A3 (low)</a:t>
                      </a:r>
                    </a:p>
                    <a:p>
                      <a:r>
                        <a:rPr lang="en-US" altLang="zh-TW" sz="1100" dirty="0"/>
                        <a:t>Rfeh_A4 (high)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3113286"/>
                  </a:ext>
                </a:extLst>
              </a:tr>
            </a:tbl>
          </a:graphicData>
        </a:graphic>
      </p:graphicFrame>
      <p:sp>
        <p:nvSpPr>
          <p:cNvPr id="14" name="文字方塊 13">
            <a:extLst>
              <a:ext uri="{FF2B5EF4-FFF2-40B4-BE49-F238E27FC236}">
                <a16:creationId xmlns:a16="http://schemas.microsoft.com/office/drawing/2014/main" id="{4C9F722C-E51B-4BD8-BA37-A02DD8E4FFCF}"/>
              </a:ext>
            </a:extLst>
          </p:cNvPr>
          <p:cNvSpPr txBox="1"/>
          <p:nvPr/>
        </p:nvSpPr>
        <p:spPr>
          <a:xfrm>
            <a:off x="6635515" y="1607698"/>
            <a:ext cx="4598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FAE</a:t>
            </a:r>
            <a:r>
              <a:rPr lang="zh-TW" altLang="en-US" dirty="0"/>
              <a:t>可定義</a:t>
            </a:r>
            <a:r>
              <a:rPr lang="en-US" altLang="zh-TW" dirty="0"/>
              <a:t>: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E400AE4C-8707-40A3-A931-7BE81FF4627E}"/>
              </a:ext>
            </a:extLst>
          </p:cNvPr>
          <p:cNvSpPr txBox="1"/>
          <p:nvPr/>
        </p:nvSpPr>
        <p:spPr>
          <a:xfrm>
            <a:off x="609600" y="118517"/>
            <a:ext cx="2769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>
                <a:solidFill>
                  <a:schemeClr val="bg1">
                    <a:lumMod val="50000"/>
                  </a:schemeClr>
                </a:solidFill>
              </a:rPr>
              <a:t>Parameter_table</a:t>
            </a:r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: 0x8096</a:t>
            </a:r>
            <a:endParaRPr lang="zh-TW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CC485422-0BEC-4212-8DFD-E1D0092161C5}"/>
              </a:ext>
            </a:extLst>
          </p:cNvPr>
          <p:cNvSpPr txBox="1"/>
          <p:nvPr/>
        </p:nvSpPr>
        <p:spPr>
          <a:xfrm>
            <a:off x="6741517" y="3137902"/>
            <a:ext cx="393456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50" dirty="0">
                <a:solidFill>
                  <a:srgbClr val="FF0000"/>
                </a:solidFill>
              </a:rPr>
              <a:t>當</a:t>
            </a:r>
            <a:r>
              <a:rPr lang="en-US" altLang="zh-TW" sz="1050" dirty="0" err="1">
                <a:solidFill>
                  <a:srgbClr val="FF0000"/>
                </a:solidFill>
              </a:rPr>
              <a:t>esd_hor_a_mux_col_block_count</a:t>
            </a:r>
            <a:r>
              <a:rPr lang="en-US" altLang="zh-TW" sz="1050" dirty="0">
                <a:solidFill>
                  <a:srgbClr val="FF0000"/>
                </a:solidFill>
              </a:rPr>
              <a:t> </a:t>
            </a:r>
            <a:r>
              <a:rPr lang="zh-TW" altLang="en-US" sz="1050" dirty="0">
                <a:solidFill>
                  <a:srgbClr val="FF0000"/>
                </a:solidFill>
              </a:rPr>
              <a:t>為</a:t>
            </a:r>
            <a:r>
              <a:rPr lang="en-US" altLang="zh-TW" sz="1050" dirty="0">
                <a:solidFill>
                  <a:srgbClr val="FF0000"/>
                </a:solidFill>
              </a:rPr>
              <a:t>0</a:t>
            </a:r>
            <a:r>
              <a:rPr lang="zh-TW" altLang="en-US" sz="1050" dirty="0">
                <a:solidFill>
                  <a:srgbClr val="FF0000"/>
                </a:solidFill>
              </a:rPr>
              <a:t>時，此功能關閉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E24AEA00-35FF-40ED-8514-E118E9701813}"/>
              </a:ext>
            </a:extLst>
          </p:cNvPr>
          <p:cNvSpPr txBox="1"/>
          <p:nvPr/>
        </p:nvSpPr>
        <p:spPr>
          <a:xfrm>
            <a:off x="8232190" y="1655953"/>
            <a:ext cx="36636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solidFill>
                  <a:srgbClr val="C00000"/>
                </a:solidFill>
              </a:rPr>
              <a:t>Function EN </a:t>
            </a:r>
            <a:r>
              <a:rPr lang="en-US" altLang="zh-TW" sz="1400" b="1" dirty="0">
                <a:solidFill>
                  <a:srgbClr val="C00000"/>
                </a:solidFill>
              </a:rPr>
              <a:t>ESD_DETECTION </a:t>
            </a:r>
            <a:r>
              <a:rPr lang="zh-TW" altLang="en-US" sz="1400" dirty="0">
                <a:solidFill>
                  <a:srgbClr val="C00000"/>
                </a:solidFill>
              </a:rPr>
              <a:t>須為</a:t>
            </a:r>
            <a:r>
              <a:rPr lang="en-US" altLang="zh-TW" sz="1400" dirty="0">
                <a:solidFill>
                  <a:srgbClr val="C00000"/>
                </a:solidFill>
              </a:rPr>
              <a:t>0x01</a:t>
            </a:r>
            <a:endParaRPr lang="zh-TW" altLang="en-US" sz="1400" dirty="0">
              <a:solidFill>
                <a:srgbClr val="C00000"/>
              </a:solidFill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D811D06F-46D6-4A83-A1FC-286283A97E4A}"/>
              </a:ext>
            </a:extLst>
          </p:cNvPr>
          <p:cNvSpPr txBox="1"/>
          <p:nvPr/>
        </p:nvSpPr>
        <p:spPr>
          <a:xfrm>
            <a:off x="261930" y="5969410"/>
            <a:ext cx="53303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400" dirty="0">
                <a:solidFill>
                  <a:srgbClr val="FF0000"/>
                </a:solidFill>
              </a:rPr>
              <a:t>當</a:t>
            </a:r>
            <a:r>
              <a:rPr lang="en-US" altLang="zh-TW" sz="1400" dirty="0">
                <a:solidFill>
                  <a:srgbClr val="FF0000"/>
                </a:solidFill>
              </a:rPr>
              <a:t>Condition</a:t>
            </a:r>
            <a:r>
              <a:rPr lang="zh-TW" altLang="en-US" sz="1400" dirty="0">
                <a:solidFill>
                  <a:srgbClr val="FF0000"/>
                </a:solidFill>
              </a:rPr>
              <a:t> </a:t>
            </a:r>
            <a:r>
              <a:rPr lang="en-US" altLang="zh-TW" sz="1400" dirty="0">
                <a:solidFill>
                  <a:srgbClr val="FF0000"/>
                </a:solidFill>
              </a:rPr>
              <a:t>1</a:t>
            </a:r>
            <a:r>
              <a:rPr lang="zh-TW" altLang="en-US" sz="1400" dirty="0">
                <a:solidFill>
                  <a:srgbClr val="FF0000"/>
                </a:solidFill>
              </a:rPr>
              <a:t> 成立時，做鬼點保護 </a:t>
            </a:r>
            <a:r>
              <a:rPr lang="en-US" altLang="zh-TW" sz="1400" dirty="0">
                <a:solidFill>
                  <a:srgbClr val="FF0000"/>
                </a:solidFill>
              </a:rPr>
              <a:t>(Level 1)</a:t>
            </a:r>
            <a:endParaRPr lang="zh-TW" altLang="en-US" sz="1400" dirty="0">
              <a:solidFill>
                <a:srgbClr val="FF0000"/>
              </a:solidFill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069F9AB3-0991-4433-B129-43C0C8DB18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25" y="1082869"/>
            <a:ext cx="6447935" cy="4160250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BF5F4DC8-1FB9-44DA-B0D4-853A785ECF29}"/>
              </a:ext>
            </a:extLst>
          </p:cNvPr>
          <p:cNvSpPr/>
          <p:nvPr/>
        </p:nvSpPr>
        <p:spPr bwMode="auto">
          <a:xfrm>
            <a:off x="198408" y="1312505"/>
            <a:ext cx="229432" cy="497337"/>
          </a:xfrm>
          <a:prstGeom prst="rect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Arial Unicode MS" pitchFamily="34" charset="-120"/>
              <a:cs typeface="Arial" panose="020B0604020202020204" pitchFamily="34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EE009D6-3A74-4ED9-9585-71DB4168DB78}"/>
              </a:ext>
            </a:extLst>
          </p:cNvPr>
          <p:cNvSpPr/>
          <p:nvPr/>
        </p:nvSpPr>
        <p:spPr bwMode="auto">
          <a:xfrm>
            <a:off x="198406" y="2297719"/>
            <a:ext cx="226539" cy="497337"/>
          </a:xfrm>
          <a:prstGeom prst="rect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Arial Unicode MS" pitchFamily="34" charset="-120"/>
              <a:cs typeface="Arial" panose="020B0604020202020204" pitchFamily="34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1F954B9-AA65-41EF-8DAC-D17913F5D8C5}"/>
              </a:ext>
            </a:extLst>
          </p:cNvPr>
          <p:cNvSpPr/>
          <p:nvPr/>
        </p:nvSpPr>
        <p:spPr bwMode="auto">
          <a:xfrm>
            <a:off x="198407" y="3277812"/>
            <a:ext cx="226538" cy="497337"/>
          </a:xfrm>
          <a:prstGeom prst="rect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Arial Unicode MS" pitchFamily="34" charset="-120"/>
              <a:cs typeface="Arial" panose="020B0604020202020204" pitchFamily="34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49523E5-1570-48F5-A9CD-998A23D8FE81}"/>
              </a:ext>
            </a:extLst>
          </p:cNvPr>
          <p:cNvSpPr/>
          <p:nvPr/>
        </p:nvSpPr>
        <p:spPr bwMode="auto">
          <a:xfrm>
            <a:off x="198405" y="4244098"/>
            <a:ext cx="226539" cy="497337"/>
          </a:xfrm>
          <a:prstGeom prst="rect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Arial Unicode MS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956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 descr="master9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33577" y="2142566"/>
            <a:ext cx="4763475" cy="1510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555" name="Text Box 3"/>
          <p:cNvSpPr txBox="1">
            <a:spLocks noChangeArrowheads="1"/>
          </p:cNvSpPr>
          <p:nvPr/>
        </p:nvSpPr>
        <p:spPr bwMode="auto">
          <a:xfrm>
            <a:off x="3302000" y="3727450"/>
            <a:ext cx="5588000" cy="646331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3600" dirty="0">
                <a:cs typeface="Arial" pitchFamily="34" charset="0"/>
              </a:rPr>
              <a:t>Drive for better vision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CATEGORY" val="Primary Field Layouts"/>
  <p:tag name="LAYOUTDISPLAYNAME" val="Two Columns"/>
  <p:tag name="ALLOWMORETHANONE" val="Yes"/>
  <p:tag name="ALLOWINCLUDEINTOC" val="Yes"/>
  <p:tag name="PAGETYPE" val="BodyPage"/>
  <p:tag name="LAYOUTNAME" val="Two Columns"/>
  <p:tag name="ALLOWPAGETITLE" val="Yes"/>
  <p:tag name="ALLOWPAGESUBTITLE" val="Yes"/>
</p:tagLst>
</file>

<file path=ppt/theme/theme1.xml><?xml version="1.0" encoding="utf-8"?>
<a:theme xmlns:a="http://schemas.openxmlformats.org/drawingml/2006/main" name="~1086908">
  <a:themeElements>
    <a:clrScheme name="">
      <a:dk1>
        <a:srgbClr val="003366"/>
      </a:dk1>
      <a:lt1>
        <a:srgbClr val="FFFFF0"/>
      </a:lt1>
      <a:dk2>
        <a:srgbClr val="C4D7EC"/>
      </a:dk2>
      <a:lt2>
        <a:srgbClr val="B6B468"/>
      </a:lt2>
      <a:accent1>
        <a:srgbClr val="1B65B7"/>
      </a:accent1>
      <a:accent2>
        <a:srgbClr val="F5C30B"/>
      </a:accent2>
      <a:accent3>
        <a:srgbClr val="FFFFF6"/>
      </a:accent3>
      <a:accent4>
        <a:srgbClr val="002A56"/>
      </a:accent4>
      <a:accent5>
        <a:srgbClr val="ABB8D8"/>
      </a:accent5>
      <a:accent6>
        <a:srgbClr val="DEB009"/>
      </a:accent6>
      <a:hlink>
        <a:srgbClr val="37994E"/>
      </a:hlink>
      <a:folHlink>
        <a:srgbClr val="E50919"/>
      </a:folHlink>
    </a:clrScheme>
    <a:fontScheme name="~1086908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8100" cap="flat" cmpd="sng" algn="ctr">
          <a:solidFill>
            <a:srgbClr val="003366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Arial Unicode MS" pitchFamily="34" charset="-120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12700" cap="flat" cmpd="sng" algn="ctr">
          <a:solidFill>
            <a:srgbClr val="003366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</a:objectDefaults>
  <a:extraClrSchemeLst>
    <a:extraClrScheme>
      <a:clrScheme name="~1086908 1">
        <a:dk1>
          <a:srgbClr val="993300"/>
        </a:dk1>
        <a:lt1>
          <a:srgbClr val="CCCCCC"/>
        </a:lt1>
        <a:dk2>
          <a:srgbClr val="000000"/>
        </a:dk2>
        <a:lt2>
          <a:srgbClr val="FFFFFF"/>
        </a:lt2>
        <a:accent1>
          <a:srgbClr val="576F2B"/>
        </a:accent1>
        <a:accent2>
          <a:srgbClr val="666699"/>
        </a:accent2>
        <a:accent3>
          <a:srgbClr val="AAAAAA"/>
        </a:accent3>
        <a:accent4>
          <a:srgbClr val="AEAEAE"/>
        </a:accent4>
        <a:accent5>
          <a:srgbClr val="B4BBAC"/>
        </a:accent5>
        <a:accent6>
          <a:srgbClr val="5C5C8A"/>
        </a:accent6>
        <a:hlink>
          <a:srgbClr val="9933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~1086908 2">
        <a:dk1>
          <a:srgbClr val="993300"/>
        </a:dk1>
        <a:lt1>
          <a:srgbClr val="CCCCCC"/>
        </a:lt1>
        <a:dk2>
          <a:srgbClr val="330000"/>
        </a:dk2>
        <a:lt2>
          <a:srgbClr val="FFFFFF"/>
        </a:lt2>
        <a:accent1>
          <a:srgbClr val="996633"/>
        </a:accent1>
        <a:accent2>
          <a:srgbClr val="FF0000"/>
        </a:accent2>
        <a:accent3>
          <a:srgbClr val="ADAAAA"/>
        </a:accent3>
        <a:accent4>
          <a:srgbClr val="AEAEAE"/>
        </a:accent4>
        <a:accent5>
          <a:srgbClr val="CAB8AD"/>
        </a:accent5>
        <a:accent6>
          <a:srgbClr val="E70000"/>
        </a:accent6>
        <a:hlink>
          <a:srgbClr val="FF3300"/>
        </a:hlink>
        <a:folHlink>
          <a:srgbClr val="CC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~1086908 3">
        <a:dk1>
          <a:srgbClr val="79788A"/>
        </a:dk1>
        <a:lt1>
          <a:srgbClr val="FFFFFF"/>
        </a:lt1>
        <a:dk2>
          <a:srgbClr val="21203C"/>
        </a:dk2>
        <a:lt2>
          <a:srgbClr val="FFFFCC"/>
        </a:lt2>
        <a:accent1>
          <a:srgbClr val="476077"/>
        </a:accent1>
        <a:accent2>
          <a:srgbClr val="676C5A"/>
        </a:accent2>
        <a:accent3>
          <a:srgbClr val="ABABAF"/>
        </a:accent3>
        <a:accent4>
          <a:srgbClr val="DADADA"/>
        </a:accent4>
        <a:accent5>
          <a:srgbClr val="B1B6BD"/>
        </a:accent5>
        <a:accent6>
          <a:srgbClr val="5D6151"/>
        </a:accent6>
        <a:hlink>
          <a:srgbClr val="666699"/>
        </a:hlink>
        <a:folHlink>
          <a:srgbClr val="8CB0A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~1086908 4">
        <a:dk1>
          <a:srgbClr val="455B41"/>
        </a:dk1>
        <a:lt1>
          <a:srgbClr val="FFFFCC"/>
        </a:lt1>
        <a:dk2>
          <a:srgbClr val="79A994"/>
        </a:dk2>
        <a:lt2>
          <a:srgbClr val="FFFFCC"/>
        </a:lt2>
        <a:accent1>
          <a:srgbClr val="517087"/>
        </a:accent1>
        <a:accent2>
          <a:srgbClr val="666699"/>
        </a:accent2>
        <a:accent3>
          <a:srgbClr val="BED1C8"/>
        </a:accent3>
        <a:accent4>
          <a:srgbClr val="DADAAE"/>
        </a:accent4>
        <a:accent5>
          <a:srgbClr val="B3BBC3"/>
        </a:accent5>
        <a:accent6>
          <a:srgbClr val="5C5C8A"/>
        </a:accent6>
        <a:hlink>
          <a:srgbClr val="993300"/>
        </a:hlink>
        <a:folHlink>
          <a:srgbClr val="A4AF6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~1086908 5">
        <a:dk1>
          <a:srgbClr val="330000"/>
        </a:dk1>
        <a:lt1>
          <a:srgbClr val="FF9900"/>
        </a:lt1>
        <a:dk2>
          <a:srgbClr val="FFFFFF"/>
        </a:dk2>
        <a:lt2>
          <a:srgbClr val="8B3111"/>
        </a:lt2>
        <a:accent1>
          <a:srgbClr val="DD6D07"/>
        </a:accent1>
        <a:accent2>
          <a:srgbClr val="CC9900"/>
        </a:accent2>
        <a:accent3>
          <a:srgbClr val="FFCAAA"/>
        </a:accent3>
        <a:accent4>
          <a:srgbClr val="2A0000"/>
        </a:accent4>
        <a:accent5>
          <a:srgbClr val="EBBAAA"/>
        </a:accent5>
        <a:accent6>
          <a:srgbClr val="B98A00"/>
        </a:accent6>
        <a:hlink>
          <a:srgbClr val="CC330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6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CCCC99"/>
        </a:accent1>
        <a:accent2>
          <a:srgbClr val="FF0000"/>
        </a:accent2>
        <a:accent3>
          <a:srgbClr val="FFFFEE"/>
        </a:accent3>
        <a:accent4>
          <a:srgbClr val="000000"/>
        </a:accent4>
        <a:accent5>
          <a:srgbClr val="E2E2CA"/>
        </a:accent5>
        <a:accent6>
          <a:srgbClr val="E70000"/>
        </a:accent6>
        <a:hlink>
          <a:srgbClr val="9900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7">
        <a:dk1>
          <a:srgbClr val="000000"/>
        </a:dk1>
        <a:lt1>
          <a:srgbClr val="FFFFFF"/>
        </a:lt1>
        <a:dk2>
          <a:srgbClr val="000000"/>
        </a:dk2>
        <a:lt2>
          <a:srgbClr val="891411"/>
        </a:lt2>
        <a:accent1>
          <a:srgbClr val="4F917E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B2C7C0"/>
        </a:accent5>
        <a:accent6>
          <a:srgbClr val="B98A00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8">
        <a:dk1>
          <a:srgbClr val="000000"/>
        </a:dk1>
        <a:lt1>
          <a:srgbClr val="FFFFFF"/>
        </a:lt1>
        <a:dk2>
          <a:srgbClr val="CC0000"/>
        </a:dk2>
        <a:lt2>
          <a:srgbClr val="999966"/>
        </a:lt2>
        <a:accent1>
          <a:srgbClr val="CCCCCC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B9B95C"/>
        </a:accent6>
        <a:hlink>
          <a:srgbClr val="666699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9">
        <a:dk1>
          <a:srgbClr val="000000"/>
        </a:dk1>
        <a:lt1>
          <a:srgbClr val="FFFFFF"/>
        </a:lt1>
        <a:dk2>
          <a:srgbClr val="FF0000"/>
        </a:dk2>
        <a:lt2>
          <a:srgbClr val="009999"/>
        </a:lt2>
        <a:accent1>
          <a:srgbClr val="C7B505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E0D7AA"/>
        </a:accent5>
        <a:accent6>
          <a:srgbClr val="E7E75C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10">
        <a:dk1>
          <a:srgbClr val="000000"/>
        </a:dk1>
        <a:lt1>
          <a:srgbClr val="FFFFFF"/>
        </a:lt1>
        <a:dk2>
          <a:srgbClr val="660033"/>
        </a:dk2>
        <a:lt2>
          <a:srgbClr val="666699"/>
        </a:lt2>
        <a:accent1>
          <a:srgbClr val="95A3D1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C8CEE5"/>
        </a:accent5>
        <a:accent6>
          <a:srgbClr val="E7E75C"/>
        </a:accent6>
        <a:hlink>
          <a:srgbClr val="5A84D8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11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79A9B9"/>
        </a:accent1>
        <a:accent2>
          <a:srgbClr val="FFCB6D"/>
        </a:accent2>
        <a:accent3>
          <a:srgbClr val="FFFFEE"/>
        </a:accent3>
        <a:accent4>
          <a:srgbClr val="000000"/>
        </a:accent4>
        <a:accent5>
          <a:srgbClr val="BED1D9"/>
        </a:accent5>
        <a:accent6>
          <a:srgbClr val="E7B862"/>
        </a:accent6>
        <a:hlink>
          <a:srgbClr val="CCCC99"/>
        </a:hlink>
        <a:folHlink>
          <a:srgbClr val="BB07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12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ACD7E4"/>
        </a:accent1>
        <a:accent2>
          <a:srgbClr val="FFCB6D"/>
        </a:accent2>
        <a:accent3>
          <a:srgbClr val="FFFFEE"/>
        </a:accent3>
        <a:accent4>
          <a:srgbClr val="000000"/>
        </a:accent4>
        <a:accent5>
          <a:srgbClr val="D2E8EF"/>
        </a:accent5>
        <a:accent6>
          <a:srgbClr val="E7B862"/>
        </a:accent6>
        <a:hlink>
          <a:srgbClr val="CCCC99"/>
        </a:hlink>
        <a:folHlink>
          <a:srgbClr val="BB07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13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5DB1CB"/>
        </a:accent1>
        <a:accent2>
          <a:srgbClr val="FFCB6D"/>
        </a:accent2>
        <a:accent3>
          <a:srgbClr val="FFFFEE"/>
        </a:accent3>
        <a:accent4>
          <a:srgbClr val="000000"/>
        </a:accent4>
        <a:accent5>
          <a:srgbClr val="B6D5E2"/>
        </a:accent5>
        <a:accent6>
          <a:srgbClr val="E7B862"/>
        </a:accent6>
        <a:hlink>
          <a:srgbClr val="CCCC99"/>
        </a:hlink>
        <a:folHlink>
          <a:srgbClr val="BB07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14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86D3E2"/>
        </a:accent1>
        <a:accent2>
          <a:srgbClr val="FFCB6D"/>
        </a:accent2>
        <a:accent3>
          <a:srgbClr val="FFFFEE"/>
        </a:accent3>
        <a:accent4>
          <a:srgbClr val="000000"/>
        </a:accent4>
        <a:accent5>
          <a:srgbClr val="C3E6EE"/>
        </a:accent5>
        <a:accent6>
          <a:srgbClr val="E7B862"/>
        </a:accent6>
        <a:hlink>
          <a:srgbClr val="CCCC99"/>
        </a:hlink>
        <a:folHlink>
          <a:srgbClr val="BB07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15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86D3E2"/>
        </a:accent1>
        <a:accent2>
          <a:srgbClr val="FFCB6D"/>
        </a:accent2>
        <a:accent3>
          <a:srgbClr val="FFFFEE"/>
        </a:accent3>
        <a:accent4>
          <a:srgbClr val="000000"/>
        </a:accent4>
        <a:accent5>
          <a:srgbClr val="C3E6EE"/>
        </a:accent5>
        <a:accent6>
          <a:srgbClr val="E7B862"/>
        </a:accent6>
        <a:hlink>
          <a:srgbClr val="CCCC99"/>
        </a:hlink>
        <a:folHlink>
          <a:srgbClr val="E909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16">
        <a:dk1>
          <a:srgbClr val="003366"/>
        </a:dk1>
        <a:lt1>
          <a:srgbClr val="FFFFE1"/>
        </a:lt1>
        <a:dk2>
          <a:srgbClr val="330033"/>
        </a:dk2>
        <a:lt2>
          <a:srgbClr val="330033"/>
        </a:lt2>
        <a:accent1>
          <a:srgbClr val="86D3E2"/>
        </a:accent1>
        <a:accent2>
          <a:srgbClr val="FFCB6D"/>
        </a:accent2>
        <a:accent3>
          <a:srgbClr val="FFFFEE"/>
        </a:accent3>
        <a:accent4>
          <a:srgbClr val="002A56"/>
        </a:accent4>
        <a:accent5>
          <a:srgbClr val="C3E6EE"/>
        </a:accent5>
        <a:accent6>
          <a:srgbClr val="E7B862"/>
        </a:accent6>
        <a:hlink>
          <a:srgbClr val="CCCC99"/>
        </a:hlink>
        <a:folHlink>
          <a:srgbClr val="E9091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~1086908">
  <a:themeElements>
    <a:clrScheme name="">
      <a:dk1>
        <a:srgbClr val="003366"/>
      </a:dk1>
      <a:lt1>
        <a:srgbClr val="FFFFF0"/>
      </a:lt1>
      <a:dk2>
        <a:srgbClr val="C4D7EC"/>
      </a:dk2>
      <a:lt2>
        <a:srgbClr val="B6B468"/>
      </a:lt2>
      <a:accent1>
        <a:srgbClr val="1B65B7"/>
      </a:accent1>
      <a:accent2>
        <a:srgbClr val="F5C30B"/>
      </a:accent2>
      <a:accent3>
        <a:srgbClr val="FFFFF6"/>
      </a:accent3>
      <a:accent4>
        <a:srgbClr val="002A56"/>
      </a:accent4>
      <a:accent5>
        <a:srgbClr val="ABB8D8"/>
      </a:accent5>
      <a:accent6>
        <a:srgbClr val="DEB009"/>
      </a:accent6>
      <a:hlink>
        <a:srgbClr val="37994E"/>
      </a:hlink>
      <a:folHlink>
        <a:srgbClr val="E50919"/>
      </a:folHlink>
    </a:clrScheme>
    <a:fontScheme name="~1086908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8100" cap="flat" cmpd="sng" algn="ctr">
          <a:solidFill>
            <a:srgbClr val="003366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Arial Unicode MS" pitchFamily="34" charset="-120"/>
            <a:cs typeface="Arial" panose="020B0604020202020204" pitchFamily="34" charset="0"/>
          </a:defRPr>
        </a:defPPr>
      </a:lstStyle>
    </a:spDef>
    <a:lnDef>
      <a:spPr bwMode="auto">
        <a:solidFill>
          <a:schemeClr val="accent1"/>
        </a:solidFill>
        <a:ln w="25400" cap="flat" cmpd="sng" algn="ctr">
          <a:solidFill>
            <a:srgbClr val="CC33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</a:objectDefaults>
  <a:extraClrSchemeLst>
    <a:extraClrScheme>
      <a:clrScheme name="~1086908 1">
        <a:dk1>
          <a:srgbClr val="993300"/>
        </a:dk1>
        <a:lt1>
          <a:srgbClr val="CCCCCC"/>
        </a:lt1>
        <a:dk2>
          <a:srgbClr val="000000"/>
        </a:dk2>
        <a:lt2>
          <a:srgbClr val="FFFFFF"/>
        </a:lt2>
        <a:accent1>
          <a:srgbClr val="576F2B"/>
        </a:accent1>
        <a:accent2>
          <a:srgbClr val="666699"/>
        </a:accent2>
        <a:accent3>
          <a:srgbClr val="AAAAAA"/>
        </a:accent3>
        <a:accent4>
          <a:srgbClr val="AEAEAE"/>
        </a:accent4>
        <a:accent5>
          <a:srgbClr val="B4BBAC"/>
        </a:accent5>
        <a:accent6>
          <a:srgbClr val="5C5C8A"/>
        </a:accent6>
        <a:hlink>
          <a:srgbClr val="9933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~1086908 2">
        <a:dk1>
          <a:srgbClr val="993300"/>
        </a:dk1>
        <a:lt1>
          <a:srgbClr val="CCCCCC"/>
        </a:lt1>
        <a:dk2>
          <a:srgbClr val="330000"/>
        </a:dk2>
        <a:lt2>
          <a:srgbClr val="FFFFFF"/>
        </a:lt2>
        <a:accent1>
          <a:srgbClr val="996633"/>
        </a:accent1>
        <a:accent2>
          <a:srgbClr val="FF0000"/>
        </a:accent2>
        <a:accent3>
          <a:srgbClr val="ADAAAA"/>
        </a:accent3>
        <a:accent4>
          <a:srgbClr val="AEAEAE"/>
        </a:accent4>
        <a:accent5>
          <a:srgbClr val="CAB8AD"/>
        </a:accent5>
        <a:accent6>
          <a:srgbClr val="E70000"/>
        </a:accent6>
        <a:hlink>
          <a:srgbClr val="FF3300"/>
        </a:hlink>
        <a:folHlink>
          <a:srgbClr val="CC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~1086908 3">
        <a:dk1>
          <a:srgbClr val="79788A"/>
        </a:dk1>
        <a:lt1>
          <a:srgbClr val="FFFFFF"/>
        </a:lt1>
        <a:dk2>
          <a:srgbClr val="21203C"/>
        </a:dk2>
        <a:lt2>
          <a:srgbClr val="FFFFCC"/>
        </a:lt2>
        <a:accent1>
          <a:srgbClr val="476077"/>
        </a:accent1>
        <a:accent2>
          <a:srgbClr val="676C5A"/>
        </a:accent2>
        <a:accent3>
          <a:srgbClr val="ABABAF"/>
        </a:accent3>
        <a:accent4>
          <a:srgbClr val="DADADA"/>
        </a:accent4>
        <a:accent5>
          <a:srgbClr val="B1B6BD"/>
        </a:accent5>
        <a:accent6>
          <a:srgbClr val="5D6151"/>
        </a:accent6>
        <a:hlink>
          <a:srgbClr val="666699"/>
        </a:hlink>
        <a:folHlink>
          <a:srgbClr val="8CB0A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~1086908 4">
        <a:dk1>
          <a:srgbClr val="455B41"/>
        </a:dk1>
        <a:lt1>
          <a:srgbClr val="FFFFCC"/>
        </a:lt1>
        <a:dk2>
          <a:srgbClr val="79A994"/>
        </a:dk2>
        <a:lt2>
          <a:srgbClr val="FFFFCC"/>
        </a:lt2>
        <a:accent1>
          <a:srgbClr val="517087"/>
        </a:accent1>
        <a:accent2>
          <a:srgbClr val="666699"/>
        </a:accent2>
        <a:accent3>
          <a:srgbClr val="BED1C8"/>
        </a:accent3>
        <a:accent4>
          <a:srgbClr val="DADAAE"/>
        </a:accent4>
        <a:accent5>
          <a:srgbClr val="B3BBC3"/>
        </a:accent5>
        <a:accent6>
          <a:srgbClr val="5C5C8A"/>
        </a:accent6>
        <a:hlink>
          <a:srgbClr val="993300"/>
        </a:hlink>
        <a:folHlink>
          <a:srgbClr val="A4AF6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~1086908 5">
        <a:dk1>
          <a:srgbClr val="330000"/>
        </a:dk1>
        <a:lt1>
          <a:srgbClr val="FF9900"/>
        </a:lt1>
        <a:dk2>
          <a:srgbClr val="FFFFFF"/>
        </a:dk2>
        <a:lt2>
          <a:srgbClr val="8B3111"/>
        </a:lt2>
        <a:accent1>
          <a:srgbClr val="DD6D07"/>
        </a:accent1>
        <a:accent2>
          <a:srgbClr val="CC9900"/>
        </a:accent2>
        <a:accent3>
          <a:srgbClr val="FFCAAA"/>
        </a:accent3>
        <a:accent4>
          <a:srgbClr val="2A0000"/>
        </a:accent4>
        <a:accent5>
          <a:srgbClr val="EBBAAA"/>
        </a:accent5>
        <a:accent6>
          <a:srgbClr val="B98A00"/>
        </a:accent6>
        <a:hlink>
          <a:srgbClr val="CC330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6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CCCC99"/>
        </a:accent1>
        <a:accent2>
          <a:srgbClr val="FF0000"/>
        </a:accent2>
        <a:accent3>
          <a:srgbClr val="FFFFEE"/>
        </a:accent3>
        <a:accent4>
          <a:srgbClr val="000000"/>
        </a:accent4>
        <a:accent5>
          <a:srgbClr val="E2E2CA"/>
        </a:accent5>
        <a:accent6>
          <a:srgbClr val="E70000"/>
        </a:accent6>
        <a:hlink>
          <a:srgbClr val="9900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7">
        <a:dk1>
          <a:srgbClr val="000000"/>
        </a:dk1>
        <a:lt1>
          <a:srgbClr val="FFFFFF"/>
        </a:lt1>
        <a:dk2>
          <a:srgbClr val="000000"/>
        </a:dk2>
        <a:lt2>
          <a:srgbClr val="891411"/>
        </a:lt2>
        <a:accent1>
          <a:srgbClr val="4F917E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B2C7C0"/>
        </a:accent5>
        <a:accent6>
          <a:srgbClr val="B98A00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8">
        <a:dk1>
          <a:srgbClr val="000000"/>
        </a:dk1>
        <a:lt1>
          <a:srgbClr val="FFFFFF"/>
        </a:lt1>
        <a:dk2>
          <a:srgbClr val="CC0000"/>
        </a:dk2>
        <a:lt2>
          <a:srgbClr val="999966"/>
        </a:lt2>
        <a:accent1>
          <a:srgbClr val="CCCCCC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B9B95C"/>
        </a:accent6>
        <a:hlink>
          <a:srgbClr val="666699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9">
        <a:dk1>
          <a:srgbClr val="000000"/>
        </a:dk1>
        <a:lt1>
          <a:srgbClr val="FFFFFF"/>
        </a:lt1>
        <a:dk2>
          <a:srgbClr val="FF0000"/>
        </a:dk2>
        <a:lt2>
          <a:srgbClr val="009999"/>
        </a:lt2>
        <a:accent1>
          <a:srgbClr val="C7B505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E0D7AA"/>
        </a:accent5>
        <a:accent6>
          <a:srgbClr val="E7E75C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10">
        <a:dk1>
          <a:srgbClr val="000000"/>
        </a:dk1>
        <a:lt1>
          <a:srgbClr val="FFFFFF"/>
        </a:lt1>
        <a:dk2>
          <a:srgbClr val="660033"/>
        </a:dk2>
        <a:lt2>
          <a:srgbClr val="666699"/>
        </a:lt2>
        <a:accent1>
          <a:srgbClr val="95A3D1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C8CEE5"/>
        </a:accent5>
        <a:accent6>
          <a:srgbClr val="E7E75C"/>
        </a:accent6>
        <a:hlink>
          <a:srgbClr val="5A84D8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11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79A9B9"/>
        </a:accent1>
        <a:accent2>
          <a:srgbClr val="FFCB6D"/>
        </a:accent2>
        <a:accent3>
          <a:srgbClr val="FFFFEE"/>
        </a:accent3>
        <a:accent4>
          <a:srgbClr val="000000"/>
        </a:accent4>
        <a:accent5>
          <a:srgbClr val="BED1D9"/>
        </a:accent5>
        <a:accent6>
          <a:srgbClr val="E7B862"/>
        </a:accent6>
        <a:hlink>
          <a:srgbClr val="CCCC99"/>
        </a:hlink>
        <a:folHlink>
          <a:srgbClr val="BB07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12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ACD7E4"/>
        </a:accent1>
        <a:accent2>
          <a:srgbClr val="FFCB6D"/>
        </a:accent2>
        <a:accent3>
          <a:srgbClr val="FFFFEE"/>
        </a:accent3>
        <a:accent4>
          <a:srgbClr val="000000"/>
        </a:accent4>
        <a:accent5>
          <a:srgbClr val="D2E8EF"/>
        </a:accent5>
        <a:accent6>
          <a:srgbClr val="E7B862"/>
        </a:accent6>
        <a:hlink>
          <a:srgbClr val="CCCC99"/>
        </a:hlink>
        <a:folHlink>
          <a:srgbClr val="BB07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13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5DB1CB"/>
        </a:accent1>
        <a:accent2>
          <a:srgbClr val="FFCB6D"/>
        </a:accent2>
        <a:accent3>
          <a:srgbClr val="FFFFEE"/>
        </a:accent3>
        <a:accent4>
          <a:srgbClr val="000000"/>
        </a:accent4>
        <a:accent5>
          <a:srgbClr val="B6D5E2"/>
        </a:accent5>
        <a:accent6>
          <a:srgbClr val="E7B862"/>
        </a:accent6>
        <a:hlink>
          <a:srgbClr val="CCCC99"/>
        </a:hlink>
        <a:folHlink>
          <a:srgbClr val="BB07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14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86D3E2"/>
        </a:accent1>
        <a:accent2>
          <a:srgbClr val="FFCB6D"/>
        </a:accent2>
        <a:accent3>
          <a:srgbClr val="FFFFEE"/>
        </a:accent3>
        <a:accent4>
          <a:srgbClr val="000000"/>
        </a:accent4>
        <a:accent5>
          <a:srgbClr val="C3E6EE"/>
        </a:accent5>
        <a:accent6>
          <a:srgbClr val="E7B862"/>
        </a:accent6>
        <a:hlink>
          <a:srgbClr val="CCCC99"/>
        </a:hlink>
        <a:folHlink>
          <a:srgbClr val="BB07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15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86D3E2"/>
        </a:accent1>
        <a:accent2>
          <a:srgbClr val="FFCB6D"/>
        </a:accent2>
        <a:accent3>
          <a:srgbClr val="FFFFEE"/>
        </a:accent3>
        <a:accent4>
          <a:srgbClr val="000000"/>
        </a:accent4>
        <a:accent5>
          <a:srgbClr val="C3E6EE"/>
        </a:accent5>
        <a:accent6>
          <a:srgbClr val="E7B862"/>
        </a:accent6>
        <a:hlink>
          <a:srgbClr val="CCCC99"/>
        </a:hlink>
        <a:folHlink>
          <a:srgbClr val="E909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16">
        <a:dk1>
          <a:srgbClr val="003366"/>
        </a:dk1>
        <a:lt1>
          <a:srgbClr val="FFFFE1"/>
        </a:lt1>
        <a:dk2>
          <a:srgbClr val="330033"/>
        </a:dk2>
        <a:lt2>
          <a:srgbClr val="330033"/>
        </a:lt2>
        <a:accent1>
          <a:srgbClr val="86D3E2"/>
        </a:accent1>
        <a:accent2>
          <a:srgbClr val="FFCB6D"/>
        </a:accent2>
        <a:accent3>
          <a:srgbClr val="FFFFEE"/>
        </a:accent3>
        <a:accent4>
          <a:srgbClr val="002A56"/>
        </a:accent4>
        <a:accent5>
          <a:srgbClr val="C3E6EE"/>
        </a:accent5>
        <a:accent6>
          <a:srgbClr val="E7B862"/>
        </a:accent6>
        <a:hlink>
          <a:srgbClr val="CCCC99"/>
        </a:hlink>
        <a:folHlink>
          <a:srgbClr val="E9091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11552</TotalTime>
  <Words>661</Words>
  <Application>Microsoft Office PowerPoint</Application>
  <PresentationFormat>寬螢幕</PresentationFormat>
  <Paragraphs>122</Paragraphs>
  <Slides>8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8</vt:i4>
      </vt:variant>
    </vt:vector>
  </HeadingPairs>
  <TitlesOfParts>
    <vt:vector size="15" baseType="lpstr">
      <vt:lpstr>Arial</vt:lpstr>
      <vt:lpstr>Calibri</vt:lpstr>
      <vt:lpstr>Tahoma</vt:lpstr>
      <vt:lpstr>Times New Roman</vt:lpstr>
      <vt:lpstr>Wingdings</vt:lpstr>
      <vt:lpstr>~1086908</vt:lpstr>
      <vt:lpstr>1_~1086908</vt:lpstr>
      <vt:lpstr>PowerPoint 簡報</vt:lpstr>
      <vt:lpstr>ESD, EMS tuning -- Pattern – Sensed_block</vt:lpstr>
      <vt:lpstr>ESD, EMS tuning -- Pattern – Data process</vt:lpstr>
      <vt:lpstr>EMS Example -- TEMCELL 15kV 0623 Log</vt:lpstr>
      <vt:lpstr>ESD, EMS tuning -- Pattern – Max Delta</vt:lpstr>
      <vt:lpstr>ESD, EMS tuning -- Pattern – One block debounce</vt:lpstr>
      <vt:lpstr>ESD, EMS tuning -- Pattern – Horizontal Mapping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Hugo Lin(林昱享)</dc:creator>
  <cp:lastModifiedBy>Stella Huang(黃庭儀)</cp:lastModifiedBy>
  <cp:revision>637</cp:revision>
  <cp:lastPrinted>2020-09-03T03:52:13Z</cp:lastPrinted>
  <dcterms:created xsi:type="dcterms:W3CDTF">2020-02-27T02:27:42Z</dcterms:created>
  <dcterms:modified xsi:type="dcterms:W3CDTF">2022-01-14T07:07:46Z</dcterms:modified>
</cp:coreProperties>
</file>